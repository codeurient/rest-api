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4" r:id="rId4"/>
    <p:sldId id="290" r:id="rId5"/>
    <p:sldId id="291" r:id="rId6"/>
    <p:sldId id="275" r:id="rId7"/>
    <p:sldId id="292" r:id="rId8"/>
    <p:sldId id="293" r:id="rId9"/>
    <p:sldId id="295" r:id="rId10"/>
    <p:sldId id="296" r:id="rId11"/>
    <p:sldId id="297" r:id="rId12"/>
    <p:sldId id="298" r:id="rId13"/>
    <p:sldId id="299" r:id="rId14"/>
    <p:sldId id="294" r:id="rId15"/>
    <p:sldId id="300" r:id="rId16"/>
    <p:sldId id="301"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6" r:id="rId34"/>
    <p:sldId id="277" r:id="rId35"/>
    <p:sldId id="278" r:id="rId36"/>
    <p:sldId id="279" r:id="rId37"/>
    <p:sldId id="283" r:id="rId38"/>
    <p:sldId id="280" r:id="rId39"/>
    <p:sldId id="281" r:id="rId40"/>
    <p:sldId id="282" r:id="rId41"/>
    <p:sldId id="284" r:id="rId42"/>
    <p:sldId id="285" r:id="rId43"/>
    <p:sldId id="286"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287" r:id="rId58"/>
    <p:sldId id="288" r:id="rId59"/>
    <p:sldId id="289"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4" d="100"/>
          <a:sy n="104" d="100"/>
        </p:scale>
        <p:origin x="73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F6E56-1402-F8E3-1A43-B034240BB3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DA46E2-5A1C-F7D0-5316-281072A9EA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009BF2-3F06-2222-07EF-1722663C1C17}"/>
              </a:ext>
            </a:extLst>
          </p:cNvPr>
          <p:cNvSpPr>
            <a:spLocks noGrp="1"/>
          </p:cNvSpPr>
          <p:nvPr>
            <p:ph type="dt" sz="half" idx="10"/>
          </p:nvPr>
        </p:nvSpPr>
        <p:spPr/>
        <p:txBody>
          <a:bodyPr/>
          <a:lstStyle/>
          <a:p>
            <a:fld id="{AD6CDC28-10E2-4CDE-A5FF-6E49B37A1343}" type="datetimeFigureOut">
              <a:rPr lang="en-US" smtClean="0"/>
              <a:t>9/30/2025</a:t>
            </a:fld>
            <a:endParaRPr lang="en-US"/>
          </a:p>
        </p:txBody>
      </p:sp>
      <p:sp>
        <p:nvSpPr>
          <p:cNvPr id="5" name="Footer Placeholder 4">
            <a:extLst>
              <a:ext uri="{FF2B5EF4-FFF2-40B4-BE49-F238E27FC236}">
                <a16:creationId xmlns:a16="http://schemas.microsoft.com/office/drawing/2014/main" id="{53B84058-C8A5-A756-E91B-48368B63A3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ABF1C5-F5BD-F9B4-F984-2BE5FD8268D0}"/>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1112307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201AE-D4D8-8D6F-E5E1-AC7946855C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E9D09-9590-8AE0-A3DD-9A856434F4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B453AC-3E50-B22F-415F-53EC13DCED04}"/>
              </a:ext>
            </a:extLst>
          </p:cNvPr>
          <p:cNvSpPr>
            <a:spLocks noGrp="1"/>
          </p:cNvSpPr>
          <p:nvPr>
            <p:ph type="dt" sz="half" idx="10"/>
          </p:nvPr>
        </p:nvSpPr>
        <p:spPr/>
        <p:txBody>
          <a:bodyPr/>
          <a:lstStyle/>
          <a:p>
            <a:fld id="{AD6CDC28-10E2-4CDE-A5FF-6E49B37A1343}" type="datetimeFigureOut">
              <a:rPr lang="en-US" smtClean="0"/>
              <a:t>9/30/2025</a:t>
            </a:fld>
            <a:endParaRPr lang="en-US"/>
          </a:p>
        </p:txBody>
      </p:sp>
      <p:sp>
        <p:nvSpPr>
          <p:cNvPr id="5" name="Footer Placeholder 4">
            <a:extLst>
              <a:ext uri="{FF2B5EF4-FFF2-40B4-BE49-F238E27FC236}">
                <a16:creationId xmlns:a16="http://schemas.microsoft.com/office/drawing/2014/main" id="{81466A45-3AEC-84ED-0C76-928D275F7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C15FC0-D7BF-BA9E-3769-859F4AE1499E}"/>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2713407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EF461-0A52-BB66-4D1D-39CFCB4A19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DB5C49-D164-0E2C-CF7C-A7E6494CFB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D13674-7A64-595C-6672-94079D6948FA}"/>
              </a:ext>
            </a:extLst>
          </p:cNvPr>
          <p:cNvSpPr>
            <a:spLocks noGrp="1"/>
          </p:cNvSpPr>
          <p:nvPr>
            <p:ph type="dt" sz="half" idx="10"/>
          </p:nvPr>
        </p:nvSpPr>
        <p:spPr/>
        <p:txBody>
          <a:bodyPr/>
          <a:lstStyle/>
          <a:p>
            <a:fld id="{AD6CDC28-10E2-4CDE-A5FF-6E49B37A1343}" type="datetimeFigureOut">
              <a:rPr lang="en-US" smtClean="0"/>
              <a:t>9/30/2025</a:t>
            </a:fld>
            <a:endParaRPr lang="en-US"/>
          </a:p>
        </p:txBody>
      </p:sp>
      <p:sp>
        <p:nvSpPr>
          <p:cNvPr id="5" name="Footer Placeholder 4">
            <a:extLst>
              <a:ext uri="{FF2B5EF4-FFF2-40B4-BE49-F238E27FC236}">
                <a16:creationId xmlns:a16="http://schemas.microsoft.com/office/drawing/2014/main" id="{E3C5E0A5-B5CF-DE7C-7159-6B16BCC518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2EB200-4C80-79FF-4E82-E0FE759C84E6}"/>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2633202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4A2E-E6D0-7263-162E-4A3873C10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26860C-9D42-A3D0-655A-778E157FCE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B15706-9B32-E88F-B42C-5F9B66B645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82D4D9-6391-5CFD-AD7B-62D094FC0240}"/>
              </a:ext>
            </a:extLst>
          </p:cNvPr>
          <p:cNvSpPr>
            <a:spLocks noGrp="1"/>
          </p:cNvSpPr>
          <p:nvPr>
            <p:ph type="dt" sz="half" idx="10"/>
          </p:nvPr>
        </p:nvSpPr>
        <p:spPr/>
        <p:txBody>
          <a:bodyPr/>
          <a:lstStyle/>
          <a:p>
            <a:fld id="{AD6CDC28-10E2-4CDE-A5FF-6E49B37A1343}" type="datetimeFigureOut">
              <a:rPr lang="en-US" smtClean="0"/>
              <a:t>9/30/2025</a:t>
            </a:fld>
            <a:endParaRPr lang="en-US"/>
          </a:p>
        </p:txBody>
      </p:sp>
      <p:sp>
        <p:nvSpPr>
          <p:cNvPr id="6" name="Footer Placeholder 5">
            <a:extLst>
              <a:ext uri="{FF2B5EF4-FFF2-40B4-BE49-F238E27FC236}">
                <a16:creationId xmlns:a16="http://schemas.microsoft.com/office/drawing/2014/main" id="{3BEF6AE7-370D-EE7A-5C29-36CE9884B2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E2C076-F3E7-090E-6A5B-4D997900A273}"/>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3045345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A628E-BA4E-0124-70D4-6C591F29B8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7AA761-374B-6E44-9C5D-BC54B64032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D5590D-F7B2-8385-3DE3-DA1884EF88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FA1039-561B-05BB-F427-2B7C699ACB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32EFDA-32C3-A903-9B59-86F68B55E1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C15F2E-724C-4A88-C5A0-F84A3B694CBB}"/>
              </a:ext>
            </a:extLst>
          </p:cNvPr>
          <p:cNvSpPr>
            <a:spLocks noGrp="1"/>
          </p:cNvSpPr>
          <p:nvPr>
            <p:ph type="dt" sz="half" idx="10"/>
          </p:nvPr>
        </p:nvSpPr>
        <p:spPr/>
        <p:txBody>
          <a:bodyPr/>
          <a:lstStyle/>
          <a:p>
            <a:fld id="{AD6CDC28-10E2-4CDE-A5FF-6E49B37A1343}" type="datetimeFigureOut">
              <a:rPr lang="en-US" smtClean="0"/>
              <a:t>9/30/2025</a:t>
            </a:fld>
            <a:endParaRPr lang="en-US"/>
          </a:p>
        </p:txBody>
      </p:sp>
      <p:sp>
        <p:nvSpPr>
          <p:cNvPr id="8" name="Footer Placeholder 7">
            <a:extLst>
              <a:ext uri="{FF2B5EF4-FFF2-40B4-BE49-F238E27FC236}">
                <a16:creationId xmlns:a16="http://schemas.microsoft.com/office/drawing/2014/main" id="{A9D01915-4633-E5FF-1EDD-1FB14260BF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5A3FE7-01D7-998B-585B-BFC1513EF131}"/>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3459265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C48FE-2306-7DC6-1DC6-C5672663C7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1D2EF4-01AF-3C08-BC02-3C48279DB524}"/>
              </a:ext>
            </a:extLst>
          </p:cNvPr>
          <p:cNvSpPr>
            <a:spLocks noGrp="1"/>
          </p:cNvSpPr>
          <p:nvPr>
            <p:ph type="dt" sz="half" idx="10"/>
          </p:nvPr>
        </p:nvSpPr>
        <p:spPr/>
        <p:txBody>
          <a:bodyPr/>
          <a:lstStyle/>
          <a:p>
            <a:fld id="{AD6CDC28-10E2-4CDE-A5FF-6E49B37A1343}" type="datetimeFigureOut">
              <a:rPr lang="en-US" smtClean="0"/>
              <a:t>9/30/2025</a:t>
            </a:fld>
            <a:endParaRPr lang="en-US"/>
          </a:p>
        </p:txBody>
      </p:sp>
      <p:sp>
        <p:nvSpPr>
          <p:cNvPr id="4" name="Footer Placeholder 3">
            <a:extLst>
              <a:ext uri="{FF2B5EF4-FFF2-40B4-BE49-F238E27FC236}">
                <a16:creationId xmlns:a16="http://schemas.microsoft.com/office/drawing/2014/main" id="{93572383-0BF2-B274-161B-3A7947605D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426590-2627-9E5B-5D9D-E410D701B46A}"/>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2284221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A8D5D3-8B12-DF8F-F46F-652BBFE3B21F}"/>
              </a:ext>
            </a:extLst>
          </p:cNvPr>
          <p:cNvSpPr>
            <a:spLocks noGrp="1"/>
          </p:cNvSpPr>
          <p:nvPr>
            <p:ph type="dt" sz="half" idx="10"/>
          </p:nvPr>
        </p:nvSpPr>
        <p:spPr/>
        <p:txBody>
          <a:bodyPr/>
          <a:lstStyle/>
          <a:p>
            <a:fld id="{AD6CDC28-10E2-4CDE-A5FF-6E49B37A1343}" type="datetimeFigureOut">
              <a:rPr lang="en-US" smtClean="0"/>
              <a:t>9/30/2025</a:t>
            </a:fld>
            <a:endParaRPr lang="en-US"/>
          </a:p>
        </p:txBody>
      </p:sp>
      <p:sp>
        <p:nvSpPr>
          <p:cNvPr id="3" name="Footer Placeholder 2">
            <a:extLst>
              <a:ext uri="{FF2B5EF4-FFF2-40B4-BE49-F238E27FC236}">
                <a16:creationId xmlns:a16="http://schemas.microsoft.com/office/drawing/2014/main" id="{5B8A6C2D-B71D-4B94-5B13-FBAE39A5B7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040F64-FC8A-34C2-7427-480D8602C22A}"/>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518571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E3E4C-CC37-D167-11F9-C336ECD4BC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0A6B01-A5B9-229B-B55E-43AE216B21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C978B0-9501-7E6F-20FA-A5FBE20F83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96D790-C5F3-C54C-327E-2AB3DB1E36D0}"/>
              </a:ext>
            </a:extLst>
          </p:cNvPr>
          <p:cNvSpPr>
            <a:spLocks noGrp="1"/>
          </p:cNvSpPr>
          <p:nvPr>
            <p:ph type="dt" sz="half" idx="10"/>
          </p:nvPr>
        </p:nvSpPr>
        <p:spPr/>
        <p:txBody>
          <a:bodyPr/>
          <a:lstStyle/>
          <a:p>
            <a:fld id="{AD6CDC28-10E2-4CDE-A5FF-6E49B37A1343}" type="datetimeFigureOut">
              <a:rPr lang="en-US" smtClean="0"/>
              <a:t>9/30/2025</a:t>
            </a:fld>
            <a:endParaRPr lang="en-US"/>
          </a:p>
        </p:txBody>
      </p:sp>
      <p:sp>
        <p:nvSpPr>
          <p:cNvPr id="6" name="Footer Placeholder 5">
            <a:extLst>
              <a:ext uri="{FF2B5EF4-FFF2-40B4-BE49-F238E27FC236}">
                <a16:creationId xmlns:a16="http://schemas.microsoft.com/office/drawing/2014/main" id="{5063E965-EFA2-1A83-DD1E-CB5CA9337F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64A612-B219-0DF4-E7B1-D4217D26A678}"/>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3302890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DF7E5-038E-2FFC-66B2-8807F85D90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CF00D4-8729-6708-82C2-77228B0A21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0651D5-1EE9-6EF7-1E48-B0A084C925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1B0A1B-7FA6-BDFA-9E4D-771FD9175DD8}"/>
              </a:ext>
            </a:extLst>
          </p:cNvPr>
          <p:cNvSpPr>
            <a:spLocks noGrp="1"/>
          </p:cNvSpPr>
          <p:nvPr>
            <p:ph type="dt" sz="half" idx="10"/>
          </p:nvPr>
        </p:nvSpPr>
        <p:spPr/>
        <p:txBody>
          <a:bodyPr/>
          <a:lstStyle/>
          <a:p>
            <a:fld id="{AD6CDC28-10E2-4CDE-A5FF-6E49B37A1343}" type="datetimeFigureOut">
              <a:rPr lang="en-US" smtClean="0"/>
              <a:t>9/30/2025</a:t>
            </a:fld>
            <a:endParaRPr lang="en-US"/>
          </a:p>
        </p:txBody>
      </p:sp>
      <p:sp>
        <p:nvSpPr>
          <p:cNvPr id="6" name="Footer Placeholder 5">
            <a:extLst>
              <a:ext uri="{FF2B5EF4-FFF2-40B4-BE49-F238E27FC236}">
                <a16:creationId xmlns:a16="http://schemas.microsoft.com/office/drawing/2014/main" id="{DE34A8CF-EF93-1B04-347E-0430F60E24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02D16E-0BA9-51E8-4A0A-E4991223598B}"/>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1991333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F69E1-1611-2908-59C8-BD88BAD48A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6C930F-2603-1D0F-DA85-DE6CB310E7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4A193B-C0DB-EA02-0DE5-DBA425B6426E}"/>
              </a:ext>
            </a:extLst>
          </p:cNvPr>
          <p:cNvSpPr>
            <a:spLocks noGrp="1"/>
          </p:cNvSpPr>
          <p:nvPr>
            <p:ph type="dt" sz="half" idx="10"/>
          </p:nvPr>
        </p:nvSpPr>
        <p:spPr/>
        <p:txBody>
          <a:bodyPr/>
          <a:lstStyle/>
          <a:p>
            <a:fld id="{AD6CDC28-10E2-4CDE-A5FF-6E49B37A1343}" type="datetimeFigureOut">
              <a:rPr lang="en-US" smtClean="0"/>
              <a:t>9/30/2025</a:t>
            </a:fld>
            <a:endParaRPr lang="en-US"/>
          </a:p>
        </p:txBody>
      </p:sp>
      <p:sp>
        <p:nvSpPr>
          <p:cNvPr id="5" name="Footer Placeholder 4">
            <a:extLst>
              <a:ext uri="{FF2B5EF4-FFF2-40B4-BE49-F238E27FC236}">
                <a16:creationId xmlns:a16="http://schemas.microsoft.com/office/drawing/2014/main" id="{6E365C89-E9C2-C6E2-F05A-2A701B1D3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2C350-AA86-FE56-C10C-86759BBCCCAE}"/>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1553986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9427A3-0A18-1B80-463B-96F29D8543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3434C4-F840-CD90-7A61-EB156512C5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038C54-E0FA-A1E2-F5D4-2C31B564C61D}"/>
              </a:ext>
            </a:extLst>
          </p:cNvPr>
          <p:cNvSpPr>
            <a:spLocks noGrp="1"/>
          </p:cNvSpPr>
          <p:nvPr>
            <p:ph type="dt" sz="half" idx="10"/>
          </p:nvPr>
        </p:nvSpPr>
        <p:spPr/>
        <p:txBody>
          <a:bodyPr/>
          <a:lstStyle/>
          <a:p>
            <a:fld id="{AD6CDC28-10E2-4CDE-A5FF-6E49B37A1343}" type="datetimeFigureOut">
              <a:rPr lang="en-US" smtClean="0"/>
              <a:t>9/30/2025</a:t>
            </a:fld>
            <a:endParaRPr lang="en-US"/>
          </a:p>
        </p:txBody>
      </p:sp>
      <p:sp>
        <p:nvSpPr>
          <p:cNvPr id="5" name="Footer Placeholder 4">
            <a:extLst>
              <a:ext uri="{FF2B5EF4-FFF2-40B4-BE49-F238E27FC236}">
                <a16:creationId xmlns:a16="http://schemas.microsoft.com/office/drawing/2014/main" id="{6BB2358D-EED3-014D-1A63-A228F3FE6A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C7BFDA-56BF-CBF9-67A6-BCD8855A9780}"/>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1941959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041EC7-A269-7FEC-8B9C-CD502999B2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5FAC6F-9189-25DD-9148-72DB8890FE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36EBE8-9810-D648-21BB-6E233CF949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CDC28-10E2-4CDE-A5FF-6E49B37A1343}" type="datetimeFigureOut">
              <a:rPr lang="en-US" smtClean="0"/>
              <a:t>9/30/2025</a:t>
            </a:fld>
            <a:endParaRPr lang="en-US"/>
          </a:p>
        </p:txBody>
      </p:sp>
      <p:sp>
        <p:nvSpPr>
          <p:cNvPr id="5" name="Footer Placeholder 4">
            <a:extLst>
              <a:ext uri="{FF2B5EF4-FFF2-40B4-BE49-F238E27FC236}">
                <a16:creationId xmlns:a16="http://schemas.microsoft.com/office/drawing/2014/main" id="{FB21F318-2F6E-3503-EDA0-FC9392AD4A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EB34DE-99DE-7C06-8E21-CBE1734122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8FEA3D-2271-41BB-92A9-750B4E317D1A}" type="slidenum">
              <a:rPr lang="en-US" smtClean="0"/>
              <a:t>‹#›</a:t>
            </a:fld>
            <a:endParaRPr lang="en-US"/>
          </a:p>
        </p:txBody>
      </p:sp>
    </p:spTree>
    <p:extLst>
      <p:ext uri="{BB962C8B-B14F-4D97-AF65-F5344CB8AC3E}">
        <p14:creationId xmlns:p14="http://schemas.microsoft.com/office/powerpoint/2010/main" val="2550136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image" Target="../media/image6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0932357-86BD-10D6-6AE2-3B57D9B9B2A8}"/>
              </a:ext>
            </a:extLst>
          </p:cNvPr>
          <p:cNvSpPr txBox="1"/>
          <p:nvPr/>
        </p:nvSpPr>
        <p:spPr>
          <a:xfrm>
            <a:off x="203200" y="244826"/>
            <a:ext cx="11822545" cy="6340197"/>
          </a:xfrm>
          <a:prstGeom prst="rect">
            <a:avLst/>
          </a:prstGeom>
          <a:noFill/>
        </p:spPr>
        <p:txBody>
          <a:bodyPr wrap="square">
            <a:spAutoFit/>
          </a:bodyPr>
          <a:lstStyle/>
          <a:p>
            <a:r>
              <a:rPr lang="az-Latn-AZ" sz="1400" b="1">
                <a:highlight>
                  <a:srgbClr val="FFFF00"/>
                </a:highlight>
              </a:rPr>
              <a:t>NOT</a:t>
            </a:r>
            <a:r>
              <a:rPr lang="az-Latn-AZ" sz="1400" b="1">
                <a:solidFill>
                  <a:srgbClr val="FF0000"/>
                </a:solidFill>
                <a:highlight>
                  <a:srgbClr val="FFFF00"/>
                </a:highlight>
              </a:rPr>
              <a:t>: </a:t>
            </a:r>
            <a:r>
              <a:rPr lang="az-Latn-AZ" sz="1400" b="1">
                <a:highlight>
                  <a:srgbClr val="FFFF00"/>
                </a:highlight>
              </a:rPr>
              <a:t>Real nümunəyə qədər, nəzəri mövzular yazılan slaydlardakı xırda kodlara fikir verməyin.</a:t>
            </a:r>
          </a:p>
          <a:p>
            <a:pPr marL="342900" indent="-342900">
              <a:buAutoNum type="arabicPeriod"/>
            </a:pPr>
            <a:endParaRPr lang="az-Latn-AZ" sz="1400" b="1">
              <a:solidFill>
                <a:srgbClr val="FF0000"/>
              </a:solidFill>
            </a:endParaRPr>
          </a:p>
          <a:p>
            <a:pPr marL="342900" indent="-342900">
              <a:buAutoNum type="arabicPeriod"/>
            </a:pPr>
            <a:endParaRPr lang="az-Latn-AZ" sz="1400" b="1">
              <a:solidFill>
                <a:srgbClr val="FF0000"/>
              </a:solidFill>
            </a:endParaRPr>
          </a:p>
          <a:p>
            <a:pPr marL="342900" indent="-342900">
              <a:buAutoNum type="arabicPeriod"/>
            </a:pPr>
            <a:endParaRPr lang="az-Latn-AZ" sz="1400" b="1">
              <a:solidFill>
                <a:srgbClr val="FF0000"/>
              </a:solidFill>
            </a:endParaRPr>
          </a:p>
          <a:p>
            <a:pPr marL="342900" indent="-342900">
              <a:buAutoNum type="arabicPeriod"/>
            </a:pPr>
            <a:r>
              <a:rPr lang="en-US" sz="1400" b="1">
                <a:solidFill>
                  <a:srgbClr val="FF0000"/>
                </a:solidFill>
              </a:rPr>
              <a:t>GraphQL Nədir? Sadə Nəzəri İzahat (Teoriya)</a:t>
            </a:r>
            <a:endParaRPr lang="az-Latn-AZ" sz="1400" b="1">
              <a:solidFill>
                <a:srgbClr val="FF0000"/>
              </a:solidFill>
            </a:endParaRPr>
          </a:p>
          <a:p>
            <a:pPr marL="342900" indent="-342900">
              <a:buAutoNum type="arabicPeriod"/>
            </a:pPr>
            <a:endParaRPr lang="en-US" sz="1400" b="1"/>
          </a:p>
          <a:p>
            <a:pPr marL="285750" indent="-285750">
              <a:buFont typeface="Arial" panose="020B0604020202020204" pitchFamily="34" charset="0"/>
              <a:buChar char="•"/>
            </a:pPr>
            <a:r>
              <a:rPr lang="en-US" sz="1400"/>
              <a:t>GraphQL, kompüterlərin bir-biri ilə "danışması" üçün xüsusi bir dil və qaydadır. Bunu restoran nümunəsi ilə izah edək: Təsəvvür edin ki, siz restoranda müştərisiniz (bu, telefon və ya veb-sayt kimi "müştəri" proqramıdır), restoran isə serverdir (məlumat saxlayan kompüter).</a:t>
            </a:r>
            <a:endParaRPr lang="az-Latn-AZ" sz="1400"/>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Adi yol (REST API kimi)</a:t>
            </a:r>
            <a:r>
              <a:rPr lang="en-US" sz="1400"/>
              <a:t>: Siz "Bütün menyunu gətir" deyirsiniz. Garson (server) bütün menyunu (salat, əsas yemək, desert – hamısını) gətirir. Amma siz yalnız salat istəyirdinizsə, qalanları boşa gedir. Buna, "</a:t>
            </a:r>
            <a:r>
              <a:rPr lang="en-US" sz="1400" b="1">
                <a:solidFill>
                  <a:srgbClr val="00B050"/>
                </a:solidFill>
              </a:rPr>
              <a:t>over-fetching</a:t>
            </a:r>
            <a:r>
              <a:rPr lang="en-US" sz="1400"/>
              <a:t>" deyilir – çox məlumat almaq. Və ya əgər salat haqqında daha çox bilmək istəsəniz, başqa bir sorğu göndərməlisiniz (</a:t>
            </a:r>
            <a:r>
              <a:rPr lang="en-US" sz="1400" b="1">
                <a:solidFill>
                  <a:srgbClr val="0070C0"/>
                </a:solidFill>
              </a:rPr>
              <a:t>under-fetching</a:t>
            </a:r>
            <a:r>
              <a:rPr lang="en-US" sz="1400"/>
              <a:t> – az məlumat almaq).</a:t>
            </a:r>
            <a:endParaRPr lang="az-Latn-AZ" sz="1400"/>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GraphQL yolu</a:t>
            </a:r>
            <a:r>
              <a:rPr lang="en-US" sz="1400"/>
              <a:t>: Siz "Yalnız salatları gətir, və hər salatın qiymətini və tərkibini de" deyirsiniz. Garson yalnız istədiyinizi gətirir – nə çox, nə az. Bu, vaxta və enerjiyə qənaət edir, xüsusilə mobil telefonlarda (az internet istifadəsi).</a:t>
            </a:r>
          </a:p>
          <a:p>
            <a:endParaRPr lang="en-US" sz="1400"/>
          </a:p>
          <a:p>
            <a:endParaRPr lang="en-US" sz="1400"/>
          </a:p>
          <a:p>
            <a:endParaRPr lang="en-US" sz="1400"/>
          </a:p>
          <a:p>
            <a:endParaRPr lang="en-US" sz="1400"/>
          </a:p>
          <a:p>
            <a:endParaRPr lang="en-US" sz="1400"/>
          </a:p>
          <a:p>
            <a:r>
              <a:rPr lang="en-US" sz="1400" b="1"/>
              <a:t>GraphQL-i kim yaratdı? </a:t>
            </a:r>
          </a:p>
          <a:p>
            <a:endParaRPr lang="en-US" sz="1400" b="1"/>
          </a:p>
          <a:p>
            <a:pPr marL="285750" indent="-285750">
              <a:buFont typeface="Arial" panose="020B0604020202020204" pitchFamily="34" charset="0"/>
              <a:buChar char="•"/>
            </a:pPr>
            <a:r>
              <a:rPr lang="en-US" sz="1400"/>
              <a:t>2012-ci ildə Facebook-da (indi Meta) işləyən mühəndislər yaratdı, çünki onların app-i çox məlumatla işləyirdi. 2015-də hamıya açıq etdilər. İndi Netflix, GitHub kimi böyük şirkətlər istifadə edir.</a:t>
            </a:r>
          </a:p>
          <a:p>
            <a:endParaRPr lang="en-US" sz="1400"/>
          </a:p>
          <a:p>
            <a:endParaRPr lang="en-US" sz="1400"/>
          </a:p>
          <a:p>
            <a:r>
              <a:rPr lang="en-US" sz="1400"/>
              <a:t>GraphQL</a:t>
            </a:r>
            <a:r>
              <a:rPr lang="az-Latn-AZ" sz="1400"/>
              <a:t>, APİ -lər üçün sorğu dilidir. Yəni proqramlaşdırma dili kimi </a:t>
            </a:r>
            <a:r>
              <a:rPr lang="en-US" sz="1400"/>
              <a:t>GraphQL</a:t>
            </a:r>
            <a:r>
              <a:rPr lang="az-Latn-AZ" sz="1400"/>
              <a:t> ilə də kod yazırıq. Ancaq bu koda sorğu dili deyilir, proqramlaşdırma dili yox. Həmin sorğu dilini çağırdıqda yəni işə saldıqda isə, serverə həmin sorğu dili ilə yazdığımız sorğu gedir və həmin dili yazaraq məsələn demiş ola bilərik ki, bizə, DB -dən sadəcə `salat` haqqında olan məlumatlar gəlsin.</a:t>
            </a:r>
          </a:p>
        </p:txBody>
      </p:sp>
    </p:spTree>
    <p:extLst>
      <p:ext uri="{BB962C8B-B14F-4D97-AF65-F5344CB8AC3E}">
        <p14:creationId xmlns:p14="http://schemas.microsoft.com/office/powerpoint/2010/main" val="3612794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D2E36-156F-3BCD-5086-A1AA48525EB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7CBB08F-98C3-90B8-3677-F82E3BD3AE9A}"/>
              </a:ext>
            </a:extLst>
          </p:cNvPr>
          <p:cNvSpPr txBox="1"/>
          <p:nvPr/>
        </p:nvSpPr>
        <p:spPr>
          <a:xfrm>
            <a:off x="203200" y="244826"/>
            <a:ext cx="11822545" cy="6447919"/>
          </a:xfrm>
          <a:prstGeom prst="rect">
            <a:avLst/>
          </a:prstGeom>
          <a:noFill/>
        </p:spPr>
        <p:txBody>
          <a:bodyPr wrap="square">
            <a:spAutoFit/>
          </a:bodyPr>
          <a:lstStyle/>
          <a:p>
            <a:r>
              <a:rPr lang="en-US" sz="1400" b="1"/>
              <a:t>Əsas hissələri (nəzəri olaraq)</a:t>
            </a:r>
            <a:r>
              <a:rPr lang="en-US" sz="1400"/>
              <a:t>:</a:t>
            </a:r>
          </a:p>
          <a:p>
            <a:endParaRPr lang="en-US" sz="1400"/>
          </a:p>
          <a:p>
            <a:pPr marL="285750" indent="-285750">
              <a:buFont typeface="Arial" panose="020B0604020202020204" pitchFamily="34" charset="0"/>
              <a:buChar char="•"/>
            </a:pPr>
            <a:r>
              <a:rPr lang="en-US" sz="1400" b="1"/>
              <a:t>Schema (Sxema)</a:t>
            </a:r>
            <a:r>
              <a:rPr lang="en-US" sz="1400"/>
              <a:t>: Bu, menyunun qaydalarıdır. "Bizdə hansı yeməklər var? Hər yeməyin hansı xüsusiyyətləri (qiymət, tərkib) var?" deyə təyin edir. Schema, məlumatları "tiplər" ilə göstərir: Məsələn, "Kitab" tipi – id (nömrə), ad, müəllif.</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Sorğular (Queries)</a:t>
            </a:r>
            <a:r>
              <a:rPr lang="en-US" sz="1400"/>
              <a:t>: Məlumat oxumaq üçün. "Menyudan salatları göstər" kimi. Nümunə: </a:t>
            </a:r>
            <a:r>
              <a:rPr lang="en-US" sz="1400" b="1">
                <a:highlight>
                  <a:srgbClr val="FFFF00"/>
                </a:highlight>
              </a:rPr>
              <a:t>{ salatlar { ad qiymet } } </a:t>
            </a:r>
            <a:r>
              <a:rPr lang="en-US" sz="1400"/>
              <a:t>– yalnız ad və qiymət gətir.</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Mutasiyalar (Mutations)</a:t>
            </a:r>
            <a:r>
              <a:rPr lang="en-US" sz="1400"/>
              <a:t>: Məlumat dəyişmək üçün. "Yeni salat əlavə et" və ya "Salatın qiymətini dəyiş" kimi. Nümunə: mutation </a:t>
            </a:r>
            <a:r>
              <a:rPr lang="en-US" sz="1400" b="1">
                <a:highlight>
                  <a:srgbClr val="FFFF00"/>
                </a:highlight>
              </a:rPr>
              <a:t>{ yeniSalat(ad: "Yeni Salat", qiymet: 5) { ad } }</a:t>
            </a:r>
            <a:r>
              <a:rPr lang="en-US" sz="1400"/>
              <a:t>.</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Abunəliklər (Subscriptions)</a:t>
            </a:r>
            <a:r>
              <a:rPr lang="en-US" sz="1400"/>
              <a:t>: Real vaxtda yeniliklər almaq üçün. "Əgər menyuya yeni salat əlavə olunsa, mənə xəbər ver" kimi. Bu, telefonunuzda bildiriş kimi işləyir (</a:t>
            </a:r>
            <a:r>
              <a:rPr lang="en-US" sz="1400" b="1"/>
              <a:t>WebSockets</a:t>
            </a:r>
            <a:r>
              <a:rPr lang="en-US" sz="1400"/>
              <a:t> adlı texnologiya ilə).</a:t>
            </a:r>
          </a:p>
          <a:p>
            <a:endParaRPr lang="en-US" sz="1400"/>
          </a:p>
          <a:p>
            <a:endParaRPr lang="en-US" sz="1400"/>
          </a:p>
          <a:p>
            <a:endParaRPr lang="en-US" sz="1400"/>
          </a:p>
          <a:p>
            <a:endParaRPr lang="en-US" sz="1400"/>
          </a:p>
          <a:p>
            <a:endParaRPr lang="en-US" sz="1400"/>
          </a:p>
          <a:p>
            <a:r>
              <a:rPr lang="en-US" sz="1400" b="1"/>
              <a:t>Niyə yaxşıdır?</a:t>
            </a:r>
            <a:endParaRPr lang="en-US" sz="1400"/>
          </a:p>
          <a:p>
            <a:pPr marL="285750" indent="-285750">
              <a:lnSpc>
                <a:spcPct val="150000"/>
              </a:lnSpc>
              <a:buFont typeface="Arial" panose="020B0604020202020204" pitchFamily="34" charset="0"/>
              <a:buChar char="•"/>
            </a:pPr>
            <a:r>
              <a:rPr lang="en-US" sz="1400"/>
              <a:t>Müştəri tam olaraq istədiyini alır.</a:t>
            </a:r>
          </a:p>
          <a:p>
            <a:pPr marL="285750" indent="-285750">
              <a:lnSpc>
                <a:spcPct val="150000"/>
              </a:lnSpc>
              <a:buFont typeface="Arial" panose="020B0604020202020204" pitchFamily="34" charset="0"/>
              <a:buChar char="•"/>
            </a:pPr>
            <a:r>
              <a:rPr lang="en-US" sz="1400"/>
              <a:t>Server yalnız lazım olanı verir, boşa işləmir.</a:t>
            </a:r>
          </a:p>
          <a:p>
            <a:pPr marL="285750" indent="-285750">
              <a:lnSpc>
                <a:spcPct val="150000"/>
              </a:lnSpc>
              <a:buFont typeface="Arial" panose="020B0604020202020204" pitchFamily="34" charset="0"/>
              <a:buChar char="•"/>
            </a:pPr>
            <a:r>
              <a:rPr lang="en-US" sz="1400"/>
              <a:t>Bir sorğu ilə çox şey ala bilərsiniz (nested sorğular): Məsələn, "Kitabın adını və müəllifinin adını gətir" – </a:t>
            </a:r>
            <a:r>
              <a:rPr lang="en-US" sz="1400">
                <a:highlight>
                  <a:srgbClr val="FFFF00"/>
                </a:highlight>
              </a:rPr>
              <a:t>{ kitab { ad muellif { ad } } </a:t>
            </a:r>
            <a:r>
              <a:rPr lang="en-US" sz="1400" b="1">
                <a:highlight>
                  <a:srgbClr val="FFFF00"/>
                </a:highlight>
              </a:rPr>
              <a:t>}</a:t>
            </a:r>
            <a:r>
              <a:rPr lang="en-US" sz="1400" b="1"/>
              <a:t>.</a:t>
            </a:r>
          </a:p>
          <a:p>
            <a:endParaRPr lang="en-US" sz="1400"/>
          </a:p>
          <a:p>
            <a:endParaRPr lang="en-US" sz="1400"/>
          </a:p>
          <a:p>
            <a:endParaRPr lang="en-US" sz="1400"/>
          </a:p>
          <a:p>
            <a:r>
              <a:rPr lang="en-US" sz="1400" b="1"/>
              <a:t>Pis tərəfləri? </a:t>
            </a:r>
          </a:p>
          <a:p>
            <a:pPr marL="742950" lvl="1" indent="-285750">
              <a:buFont typeface="Arial" panose="020B0604020202020204" pitchFamily="34" charset="0"/>
              <a:buChar char="•"/>
            </a:pPr>
            <a:r>
              <a:rPr lang="en-US" sz="1400"/>
              <a:t>Adi </a:t>
            </a:r>
            <a:r>
              <a:rPr lang="en-US" sz="1400" b="1"/>
              <a:t>REST</a:t>
            </a:r>
            <a:r>
              <a:rPr lang="en-US" sz="1400"/>
              <a:t> -dən daha çox düşünmək lazımdır, çünki </a:t>
            </a:r>
            <a:r>
              <a:rPr lang="en-US" sz="1400" b="1" i="1"/>
              <a:t>schema</a:t>
            </a:r>
            <a:r>
              <a:rPr lang="en-US" sz="1400"/>
              <a:t> qurmaq vaxt alır. Həm də təhlükəsizlik vacibdir – kimsə çox böyük sorğu göndərsə, server çökə bilər.</a:t>
            </a:r>
          </a:p>
          <a:p>
            <a:endParaRPr lang="en-US" sz="1400"/>
          </a:p>
        </p:txBody>
      </p:sp>
    </p:spTree>
    <p:extLst>
      <p:ext uri="{BB962C8B-B14F-4D97-AF65-F5344CB8AC3E}">
        <p14:creationId xmlns:p14="http://schemas.microsoft.com/office/powerpoint/2010/main" val="468364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66595-A13C-08C8-AB6E-52FFF45642F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9980CBB-CF60-B694-D667-FB7F296D0228}"/>
              </a:ext>
            </a:extLst>
          </p:cNvPr>
          <p:cNvSpPr txBox="1"/>
          <p:nvPr/>
        </p:nvSpPr>
        <p:spPr>
          <a:xfrm>
            <a:off x="203200" y="244826"/>
            <a:ext cx="11822545" cy="3046988"/>
          </a:xfrm>
          <a:prstGeom prst="rect">
            <a:avLst/>
          </a:prstGeom>
          <a:noFill/>
        </p:spPr>
        <p:txBody>
          <a:bodyPr wrap="square">
            <a:spAutoFit/>
          </a:bodyPr>
          <a:lstStyle/>
          <a:p>
            <a:r>
              <a:rPr lang="en-US" sz="1200" b="1">
                <a:solidFill>
                  <a:srgbClr val="00B050"/>
                </a:solidFill>
              </a:rPr>
              <a:t>"Çox Böyük Sorğu" Nə Deməkdir?</a:t>
            </a:r>
            <a:endParaRPr lang="az-Latn-AZ" sz="1200" b="1">
              <a:solidFill>
                <a:srgbClr val="00B050"/>
              </a:solidFill>
            </a:endParaRPr>
          </a:p>
          <a:p>
            <a:pPr marL="342900" indent="-342900">
              <a:buAutoNum type="arabicPeriod"/>
            </a:pPr>
            <a:endParaRPr lang="en-US" sz="1200" b="1"/>
          </a:p>
          <a:p>
            <a:r>
              <a:rPr lang="en-US" sz="1200"/>
              <a:t>GraphQL-də "çox böyük sorğu" dedikdə, söhbət </a:t>
            </a:r>
            <a:r>
              <a:rPr lang="en-US" sz="1200" b="1"/>
              <a:t>sayca çox sorğudan</a:t>
            </a:r>
            <a:r>
              <a:rPr lang="en-US" sz="1200"/>
              <a:t> (məsələn, saniyədə minlərlə sorğu) getmir, baxmayaraq ki, bu da problem ola bilər. Burada əsas məsələ, </a:t>
            </a:r>
            <a:r>
              <a:rPr lang="en-US" sz="1200" b="1"/>
              <a:t>bir sorğunun özünün çox mürəkkəb və ya ağır olmasıdır</a:t>
            </a:r>
            <a:r>
              <a:rPr lang="en-US" sz="1200"/>
              <a:t>. GraphQL-in özəlliyi odur ki, bir sorğuda çoxlu məlumat istənə bilər (nested queries). Amma bu, serverə həddindən artıq yük yarada bilər, xüsusən də pis niyyətli istifadəçi (hacker) mürəkkəb sorğu göndərərsə.</a:t>
            </a:r>
            <a:endParaRPr lang="az-Latn-AZ" sz="1200"/>
          </a:p>
          <a:p>
            <a:endParaRPr lang="en-US" sz="1200"/>
          </a:p>
          <a:p>
            <a:r>
              <a:rPr lang="en-US" sz="1200" b="1"/>
              <a:t>Nümunə (Restoran analoqiyası)</a:t>
            </a:r>
            <a:r>
              <a:rPr lang="en-US" sz="1200"/>
              <a:t>:</a:t>
            </a:r>
          </a:p>
          <a:p>
            <a:r>
              <a:rPr lang="en-US" sz="1200"/>
              <a:t>Tutaq ki, restoran GraphQL serveridir. Müştəri (client) deyir: "Bütün menyunu gətir, hər yeməyin tərkibini, hər tərkibin haradan gəldiyini, hər mənbənin tarixini, və s." Bu, o qədər mürəkkəb sorğudur ki, garson (server) bütün məlumatları toplamağa çalışarkən yorulub "çökər" (sistem yavaşlayar və ya dayanar).</a:t>
            </a:r>
            <a:endParaRPr lang="az-Latn-AZ" sz="1200"/>
          </a:p>
          <a:p>
            <a:endParaRPr lang="en-US" sz="1200"/>
          </a:p>
          <a:p>
            <a:r>
              <a:rPr lang="en-US" sz="1200"/>
              <a:t>Bu, </a:t>
            </a:r>
            <a:r>
              <a:rPr lang="en-US" sz="1200" b="1"/>
              <a:t>"query complexity"</a:t>
            </a:r>
            <a:r>
              <a:rPr lang="en-US" sz="1200"/>
              <a:t> (sorğu mürəkkəbliyi) problemi adlanır.</a:t>
            </a:r>
            <a:endParaRPr lang="az-Latn-AZ" sz="1200"/>
          </a:p>
          <a:p>
            <a:endParaRPr lang="az-Latn-AZ" sz="1200"/>
          </a:p>
          <a:p>
            <a:endParaRPr lang="az-Latn-AZ" sz="1200"/>
          </a:p>
          <a:p>
            <a:endParaRPr lang="az-Latn-AZ" sz="1200"/>
          </a:p>
          <a:p>
            <a:r>
              <a:rPr lang="en-US" sz="1200" b="1"/>
              <a:t>GraphQL Sorğu Nümunəsi</a:t>
            </a:r>
            <a:r>
              <a:rPr lang="en-US" sz="1200"/>
              <a:t>:</a:t>
            </a:r>
            <a:r>
              <a:rPr lang="az-Latn-AZ" sz="1200"/>
              <a:t> Bu sorğu çox dərindir (</a:t>
            </a:r>
            <a:r>
              <a:rPr lang="az-Latn-AZ" sz="1200" b="1"/>
              <a:t>nested</a:t>
            </a:r>
            <a:r>
              <a:rPr lang="az-Latn-AZ" sz="1200"/>
              <a:t>) və serverdən çoxlu məlumat tələb edir. Əgər verilənlər bazasında minlərlə </a:t>
            </a:r>
            <a:r>
              <a:rPr lang="az-Latn-AZ" sz="1200" b="1"/>
              <a:t>müəllif</a:t>
            </a:r>
            <a:r>
              <a:rPr lang="az-Latn-AZ" sz="1200"/>
              <a:t> və </a:t>
            </a:r>
            <a:r>
              <a:rPr lang="az-Latn-AZ" sz="1200" b="1"/>
              <a:t>kitab</a:t>
            </a:r>
            <a:r>
              <a:rPr lang="az-Latn-AZ" sz="1200"/>
              <a:t> varsa, server bu sorğunu icra etmək üçün çox işləməli olacaq.</a:t>
            </a:r>
            <a:endParaRPr lang="en-US" sz="1200"/>
          </a:p>
        </p:txBody>
      </p:sp>
      <p:pic>
        <p:nvPicPr>
          <p:cNvPr id="3" name="Picture 2">
            <a:extLst>
              <a:ext uri="{FF2B5EF4-FFF2-40B4-BE49-F238E27FC236}">
                <a16:creationId xmlns:a16="http://schemas.microsoft.com/office/drawing/2014/main" id="{045274EB-2701-F005-9D2A-5C142652754A}"/>
              </a:ext>
            </a:extLst>
          </p:cNvPr>
          <p:cNvPicPr>
            <a:picLocks noChangeAspect="1"/>
          </p:cNvPicPr>
          <p:nvPr/>
        </p:nvPicPr>
        <p:blipFill>
          <a:blip r:embed="rId2"/>
          <a:stretch>
            <a:fillRect/>
          </a:stretch>
        </p:blipFill>
        <p:spPr>
          <a:xfrm>
            <a:off x="0" y="3318159"/>
            <a:ext cx="4257964" cy="3539841"/>
          </a:xfrm>
          <a:prstGeom prst="rect">
            <a:avLst/>
          </a:prstGeom>
        </p:spPr>
      </p:pic>
    </p:spTree>
    <p:extLst>
      <p:ext uri="{BB962C8B-B14F-4D97-AF65-F5344CB8AC3E}">
        <p14:creationId xmlns:p14="http://schemas.microsoft.com/office/powerpoint/2010/main" val="2350393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BACFB-CB60-7FB9-FCC3-0BCFC283108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91B0B83-1C8B-5517-AF4A-D79BF8B1633C}"/>
              </a:ext>
            </a:extLst>
          </p:cNvPr>
          <p:cNvSpPr txBox="1"/>
          <p:nvPr/>
        </p:nvSpPr>
        <p:spPr>
          <a:xfrm>
            <a:off x="184727" y="257811"/>
            <a:ext cx="11822545" cy="6342377"/>
          </a:xfrm>
          <a:prstGeom prst="rect">
            <a:avLst/>
          </a:prstGeom>
          <a:noFill/>
        </p:spPr>
        <p:txBody>
          <a:bodyPr wrap="square">
            <a:spAutoFit/>
          </a:bodyPr>
          <a:lstStyle/>
          <a:p>
            <a:r>
              <a:rPr lang="en-US" sz="1200" b="1"/>
              <a:t>2. REST API-də Belə Problem Ola Bilərmi?</a:t>
            </a:r>
            <a:endParaRPr lang="az-Latn-AZ" sz="1200" b="1"/>
          </a:p>
          <a:p>
            <a:endParaRPr lang="en-US" sz="1200" b="1"/>
          </a:p>
          <a:p>
            <a:r>
              <a:rPr lang="en-US" sz="1200"/>
              <a:t>Siz haqlısınız – REST API-də də çox sayda sorğu göndərmək serverə yük yarada bilər. Amma GraphQL-dəki "çox böyük sorğu" problemi REST-də fərqli şəkildə ortaya çıxır. Gəlin müqayisə edək:</a:t>
            </a:r>
            <a:endParaRPr lang="az-Latn-AZ" sz="1200"/>
          </a:p>
          <a:p>
            <a:endParaRPr lang="en-US" sz="1200"/>
          </a:p>
          <a:p>
            <a:r>
              <a:rPr lang="en-US" sz="1200" b="1">
                <a:solidFill>
                  <a:srgbClr val="00B050"/>
                </a:solidFill>
              </a:rPr>
              <a:t>REST-də Sorğu Problemləri</a:t>
            </a:r>
          </a:p>
          <a:p>
            <a:pPr marL="628650" lvl="1" indent="-171450">
              <a:lnSpc>
                <a:spcPct val="150000"/>
              </a:lnSpc>
              <a:buFont typeface="Arial" panose="020B0604020202020204" pitchFamily="34" charset="0"/>
              <a:buChar char="•"/>
            </a:pPr>
            <a:r>
              <a:rPr lang="en-US" sz="1200" b="1"/>
              <a:t>Çox sayda sorğu</a:t>
            </a:r>
            <a:r>
              <a:rPr lang="en-US" sz="1200"/>
              <a:t>: REST-də adətən hər endpoint (məsələn, /users, /users/1/posts) müəyyən bir məlumat qaytarır. Əgər müştəri çox məlumat istəsə, çoxlu fərqli sorğu göndərməli olur (məsələn, hər kitab üçün /books/1, /books/2 və s.). Bu, </a:t>
            </a:r>
            <a:r>
              <a:rPr lang="en-US" sz="1200" b="1"/>
              <a:t>"chatty API"</a:t>
            </a:r>
            <a:r>
              <a:rPr lang="en-US" sz="1200"/>
              <a:t> problemi yaradır – çoxlu kiçik sorğular serverə yük yarada bilər.</a:t>
            </a:r>
          </a:p>
          <a:p>
            <a:pPr marL="628650" lvl="1" indent="-171450">
              <a:lnSpc>
                <a:spcPct val="150000"/>
              </a:lnSpc>
              <a:buFont typeface="Arial" panose="020B0604020202020204" pitchFamily="34" charset="0"/>
              <a:buChar char="•"/>
            </a:pPr>
            <a:r>
              <a:rPr lang="en-US" sz="1200" b="1"/>
              <a:t>DDoS hücumları</a:t>
            </a:r>
            <a:r>
              <a:rPr lang="en-US" sz="1200"/>
              <a:t>: REST-də kimsə saniyədə minlərlə sorğu göndərsə, server yavaşlaya və ya çökə bilər. Bu, GraphQL-də də mümkündür.</a:t>
            </a:r>
          </a:p>
          <a:p>
            <a:pPr marL="628650" lvl="1" indent="-171450">
              <a:lnSpc>
                <a:spcPct val="150000"/>
              </a:lnSpc>
              <a:buFont typeface="Arial" panose="020B0604020202020204" pitchFamily="34" charset="0"/>
              <a:buChar char="•"/>
            </a:pPr>
            <a:r>
              <a:rPr lang="en-US" sz="1200" b="1"/>
              <a:t>Məhdud mürəkkəblik</a:t>
            </a:r>
            <a:r>
              <a:rPr lang="en-US" sz="1200"/>
              <a:t>: REST-də endpoint-lər adətən sadədir (məsələn, /users yalnız user siyahısını qaytarır). Mürəkkəb sorğular yaratmaq çətindir, çünki endpoint-lər əvvəlcədən təyin olunub. Bu, REST-i bəzi hallarda "təhlükəsiz" edir, çünki müştəri çox dərin və ya mürəkkəb sorğu yarada bilmir.</a:t>
            </a:r>
            <a:endParaRPr lang="az-Latn-AZ" sz="1200"/>
          </a:p>
          <a:p>
            <a:endParaRPr lang="az-Latn-AZ" sz="1200"/>
          </a:p>
          <a:p>
            <a:endParaRPr lang="az-Latn-AZ" sz="1200"/>
          </a:p>
          <a:p>
            <a:r>
              <a:rPr lang="en-US" sz="1200" b="1">
                <a:solidFill>
                  <a:srgbClr val="00B050"/>
                </a:solidFill>
              </a:rPr>
              <a:t>GraphQL-də Fərq</a:t>
            </a:r>
          </a:p>
          <a:p>
            <a:pPr marL="628650" lvl="1" indent="-171450">
              <a:lnSpc>
                <a:spcPct val="150000"/>
              </a:lnSpc>
              <a:buFont typeface="Arial" panose="020B0604020202020204" pitchFamily="34" charset="0"/>
              <a:buChar char="•"/>
            </a:pPr>
            <a:r>
              <a:rPr lang="en-US" sz="1200" b="1"/>
              <a:t>Tək, lakin mürəkkəb sorğu</a:t>
            </a:r>
            <a:r>
              <a:rPr lang="en-US" sz="1200"/>
              <a:t>: GraphQL-də bir sorğu ilə çoxlu məlumat (nested data) istənə bilər. Bu, üstünlükdür, amma eyni zamanda təhlükədir. Çünki müştəri bir sorğuda serveri həddindən artıq yükləyə bilər.</a:t>
            </a:r>
          </a:p>
          <a:p>
            <a:pPr marL="628650" lvl="1" indent="-171450">
              <a:lnSpc>
                <a:spcPct val="150000"/>
              </a:lnSpc>
              <a:buFont typeface="Arial" panose="020B0604020202020204" pitchFamily="34" charset="0"/>
              <a:buChar char="•"/>
            </a:pPr>
            <a:r>
              <a:rPr lang="en-US" sz="1200" b="1"/>
              <a:t>Dərinlik problemi</a:t>
            </a:r>
            <a:r>
              <a:rPr lang="en-US" sz="1200"/>
              <a:t>: Yuxarıdakı nümunədəki kimi, çox dərin sorğular (məsələn, müəllif → kitab → kateqoriya → digər kitablar → müəllif → və s.) serverdə çoxlu hesablamalara səbəb olur. Buna </a:t>
            </a:r>
            <a:r>
              <a:rPr lang="en-US" sz="1200" b="1"/>
              <a:t>"N+1 problemi"</a:t>
            </a:r>
            <a:r>
              <a:rPr lang="en-US" sz="1200"/>
              <a:t> və ya </a:t>
            </a:r>
            <a:r>
              <a:rPr lang="en-US" sz="1200" b="1"/>
              <a:t>"query explosion"</a:t>
            </a:r>
            <a:r>
              <a:rPr lang="en-US" sz="1200"/>
              <a:t> da deyilir.</a:t>
            </a:r>
          </a:p>
          <a:p>
            <a:pPr marL="628650" lvl="1" indent="-171450">
              <a:lnSpc>
                <a:spcPct val="150000"/>
              </a:lnSpc>
              <a:buFont typeface="Arial" panose="020B0604020202020204" pitchFamily="34" charset="0"/>
              <a:buChar char="•"/>
            </a:pPr>
            <a:r>
              <a:rPr lang="en-US" sz="1200" b="1"/>
              <a:t>Sonsuz dövr riski</a:t>
            </a:r>
            <a:r>
              <a:rPr lang="en-US" sz="1200"/>
              <a:t>: Əgər schema pis dizayn edilibsə, müştəri təkrarlanan sorğular (recursive queries) yarada bilər, bu da serveri çökdürə bilər.</a:t>
            </a:r>
          </a:p>
          <a:p>
            <a:endParaRPr lang="az-Latn-AZ" sz="1200"/>
          </a:p>
          <a:p>
            <a:endParaRPr lang="az-Latn-AZ" sz="1200"/>
          </a:p>
          <a:p>
            <a:endParaRPr lang="az-Latn-AZ" sz="1200"/>
          </a:p>
          <a:p>
            <a:r>
              <a:rPr lang="en-US" sz="1200" b="1">
                <a:solidFill>
                  <a:srgbClr val="00B050"/>
                </a:solidFill>
              </a:rPr>
              <a:t>GraphQL-də isə müştəri schema çərçivəsində istədiyi kimi sorğu yarada bilər. Bu, aşağıdakı riskləri yaradır</a:t>
            </a:r>
            <a:r>
              <a:rPr lang="en-US" sz="1200"/>
              <a:t>:</a:t>
            </a:r>
          </a:p>
          <a:p>
            <a:pPr marL="628650" lvl="1" indent="-171450">
              <a:lnSpc>
                <a:spcPct val="150000"/>
              </a:lnSpc>
              <a:buFont typeface="Arial" panose="020B0604020202020204" pitchFamily="34" charset="0"/>
              <a:buChar char="•"/>
            </a:pPr>
            <a:r>
              <a:rPr lang="en-US" sz="1200" b="1"/>
              <a:t>Dərinlik hücumu (Deep Query Attack)</a:t>
            </a:r>
            <a:r>
              <a:rPr lang="en-US" sz="1200"/>
              <a:t>: Çox dərin və ya nested sorğular serveri yavaşladır. Məsələn, yuxarıdakı sonsuz dövrəli sorğu.</a:t>
            </a:r>
          </a:p>
          <a:p>
            <a:pPr marL="628650" lvl="1" indent="-171450">
              <a:lnSpc>
                <a:spcPct val="150000"/>
              </a:lnSpc>
              <a:buFont typeface="Arial" panose="020B0604020202020204" pitchFamily="34" charset="0"/>
              <a:buChar char="•"/>
            </a:pPr>
            <a:r>
              <a:rPr lang="en-US" sz="1200" b="1"/>
              <a:t>Komplekslik hücumu</a:t>
            </a:r>
            <a:r>
              <a:rPr lang="en-US" sz="1200"/>
              <a:t>: Çoxlu sahələr istənərsə (məsələn, 1000 müəllifin hər birinin 100 kitabı və hər kitabın 10 kateqoriyası), server çoxlu hesablamalar aparmalı olur.</a:t>
            </a:r>
          </a:p>
          <a:p>
            <a:pPr marL="628650" lvl="1" indent="-171450">
              <a:lnSpc>
                <a:spcPct val="150000"/>
              </a:lnSpc>
              <a:buFont typeface="Arial" panose="020B0604020202020204" pitchFamily="34" charset="0"/>
              <a:buChar char="•"/>
            </a:pPr>
            <a:r>
              <a:rPr lang="en-US" sz="1200" b="1"/>
              <a:t>Resurs istifadəsi</a:t>
            </a:r>
            <a:r>
              <a:rPr lang="en-US" sz="1200"/>
              <a:t>: Verilənlər bazasından çoxlu məlumat çəkilməsi CPU və yaddaşı yükləyə bilər.</a:t>
            </a:r>
          </a:p>
          <a:p>
            <a:pPr marL="628650" lvl="1" indent="-171450">
              <a:lnSpc>
                <a:spcPct val="150000"/>
              </a:lnSpc>
              <a:buFont typeface="Arial" panose="020B0604020202020204" pitchFamily="34" charset="0"/>
              <a:buChar char="•"/>
            </a:pPr>
            <a:r>
              <a:rPr lang="en-US" sz="1200"/>
              <a:t>REST-də də çox sorğu (DDoS) problemi var, amma GraphQL-də tək bir sorğu belə serveri çökdürə bilər, çünki sorğunun mürəkkəbliyinə nəzarət etmək çətindir.</a:t>
            </a:r>
          </a:p>
        </p:txBody>
      </p:sp>
    </p:spTree>
    <p:extLst>
      <p:ext uri="{BB962C8B-B14F-4D97-AF65-F5344CB8AC3E}">
        <p14:creationId xmlns:p14="http://schemas.microsoft.com/office/powerpoint/2010/main" val="76256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6F934-8453-C03E-F976-09DEDBE52A8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044A66F-3F5B-05AA-EDF6-A15B620D8CDB}"/>
              </a:ext>
            </a:extLst>
          </p:cNvPr>
          <p:cNvSpPr txBox="1"/>
          <p:nvPr/>
        </p:nvSpPr>
        <p:spPr>
          <a:xfrm>
            <a:off x="203200" y="244826"/>
            <a:ext cx="11822545" cy="5863144"/>
          </a:xfrm>
          <a:prstGeom prst="rect">
            <a:avLst/>
          </a:prstGeom>
          <a:noFill/>
        </p:spPr>
        <p:txBody>
          <a:bodyPr wrap="square">
            <a:spAutoFit/>
          </a:bodyPr>
          <a:lstStyle/>
          <a:p>
            <a:r>
              <a:rPr lang="en-US" sz="1200" b="1"/>
              <a:t>4. Bu Problemi Necə Həll Etmək Olar? (Təhlükəsizlik Tədbirləri)</a:t>
            </a:r>
          </a:p>
          <a:p>
            <a:endParaRPr lang="en-US" sz="1200" b="1"/>
          </a:p>
          <a:p>
            <a:r>
              <a:rPr lang="en-US" sz="1200"/>
              <a:t>GraphQL-də bu riskləri azaltmaq üçün bir neçə üsul var:</a:t>
            </a:r>
            <a:endParaRPr lang="az-Latn-AZ" sz="1200"/>
          </a:p>
          <a:p>
            <a:endParaRPr lang="en-US" sz="1200"/>
          </a:p>
          <a:p>
            <a:r>
              <a:rPr lang="en-US" sz="1200" b="1"/>
              <a:t>Dərinlik Limiti (Query Depth Limit)</a:t>
            </a:r>
            <a:r>
              <a:rPr lang="en-US" sz="1200"/>
              <a:t>: </a:t>
            </a:r>
          </a:p>
          <a:p>
            <a:pPr marL="628650" lvl="1" indent="-171450">
              <a:lnSpc>
                <a:spcPct val="150000"/>
              </a:lnSpc>
              <a:buFont typeface="Arial" panose="020B0604020202020204" pitchFamily="34" charset="0"/>
              <a:buChar char="•"/>
            </a:pPr>
            <a:r>
              <a:rPr lang="en-US" sz="1200" b="1"/>
              <a:t>Nədir?</a:t>
            </a:r>
            <a:r>
              <a:rPr lang="en-US" sz="1200"/>
              <a:t> Sorğunun nə qədər dərin ola biləcəyini məhdudlaşdırmaq. Məsələn, "3 səviyyədən artıq dərinləşməyə icazə yoxdur" (müəllif → kitab → kateqoriya ilə bitsin).</a:t>
            </a:r>
          </a:p>
          <a:p>
            <a:pPr marL="628650" lvl="1" indent="-171450">
              <a:lnSpc>
                <a:spcPct val="150000"/>
              </a:lnSpc>
              <a:buFont typeface="Arial" panose="020B0604020202020204" pitchFamily="34" charset="0"/>
              <a:buChar char="•"/>
            </a:pPr>
            <a:r>
              <a:rPr lang="en-US" sz="1200" b="1"/>
              <a:t>Restoran analoqiyası</a:t>
            </a:r>
            <a:r>
              <a:rPr lang="en-US" sz="1200"/>
              <a:t>: "Müştəri menyudan yalnız 3 addım soruşa bilər: yemək, tərkib, mənbə. Daha dərinə getmək olmaz.”</a:t>
            </a:r>
            <a:endParaRPr lang="az-Latn-AZ" sz="1200"/>
          </a:p>
          <a:p>
            <a:pPr marL="628650" lvl="1" indent="-171450">
              <a:lnSpc>
                <a:spcPct val="150000"/>
              </a:lnSpc>
              <a:buFont typeface="Arial" panose="020B0604020202020204" pitchFamily="34" charset="0"/>
              <a:buChar char="•"/>
            </a:pPr>
            <a:r>
              <a:rPr lang="en-US" sz="1200"/>
              <a:t>PHP-də (</a:t>
            </a:r>
            <a:r>
              <a:rPr lang="en-US" sz="1200" b="1" i="1"/>
              <a:t>webonyx/graphql-php</a:t>
            </a:r>
            <a:r>
              <a:rPr lang="en-US" sz="1200"/>
              <a:t>):</a:t>
            </a:r>
          </a:p>
          <a:p>
            <a:pPr lvl="1"/>
            <a:endParaRPr lang="az-Latn-AZ" sz="1200"/>
          </a:p>
          <a:p>
            <a:pPr lvl="1"/>
            <a:endParaRPr lang="en-US" sz="1200"/>
          </a:p>
          <a:p>
            <a:pPr lvl="1"/>
            <a:endParaRPr lang="en-US" sz="1200"/>
          </a:p>
          <a:p>
            <a:pPr lvl="1"/>
            <a:endParaRPr lang="en-US" sz="1200"/>
          </a:p>
          <a:p>
            <a:pPr lvl="1"/>
            <a:endParaRPr lang="en-US" sz="1200"/>
          </a:p>
          <a:p>
            <a:pPr lvl="1"/>
            <a:endParaRPr lang="en-US" sz="1200"/>
          </a:p>
          <a:p>
            <a:pPr lvl="1"/>
            <a:endParaRPr lang="en-US" sz="1200"/>
          </a:p>
          <a:p>
            <a:pPr marL="0" lvl="1"/>
            <a:endParaRPr lang="en-US" sz="1200"/>
          </a:p>
          <a:p>
            <a:pPr marL="0" lvl="1"/>
            <a:endParaRPr lang="en-US" sz="1200"/>
          </a:p>
          <a:p>
            <a:pPr marL="0" lvl="1"/>
            <a:r>
              <a:rPr lang="en-US" sz="1200"/>
              <a:t>Komplekslik Limiti (Query Complexity Limit): </a:t>
            </a:r>
          </a:p>
          <a:p>
            <a:pPr marL="628650" lvl="2" indent="-171450">
              <a:buFont typeface="Arial" panose="020B0604020202020204" pitchFamily="34" charset="0"/>
              <a:buChar char="•"/>
            </a:pPr>
            <a:r>
              <a:rPr lang="en-US" sz="1200" b="1">
                <a:solidFill>
                  <a:srgbClr val="FF0000"/>
                </a:solidFill>
              </a:rPr>
              <a:t>graphql-php-cost-analysis</a:t>
            </a:r>
            <a:r>
              <a:rPr lang="en-US" sz="1200"/>
              <a:t> - </a:t>
            </a:r>
            <a:r>
              <a:rPr lang="az-Latn-AZ" sz="1200"/>
              <a:t>bu ayrıca araşdırma tələb edir.</a:t>
            </a:r>
            <a:endParaRPr lang="en-US" sz="1200"/>
          </a:p>
          <a:p>
            <a:pPr marL="0" lvl="1"/>
            <a:r>
              <a:rPr lang="en-US" sz="1200"/>
              <a:t>	</a:t>
            </a:r>
            <a:endParaRPr lang="az-Latn-AZ" sz="1200"/>
          </a:p>
          <a:p>
            <a:pPr marL="0" lvl="1"/>
            <a:endParaRPr lang="en-US" sz="1200"/>
          </a:p>
          <a:p>
            <a:r>
              <a:rPr lang="en-US" sz="1200" b="1"/>
              <a:t>Rate Limiting (Sorğu Sayına Limit)</a:t>
            </a:r>
            <a:r>
              <a:rPr lang="en-US" sz="1200"/>
              <a:t>: </a:t>
            </a:r>
            <a:endParaRPr lang="az-Latn-AZ" sz="1200"/>
          </a:p>
          <a:p>
            <a:pPr marL="628650" lvl="1" indent="-171450">
              <a:lnSpc>
                <a:spcPct val="150000"/>
              </a:lnSpc>
              <a:buFont typeface="Arial" panose="020B0604020202020204" pitchFamily="34" charset="0"/>
              <a:buChar char="•"/>
            </a:pPr>
            <a:r>
              <a:rPr lang="en-US" sz="1200"/>
              <a:t>Müəyyən müddətdə göndərilən sorğu sayını məhdudlaşdırmaq. Bu, həm GraphQL, həm də REST üçün işləyir.</a:t>
            </a:r>
          </a:p>
          <a:p>
            <a:pPr marL="628650" lvl="1" indent="-171450">
              <a:lnSpc>
                <a:spcPct val="150000"/>
              </a:lnSpc>
              <a:buFont typeface="Arial" panose="020B0604020202020204" pitchFamily="34" charset="0"/>
              <a:buChar char="•"/>
            </a:pPr>
            <a:r>
              <a:rPr lang="en-US" sz="1200" b="1"/>
              <a:t>Restoran analoqiyası</a:t>
            </a:r>
            <a:r>
              <a:rPr lang="en-US" sz="1200"/>
              <a:t>: "Hər müştəri saatda yalnız 5 dəfə sifariş verə bilər."</a:t>
            </a:r>
          </a:p>
          <a:p>
            <a:pPr marL="628650" lvl="1" indent="-171450">
              <a:lnSpc>
                <a:spcPct val="150000"/>
              </a:lnSpc>
              <a:buFont typeface="Arial" panose="020B0604020202020204" pitchFamily="34" charset="0"/>
              <a:buChar char="•"/>
            </a:pPr>
            <a:r>
              <a:rPr lang="en-US" sz="1200" b="1"/>
              <a:t>PHP-də</a:t>
            </a:r>
            <a:r>
              <a:rPr lang="en-US" sz="1200"/>
              <a:t>: Laravel-də throttle middleware-i ilə:</a:t>
            </a:r>
            <a:r>
              <a:rPr lang="az-Latn-AZ" sz="1200"/>
              <a:t> </a:t>
            </a:r>
            <a:r>
              <a:rPr lang="en-US" sz="1200"/>
              <a:t>Saatda 60 sorğu</a:t>
            </a:r>
          </a:p>
          <a:p>
            <a:pPr marL="628650" lvl="1" indent="-171450">
              <a:lnSpc>
                <a:spcPct val="150000"/>
              </a:lnSpc>
              <a:buFont typeface="Arial" panose="020B0604020202020204" pitchFamily="34" charset="0"/>
              <a:buChar char="•"/>
            </a:pPr>
            <a:endParaRPr lang="en-US" sz="1200"/>
          </a:p>
          <a:p>
            <a:pPr marL="0" lvl="1"/>
            <a:endParaRPr lang="en-US" sz="1200"/>
          </a:p>
        </p:txBody>
      </p:sp>
      <p:pic>
        <p:nvPicPr>
          <p:cNvPr id="3" name="Picture 2">
            <a:extLst>
              <a:ext uri="{FF2B5EF4-FFF2-40B4-BE49-F238E27FC236}">
                <a16:creationId xmlns:a16="http://schemas.microsoft.com/office/drawing/2014/main" id="{03FE920B-85D5-D60B-EC46-BFF33CC603FE}"/>
              </a:ext>
            </a:extLst>
          </p:cNvPr>
          <p:cNvPicPr>
            <a:picLocks noChangeAspect="1"/>
          </p:cNvPicPr>
          <p:nvPr/>
        </p:nvPicPr>
        <p:blipFill>
          <a:blip r:embed="rId2"/>
          <a:stretch>
            <a:fillRect/>
          </a:stretch>
        </p:blipFill>
        <p:spPr>
          <a:xfrm>
            <a:off x="0" y="2163989"/>
            <a:ext cx="6516009" cy="885949"/>
          </a:xfrm>
          <a:prstGeom prst="rect">
            <a:avLst/>
          </a:prstGeom>
        </p:spPr>
      </p:pic>
      <p:pic>
        <p:nvPicPr>
          <p:cNvPr id="5" name="Picture 4">
            <a:extLst>
              <a:ext uri="{FF2B5EF4-FFF2-40B4-BE49-F238E27FC236}">
                <a16:creationId xmlns:a16="http://schemas.microsoft.com/office/drawing/2014/main" id="{BAC61E3E-59C8-C88C-B176-8287F6BC6F0C}"/>
              </a:ext>
            </a:extLst>
          </p:cNvPr>
          <p:cNvPicPr>
            <a:picLocks noChangeAspect="1"/>
          </p:cNvPicPr>
          <p:nvPr/>
        </p:nvPicPr>
        <p:blipFill>
          <a:blip r:embed="rId3"/>
          <a:stretch>
            <a:fillRect/>
          </a:stretch>
        </p:blipFill>
        <p:spPr>
          <a:xfrm>
            <a:off x="0" y="5499624"/>
            <a:ext cx="7287642" cy="533474"/>
          </a:xfrm>
          <a:prstGeom prst="rect">
            <a:avLst/>
          </a:prstGeom>
        </p:spPr>
      </p:pic>
    </p:spTree>
    <p:extLst>
      <p:ext uri="{BB962C8B-B14F-4D97-AF65-F5344CB8AC3E}">
        <p14:creationId xmlns:p14="http://schemas.microsoft.com/office/powerpoint/2010/main" val="1537972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DA735-279B-1AF9-0E1B-C4F4BE24DD0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BEEAEDA-4DF6-9BEF-470E-4B5049A06A31}"/>
              </a:ext>
            </a:extLst>
          </p:cNvPr>
          <p:cNvSpPr txBox="1"/>
          <p:nvPr/>
        </p:nvSpPr>
        <p:spPr>
          <a:xfrm>
            <a:off x="203200" y="244826"/>
            <a:ext cx="11822545" cy="4431983"/>
          </a:xfrm>
          <a:prstGeom prst="rect">
            <a:avLst/>
          </a:prstGeom>
          <a:noFill/>
        </p:spPr>
        <p:txBody>
          <a:bodyPr wrap="square">
            <a:spAutoFit/>
          </a:bodyPr>
          <a:lstStyle/>
          <a:p>
            <a:r>
              <a:rPr lang="en-US" sz="1200" b="1"/>
              <a:t>DataLoader ilə N+1 Problemini</a:t>
            </a:r>
            <a:r>
              <a:rPr lang="az-Latn-AZ" sz="1200" b="1"/>
              <a:t>n</a:t>
            </a:r>
            <a:r>
              <a:rPr lang="en-US" sz="1200" b="1"/>
              <a:t> Həll</a:t>
            </a:r>
            <a:r>
              <a:rPr lang="en-US" sz="1200"/>
              <a:t>: </a:t>
            </a:r>
            <a:endParaRPr lang="az-Latn-AZ" sz="1200"/>
          </a:p>
          <a:p>
            <a:pPr marL="742950" lvl="1" indent="-285750">
              <a:lnSpc>
                <a:spcPct val="150000"/>
              </a:lnSpc>
              <a:buFont typeface="Arial" panose="020B0604020202020204" pitchFamily="34" charset="0"/>
              <a:buChar char="•"/>
            </a:pPr>
            <a:r>
              <a:rPr lang="en-US" sz="1200"/>
              <a:t>Çoxlu nested sorğular zamanı verilənlər bazasına çox sorğu gedir (</a:t>
            </a:r>
            <a:r>
              <a:rPr lang="az-Latn-AZ" sz="1200"/>
              <a:t> </a:t>
            </a:r>
            <a:r>
              <a:rPr lang="en-US" sz="1200" b="1"/>
              <a:t>N+1 problemi</a:t>
            </a:r>
            <a:r>
              <a:rPr lang="az-Latn-AZ" sz="1200" b="1"/>
              <a:t> </a:t>
            </a:r>
            <a:r>
              <a:rPr lang="en-US" sz="1200"/>
              <a:t>). </a:t>
            </a:r>
            <a:r>
              <a:rPr lang="en-US" sz="1200" b="1" i="1">
                <a:solidFill>
                  <a:srgbClr val="0070C0"/>
                </a:solidFill>
              </a:rPr>
              <a:t>DataLoader</a:t>
            </a:r>
            <a:r>
              <a:rPr lang="en-US" sz="1200"/>
              <a:t> ilə batching edilir.</a:t>
            </a:r>
          </a:p>
          <a:p>
            <a:pPr marL="742950" lvl="1" indent="-285750">
              <a:lnSpc>
                <a:spcPct val="150000"/>
              </a:lnSpc>
              <a:buFont typeface="Arial" panose="020B0604020202020204" pitchFamily="34" charset="0"/>
              <a:buChar char="•"/>
            </a:pPr>
            <a:r>
              <a:rPr lang="en-US" sz="1200" b="1"/>
              <a:t>Restoran analoqiyası</a:t>
            </a:r>
            <a:r>
              <a:rPr lang="en-US" sz="1200"/>
              <a:t>: "Hər yemək üçün ayrı-ayrı anbara getmək əvəzinə, bütün sifarişləri bir dəfəyə toplu şəkildə gətir."</a:t>
            </a:r>
          </a:p>
          <a:p>
            <a:pPr marL="742950" lvl="1" indent="-285750">
              <a:lnSpc>
                <a:spcPct val="150000"/>
              </a:lnSpc>
              <a:buFont typeface="Arial" panose="020B0604020202020204" pitchFamily="34" charset="0"/>
              <a:buChar char="•"/>
            </a:pPr>
            <a:r>
              <a:rPr lang="en-US" sz="1200" b="1"/>
              <a:t>PHP-də</a:t>
            </a:r>
            <a:r>
              <a:rPr lang="en-US" sz="1200"/>
              <a:t>: </a:t>
            </a:r>
            <a:r>
              <a:rPr lang="en-US" sz="1200" b="1">
                <a:solidFill>
                  <a:srgbClr val="FF0000"/>
                </a:solidFill>
              </a:rPr>
              <a:t>webonyx/graphql-php </a:t>
            </a:r>
            <a:r>
              <a:rPr lang="en-US" sz="1200"/>
              <a:t>ilə </a:t>
            </a:r>
            <a:r>
              <a:rPr lang="en-US" sz="1200" b="1"/>
              <a:t>DataLoader</a:t>
            </a:r>
            <a:r>
              <a:rPr lang="en-US" sz="1200"/>
              <a:t> istifadəsi.</a:t>
            </a:r>
            <a:endParaRPr lang="az-Latn-AZ" sz="1200"/>
          </a:p>
          <a:p>
            <a:endParaRPr lang="az-Latn-AZ" sz="1200"/>
          </a:p>
          <a:p>
            <a:endParaRPr lang="az-Latn-AZ" sz="1200"/>
          </a:p>
          <a:p>
            <a:r>
              <a:rPr lang="en-US" sz="1200" b="1"/>
              <a:t>Təhlükəsiz Schema Dizaynı</a:t>
            </a:r>
            <a:r>
              <a:rPr lang="en-US" sz="1200"/>
              <a:t>: </a:t>
            </a:r>
            <a:endParaRPr lang="az-Latn-AZ" sz="1200"/>
          </a:p>
          <a:p>
            <a:pPr marL="628650" lvl="1" indent="-171450">
              <a:lnSpc>
                <a:spcPct val="150000"/>
              </a:lnSpc>
              <a:buFont typeface="Arial" panose="020B0604020202020204" pitchFamily="34" charset="0"/>
              <a:buChar char="•"/>
            </a:pPr>
            <a:r>
              <a:rPr lang="en-US" sz="1200"/>
              <a:t>Dövri (recursive) bağlantılardan qaçın (məsələn, Kitab → Müəllif → Kitab sonsuz dövrü).</a:t>
            </a:r>
          </a:p>
          <a:p>
            <a:pPr marL="628650" lvl="1" indent="-171450">
              <a:lnSpc>
                <a:spcPct val="150000"/>
              </a:lnSpc>
              <a:buFont typeface="Arial" panose="020B0604020202020204" pitchFamily="34" charset="0"/>
              <a:buChar char="•"/>
            </a:pPr>
            <a:r>
              <a:rPr lang="en-US" sz="1200"/>
              <a:t>Sahələri məhdudlaşdırın, yalnız lazım olanları açıq saxlayın.</a:t>
            </a:r>
            <a:r>
              <a:rPr lang="az-Latn-AZ" sz="1200"/>
              <a:t> </a:t>
            </a:r>
            <a:endParaRPr lang="en-US" sz="1200"/>
          </a:p>
          <a:p>
            <a:endParaRPr lang="az-Latn-AZ" sz="1200"/>
          </a:p>
          <a:p>
            <a:r>
              <a:rPr lang="en-US" sz="1200" b="1"/>
              <a:t>Təhlükəsiz schema dizaynı</a:t>
            </a:r>
            <a:r>
              <a:rPr lang="en-US" sz="1200"/>
              <a:t> GraphQL-də ən vacib təhlükəsizlik tədbirlərindən biridir, çünki schema</a:t>
            </a:r>
            <a:r>
              <a:rPr lang="az-Latn-AZ" sz="1200"/>
              <a:t>,</a:t>
            </a:r>
            <a:r>
              <a:rPr lang="en-US" sz="1200"/>
              <a:t> API-nin qapısıdır. Əgər schema düzgün dizayn edilməsə, müştərilər (client) serveri çökdürə bilər və ya həssas məlumatlara giriş əldə edə bilər. Aşağıda iki əsas məsələni – </a:t>
            </a:r>
            <a:r>
              <a:rPr lang="en-US" sz="1200" b="1"/>
              <a:t>dövri (recursive) bağlantılardan qaçınmaq</a:t>
            </a:r>
            <a:r>
              <a:rPr lang="en-US" sz="1200"/>
              <a:t> və </a:t>
            </a:r>
            <a:r>
              <a:rPr lang="en-US" sz="1200" b="1"/>
              <a:t>sahələri məhdudlaşdırmaq</a:t>
            </a:r>
            <a:r>
              <a:rPr lang="en-US" sz="1200"/>
              <a:t> – izah edirəm.</a:t>
            </a:r>
            <a:endParaRPr lang="az-Latn-AZ" sz="1200"/>
          </a:p>
          <a:p>
            <a:endParaRPr lang="en-US" sz="1200"/>
          </a:p>
          <a:p>
            <a:r>
              <a:rPr lang="en-US" sz="1200" b="1"/>
              <a:t>1.1. Dövri (Recursive) Bağlantılardan Qaçınmaq</a:t>
            </a:r>
            <a:r>
              <a:rPr lang="az-Latn-AZ" sz="1200" b="1"/>
              <a:t> </a:t>
            </a:r>
            <a:r>
              <a:rPr lang="en-US" sz="1200" b="1"/>
              <a:t>Nədir?</a:t>
            </a:r>
            <a:r>
              <a:rPr lang="en-US" sz="1200"/>
              <a:t> </a:t>
            </a:r>
            <a:endParaRPr lang="az-Latn-AZ" sz="1200"/>
          </a:p>
          <a:p>
            <a:r>
              <a:rPr lang="en-US" sz="1200"/>
              <a:t>Dövri bağlantılar, schema-da bir tipin özünə və ya başqa tipə sonsuz şəkildə bağlanmasıdır. Bu, serverə çox mürəkkəb sorğular göndərilməsinə səbəb ola bilər və sistemi çökdürə bilər.</a:t>
            </a:r>
            <a:endParaRPr lang="az-Latn-AZ" sz="1200"/>
          </a:p>
          <a:p>
            <a:endParaRPr lang="en-US" sz="1200"/>
          </a:p>
          <a:p>
            <a:r>
              <a:rPr lang="en-US" sz="1200" b="1"/>
              <a:t>Gündəlik həyatdan nümunə</a:t>
            </a:r>
            <a:r>
              <a:rPr lang="en-US" sz="1200"/>
              <a:t>:</a:t>
            </a:r>
          </a:p>
          <a:p>
            <a:r>
              <a:rPr lang="en-US" sz="1200"/>
              <a:t>Tutaq ki, bir kitabxana sistemində "Kitab" tipi "Müəllif"ə, "Müəllif" isə yenidən "Kitab"a bağlıdır. Əgər müştəri sorğu göndərərək "Kitab → Müəllif → Kitab → Müəllif → ..." kimi sonsuz dövr yaratsa, server bu sorğunu icra etməyə çalışarkən "sıxışar", çünki heç vaxt bitməyən bir dövrə düşər.</a:t>
            </a:r>
          </a:p>
          <a:p>
            <a:endParaRPr lang="az-Latn-AZ" sz="1200"/>
          </a:p>
          <a:p>
            <a:endParaRPr lang="en-US" sz="1200"/>
          </a:p>
        </p:txBody>
      </p:sp>
    </p:spTree>
    <p:extLst>
      <p:ext uri="{BB962C8B-B14F-4D97-AF65-F5344CB8AC3E}">
        <p14:creationId xmlns:p14="http://schemas.microsoft.com/office/powerpoint/2010/main" val="2944134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57DF3-1A11-EA94-246E-1749810032E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2CE9309-05A7-9DCF-F71D-DDF866026F6B}"/>
              </a:ext>
            </a:extLst>
          </p:cNvPr>
          <p:cNvSpPr txBox="1"/>
          <p:nvPr/>
        </p:nvSpPr>
        <p:spPr>
          <a:xfrm>
            <a:off x="203200" y="244826"/>
            <a:ext cx="11822545" cy="3539430"/>
          </a:xfrm>
          <a:prstGeom prst="rect">
            <a:avLst/>
          </a:prstGeom>
          <a:noFill/>
        </p:spPr>
        <p:txBody>
          <a:bodyPr wrap="square">
            <a:spAutoFit/>
          </a:bodyPr>
          <a:lstStyle/>
          <a:p>
            <a:r>
              <a:rPr lang="en-US" sz="1600">
                <a:latin typeface="-apple-system"/>
              </a:rPr>
              <a:t>Nümunə (pis schema):</a:t>
            </a:r>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r>
              <a:rPr lang="en-US" sz="1600"/>
              <a:t>Bu schema ilə müştəri belə bir sorğu göndərə bilər:</a:t>
            </a:r>
            <a:r>
              <a:rPr lang="az-Latn-AZ" sz="1600"/>
              <a:t> Bu sorğu serveri çökdürə bilər, çünki verilənlər bazasından sonsuz məlumat çəkməyə çalışır.</a:t>
            </a:r>
            <a:endParaRPr lang="en-US" sz="1600"/>
          </a:p>
        </p:txBody>
      </p:sp>
      <p:pic>
        <p:nvPicPr>
          <p:cNvPr id="3" name="Picture 2">
            <a:extLst>
              <a:ext uri="{FF2B5EF4-FFF2-40B4-BE49-F238E27FC236}">
                <a16:creationId xmlns:a16="http://schemas.microsoft.com/office/drawing/2014/main" id="{4CE01044-0C11-A6A6-1776-C769680CD4B1}"/>
              </a:ext>
            </a:extLst>
          </p:cNvPr>
          <p:cNvPicPr>
            <a:picLocks noChangeAspect="1"/>
          </p:cNvPicPr>
          <p:nvPr/>
        </p:nvPicPr>
        <p:blipFill>
          <a:blip r:embed="rId2"/>
          <a:stretch>
            <a:fillRect/>
          </a:stretch>
        </p:blipFill>
        <p:spPr>
          <a:xfrm>
            <a:off x="203200" y="691842"/>
            <a:ext cx="6325483" cy="2333951"/>
          </a:xfrm>
          <a:prstGeom prst="rect">
            <a:avLst/>
          </a:prstGeom>
        </p:spPr>
      </p:pic>
      <p:pic>
        <p:nvPicPr>
          <p:cNvPr id="5" name="Picture 4">
            <a:extLst>
              <a:ext uri="{FF2B5EF4-FFF2-40B4-BE49-F238E27FC236}">
                <a16:creationId xmlns:a16="http://schemas.microsoft.com/office/drawing/2014/main" id="{A099D511-F5DC-FAB4-D7BD-CC3365646E12}"/>
              </a:ext>
            </a:extLst>
          </p:cNvPr>
          <p:cNvPicPr>
            <a:picLocks noChangeAspect="1"/>
          </p:cNvPicPr>
          <p:nvPr/>
        </p:nvPicPr>
        <p:blipFill>
          <a:blip r:embed="rId3"/>
          <a:stretch>
            <a:fillRect/>
          </a:stretch>
        </p:blipFill>
        <p:spPr>
          <a:xfrm>
            <a:off x="203200" y="3777673"/>
            <a:ext cx="2243516" cy="3080327"/>
          </a:xfrm>
          <a:prstGeom prst="rect">
            <a:avLst/>
          </a:prstGeom>
        </p:spPr>
      </p:pic>
    </p:spTree>
    <p:extLst>
      <p:ext uri="{BB962C8B-B14F-4D97-AF65-F5344CB8AC3E}">
        <p14:creationId xmlns:p14="http://schemas.microsoft.com/office/powerpoint/2010/main" val="312600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1181D-263C-85E2-FCF2-73C72D317A1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10A8B10-A21D-93FB-2B5C-298B01A2BCFE}"/>
              </a:ext>
            </a:extLst>
          </p:cNvPr>
          <p:cNvSpPr txBox="1"/>
          <p:nvPr/>
        </p:nvSpPr>
        <p:spPr>
          <a:xfrm>
            <a:off x="203200" y="244826"/>
            <a:ext cx="11822545" cy="2308324"/>
          </a:xfrm>
          <a:prstGeom prst="rect">
            <a:avLst/>
          </a:prstGeom>
          <a:noFill/>
        </p:spPr>
        <p:txBody>
          <a:bodyPr wrap="square">
            <a:spAutoFit/>
          </a:bodyPr>
          <a:lstStyle/>
          <a:p>
            <a:r>
              <a:rPr lang="en-US" sz="1200" b="1"/>
              <a:t>Həll yolu</a:t>
            </a:r>
            <a:r>
              <a:rPr lang="en-US" sz="1200"/>
              <a:t>:</a:t>
            </a:r>
          </a:p>
          <a:p>
            <a:endParaRPr lang="en-US" sz="1200"/>
          </a:p>
          <a:p>
            <a:pPr marL="628650" lvl="1" indent="-171450">
              <a:lnSpc>
                <a:spcPct val="150000"/>
              </a:lnSpc>
              <a:buFont typeface="Arial" panose="020B0604020202020204" pitchFamily="34" charset="0"/>
              <a:buChar char="•"/>
            </a:pPr>
            <a:r>
              <a:rPr lang="en-US" sz="1200" b="1"/>
              <a:t>Dərinlik limiti tətbiq etmək</a:t>
            </a:r>
            <a:r>
              <a:rPr lang="en-US" sz="1200"/>
              <a:t>: Schema dizaynında dərinlik limitini qoymaq (yuxarıda qeyd olunmuşdu). Məsələn, maksimum 3 səviyyə dərinlik icazə verilir.</a:t>
            </a:r>
          </a:p>
          <a:p>
            <a:pPr marL="628650" lvl="1" indent="-171450">
              <a:lnSpc>
                <a:spcPct val="150000"/>
              </a:lnSpc>
              <a:buFont typeface="Arial" panose="020B0604020202020204" pitchFamily="34" charset="0"/>
              <a:buChar char="•"/>
            </a:pPr>
            <a:r>
              <a:rPr lang="en-US" sz="1200" b="1"/>
              <a:t>Dövri bağlantıları məhdudlaşdırmaq</a:t>
            </a:r>
            <a:r>
              <a:rPr lang="en-US" sz="1200"/>
              <a:t>: Schema-da hər tipin yalnız zəruri sahələrə bağlanmasını təmin edin. Məsələn, "Müəllif" tipində "kitablar" sahəsini opsional edin (</a:t>
            </a:r>
            <a:r>
              <a:rPr lang="az-Latn-AZ" sz="1200"/>
              <a:t>opsional yəni olada bilər olmayada bilər deməkdir</a:t>
            </a:r>
            <a:r>
              <a:rPr lang="en-US" sz="1200"/>
              <a:t>) və ya tamamilə çıxarın, əgər zəruri deyilsə.</a:t>
            </a:r>
          </a:p>
          <a:p>
            <a:pPr marL="628650" lvl="1" indent="-171450">
              <a:lnSpc>
                <a:spcPct val="150000"/>
              </a:lnSpc>
              <a:buFont typeface="Arial" panose="020B0604020202020204" pitchFamily="34" charset="0"/>
              <a:buChar char="•"/>
            </a:pPr>
            <a:r>
              <a:rPr lang="en-US" sz="1200" b="1"/>
              <a:t>Sorğu dizaynında diqqətli olmaq</a:t>
            </a:r>
            <a:r>
              <a:rPr lang="en-US" sz="1200"/>
              <a:t>: Müştərilərə hansı sahələrin əlçatan olduğunu dəqiq müəyyənləşdirin.</a:t>
            </a:r>
          </a:p>
          <a:p>
            <a:endParaRPr lang="en-US" sz="1200"/>
          </a:p>
          <a:p>
            <a:r>
              <a:rPr lang="en-US" sz="1200" b="1"/>
              <a:t>Təhlükəsiz schema nümunəsi</a:t>
            </a:r>
            <a:r>
              <a:rPr lang="en-US" sz="1200"/>
              <a:t>:</a:t>
            </a:r>
            <a:r>
              <a:rPr lang="az-Latn-AZ" sz="1200"/>
              <a:t> </a:t>
            </a:r>
            <a:r>
              <a:rPr lang="en-US" sz="1200"/>
              <a:t>Bu schema ilə müştəri "Muellif → Kitab → Muellif" dövrünə girsə belə, serverə yük az olar, çünki "</a:t>
            </a:r>
            <a:r>
              <a:rPr lang="en-US" sz="1200" b="1" i="1" u="sng"/>
              <a:t>muellifId</a:t>
            </a:r>
            <a:r>
              <a:rPr lang="en-US" sz="1200"/>
              <a:t>" scalar tipdir və sonsuz dərinliyə getmir.</a:t>
            </a:r>
          </a:p>
          <a:p>
            <a:endParaRPr lang="en-US" sz="1200">
              <a:effectLst/>
            </a:endParaRPr>
          </a:p>
          <a:p>
            <a:endParaRPr lang="en-US" sz="1200">
              <a:effectLst/>
            </a:endParaRPr>
          </a:p>
        </p:txBody>
      </p:sp>
      <p:pic>
        <p:nvPicPr>
          <p:cNvPr id="3" name="Picture 2">
            <a:extLst>
              <a:ext uri="{FF2B5EF4-FFF2-40B4-BE49-F238E27FC236}">
                <a16:creationId xmlns:a16="http://schemas.microsoft.com/office/drawing/2014/main" id="{0627839C-2DD6-1627-81BD-ADB9BA1488C8}"/>
              </a:ext>
            </a:extLst>
          </p:cNvPr>
          <p:cNvPicPr>
            <a:picLocks noChangeAspect="1"/>
          </p:cNvPicPr>
          <p:nvPr/>
        </p:nvPicPr>
        <p:blipFill>
          <a:blip r:embed="rId2"/>
          <a:stretch>
            <a:fillRect/>
          </a:stretch>
        </p:blipFill>
        <p:spPr>
          <a:xfrm>
            <a:off x="0" y="2252498"/>
            <a:ext cx="5611008" cy="2353003"/>
          </a:xfrm>
          <a:prstGeom prst="rect">
            <a:avLst/>
          </a:prstGeom>
        </p:spPr>
      </p:pic>
    </p:spTree>
    <p:extLst>
      <p:ext uri="{BB962C8B-B14F-4D97-AF65-F5344CB8AC3E}">
        <p14:creationId xmlns:p14="http://schemas.microsoft.com/office/powerpoint/2010/main" val="30429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67B88-E423-3706-3AA3-32F60FB235D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0AC321E-13C5-F380-4300-47F46A4B2D60}"/>
              </a:ext>
            </a:extLst>
          </p:cNvPr>
          <p:cNvSpPr txBox="1"/>
          <p:nvPr/>
        </p:nvSpPr>
        <p:spPr>
          <a:xfrm>
            <a:off x="203200" y="244826"/>
            <a:ext cx="11822545" cy="4524315"/>
          </a:xfrm>
          <a:prstGeom prst="rect">
            <a:avLst/>
          </a:prstGeom>
          <a:noFill/>
        </p:spPr>
        <p:txBody>
          <a:bodyPr wrap="square">
            <a:spAutoFit/>
          </a:bodyPr>
          <a:lstStyle/>
          <a:p>
            <a:r>
              <a:rPr lang="en-US" sz="1200"/>
              <a:t>PHP-də (</a:t>
            </a:r>
            <a:r>
              <a:rPr lang="en-US" sz="1200" b="1">
                <a:solidFill>
                  <a:srgbClr val="FF0000"/>
                </a:solidFill>
              </a:rPr>
              <a:t>webonyx/graphql-php </a:t>
            </a:r>
            <a:r>
              <a:rPr lang="en-US" sz="1200"/>
              <a:t>ilə):</a:t>
            </a:r>
            <a:endParaRPr lang="az-Latn-AZ" sz="1200"/>
          </a:p>
          <a:p>
            <a:endParaRPr lang="az-Latn-AZ" sz="1200">
              <a:effectLst/>
            </a:endParaRPr>
          </a:p>
          <a:p>
            <a:endParaRPr lang="az-Latn-AZ" sz="1200"/>
          </a:p>
          <a:p>
            <a:endParaRPr lang="az-Latn-AZ" sz="1200">
              <a:effectLst/>
            </a:endParaRPr>
          </a:p>
          <a:p>
            <a:endParaRPr lang="az-Latn-AZ" sz="1200"/>
          </a:p>
          <a:p>
            <a:endParaRPr lang="az-Latn-AZ" sz="1200">
              <a:effectLst/>
            </a:endParaRPr>
          </a:p>
          <a:p>
            <a:endParaRPr lang="az-Latn-AZ" sz="1200"/>
          </a:p>
          <a:p>
            <a:endParaRPr lang="az-Latn-AZ" sz="1200"/>
          </a:p>
          <a:p>
            <a:endParaRPr lang="az-Latn-AZ" sz="1200"/>
          </a:p>
          <a:p>
            <a:endParaRPr lang="az-Latn-AZ" sz="1200"/>
          </a:p>
          <a:p>
            <a:endParaRPr lang="az-Latn-AZ" sz="1200"/>
          </a:p>
          <a:p>
            <a:endParaRPr lang="az-Latn-AZ" sz="1200">
              <a:effectLst/>
            </a:endParaRPr>
          </a:p>
          <a:p>
            <a:endParaRPr lang="az-Latn-AZ" sz="1200"/>
          </a:p>
          <a:p>
            <a:endParaRPr lang="az-Latn-AZ" sz="1200">
              <a:effectLst/>
            </a:endParaRPr>
          </a:p>
          <a:p>
            <a:endParaRPr lang="az-Latn-AZ" sz="1200"/>
          </a:p>
          <a:p>
            <a:r>
              <a:rPr lang="en-US" sz="1200" b="1"/>
              <a:t>1.2. Sahələri Məhdudlaşdırmaq</a:t>
            </a:r>
            <a:r>
              <a:rPr lang="az-Latn-AZ" sz="1200" b="1"/>
              <a:t> </a:t>
            </a:r>
            <a:r>
              <a:rPr lang="en-US" sz="1200" b="1"/>
              <a:t>Nədir?</a:t>
            </a:r>
            <a:r>
              <a:rPr lang="en-US" sz="1200"/>
              <a:t> </a:t>
            </a:r>
            <a:endParaRPr lang="az-Latn-AZ" sz="1200"/>
          </a:p>
          <a:p>
            <a:endParaRPr lang="az-Latn-AZ" sz="1200"/>
          </a:p>
          <a:p>
            <a:r>
              <a:rPr lang="en-US" sz="1200"/>
              <a:t>Schema-da yalnız zəruri sahələri açıq saxlamaq və həssas məlumatları gizlətmək. Məsələn, bir "İstifadəçi" tipində parol və ya şəxsi məlumatlar kimi sahələri açıq buraxmamalısınız.</a:t>
            </a:r>
            <a:endParaRPr lang="az-Latn-AZ" sz="1200"/>
          </a:p>
          <a:p>
            <a:endParaRPr lang="en-US" sz="1200"/>
          </a:p>
          <a:p>
            <a:r>
              <a:rPr lang="en-US" sz="1200" b="1"/>
              <a:t>Gündəlik həyatdan nümunə</a:t>
            </a:r>
            <a:r>
              <a:rPr lang="en-US" sz="1200"/>
              <a:t>:</a:t>
            </a:r>
            <a:r>
              <a:rPr lang="az-Latn-AZ" sz="1200"/>
              <a:t> </a:t>
            </a:r>
            <a:r>
              <a:rPr lang="en-US" sz="1200"/>
              <a:t>Tutaq ki, kitabxanada istifadəçi məlumatları var: </a:t>
            </a:r>
            <a:r>
              <a:rPr lang="en-US" sz="1200" b="1"/>
              <a:t>ad</a:t>
            </a:r>
            <a:r>
              <a:rPr lang="en-US" sz="1200"/>
              <a:t>, </a:t>
            </a:r>
            <a:r>
              <a:rPr lang="en-US" sz="1200" b="1"/>
              <a:t>e-poçt</a:t>
            </a:r>
            <a:r>
              <a:rPr lang="en-US" sz="1200"/>
              <a:t>, </a:t>
            </a:r>
            <a:r>
              <a:rPr lang="en-US" sz="1200" b="1"/>
              <a:t>parol</a:t>
            </a:r>
            <a:r>
              <a:rPr lang="en-US" sz="1200"/>
              <a:t>. Müştəriyə (sorğuya) yalnız ad və e-poçtu göstərirsiniz, parolu isə gizli saxlayırsınız.</a:t>
            </a:r>
          </a:p>
          <a:p>
            <a:endParaRPr lang="az-Latn-AZ" sz="1200">
              <a:effectLst/>
            </a:endParaRPr>
          </a:p>
          <a:p>
            <a:endParaRPr lang="az-Latn-AZ" sz="1200"/>
          </a:p>
          <a:p>
            <a:endParaRPr lang="az-Latn-AZ" sz="1200">
              <a:effectLst/>
            </a:endParaRPr>
          </a:p>
          <a:p>
            <a:r>
              <a:rPr lang="en-US" sz="1200" b="1"/>
              <a:t>Nümunə (pis schema)</a:t>
            </a:r>
            <a:r>
              <a:rPr lang="en-US" sz="1200"/>
              <a:t>:</a:t>
            </a:r>
            <a:r>
              <a:rPr lang="az-Latn-AZ" sz="1200"/>
              <a:t> </a:t>
            </a:r>
            <a:r>
              <a:rPr lang="en-US" sz="1200">
                <a:latin typeface="-apple-system"/>
              </a:rPr>
              <a:t>Bu schema ilə müştəri parolu sorğulaya bilər, bu təhlükəsizlik sızmasıdır. </a:t>
            </a:r>
            <a:endParaRPr lang="en-US" sz="1200">
              <a:effectLst/>
            </a:endParaRPr>
          </a:p>
        </p:txBody>
      </p:sp>
      <p:pic>
        <p:nvPicPr>
          <p:cNvPr id="3" name="Picture 2">
            <a:extLst>
              <a:ext uri="{FF2B5EF4-FFF2-40B4-BE49-F238E27FC236}">
                <a16:creationId xmlns:a16="http://schemas.microsoft.com/office/drawing/2014/main" id="{C5DB79CF-84DB-A91F-71DB-B9E9D2AD8E1E}"/>
              </a:ext>
            </a:extLst>
          </p:cNvPr>
          <p:cNvPicPr>
            <a:picLocks noChangeAspect="1"/>
          </p:cNvPicPr>
          <p:nvPr/>
        </p:nvPicPr>
        <p:blipFill>
          <a:blip r:embed="rId2"/>
          <a:stretch>
            <a:fillRect/>
          </a:stretch>
        </p:blipFill>
        <p:spPr>
          <a:xfrm>
            <a:off x="203200" y="769584"/>
            <a:ext cx="1810327" cy="2113169"/>
          </a:xfrm>
          <a:prstGeom prst="rect">
            <a:avLst/>
          </a:prstGeom>
        </p:spPr>
      </p:pic>
      <p:pic>
        <p:nvPicPr>
          <p:cNvPr id="5" name="Picture 4">
            <a:extLst>
              <a:ext uri="{FF2B5EF4-FFF2-40B4-BE49-F238E27FC236}">
                <a16:creationId xmlns:a16="http://schemas.microsoft.com/office/drawing/2014/main" id="{BAFB6221-7228-ADF6-2C58-B9819546D9FE}"/>
              </a:ext>
            </a:extLst>
          </p:cNvPr>
          <p:cNvPicPr>
            <a:picLocks noChangeAspect="1"/>
          </p:cNvPicPr>
          <p:nvPr/>
        </p:nvPicPr>
        <p:blipFill>
          <a:blip r:embed="rId3"/>
          <a:stretch>
            <a:fillRect/>
          </a:stretch>
        </p:blipFill>
        <p:spPr>
          <a:xfrm>
            <a:off x="203200" y="4757032"/>
            <a:ext cx="5077534" cy="1486107"/>
          </a:xfrm>
          <a:prstGeom prst="rect">
            <a:avLst/>
          </a:prstGeom>
        </p:spPr>
      </p:pic>
    </p:spTree>
    <p:extLst>
      <p:ext uri="{BB962C8B-B14F-4D97-AF65-F5344CB8AC3E}">
        <p14:creationId xmlns:p14="http://schemas.microsoft.com/office/powerpoint/2010/main" val="3563477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33133-66C6-B1F5-424B-E9F136CB340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2DD6904-93F4-30CC-06A0-A3781E73670D}"/>
              </a:ext>
            </a:extLst>
          </p:cNvPr>
          <p:cNvSpPr txBox="1"/>
          <p:nvPr/>
        </p:nvSpPr>
        <p:spPr>
          <a:xfrm>
            <a:off x="203200" y="244826"/>
            <a:ext cx="11822545" cy="3416320"/>
          </a:xfrm>
          <a:prstGeom prst="rect">
            <a:avLst/>
          </a:prstGeom>
          <a:noFill/>
        </p:spPr>
        <p:txBody>
          <a:bodyPr wrap="square">
            <a:spAutoFit/>
          </a:bodyPr>
          <a:lstStyle/>
          <a:p>
            <a:r>
              <a:rPr lang="en-US">
                <a:latin typeface="-apple-system"/>
              </a:rPr>
              <a:t>Təhlükəsiz schema nümunəsi:</a:t>
            </a:r>
            <a:r>
              <a:rPr lang="az-Latn-AZ">
                <a:latin typeface="-apple-system"/>
              </a:rPr>
              <a:t> Əgər parol kimi həssas məlumatlar lazımdırsa, bunu yalnız müəyyən şərtlərlə (məsələn, </a:t>
            </a:r>
            <a:r>
              <a:rPr lang="az-Latn-AZ" b="1" i="1">
                <a:latin typeface="-apple-system"/>
              </a:rPr>
              <a:t>admin rolu </a:t>
            </a:r>
            <a:r>
              <a:rPr lang="az-Latn-AZ">
                <a:latin typeface="-apple-system"/>
              </a:rPr>
              <a:t>ilə) əlçatan edin.</a:t>
            </a: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r>
              <a:rPr lang="en-US"/>
              <a:t>PHP-də (</a:t>
            </a:r>
            <a:r>
              <a:rPr lang="en-US" b="1">
                <a:solidFill>
                  <a:srgbClr val="FF0000"/>
                </a:solidFill>
              </a:rPr>
              <a:t>webonyx/graphql-php </a:t>
            </a:r>
            <a:r>
              <a:rPr lang="en-US"/>
              <a:t>ilə):</a:t>
            </a:r>
          </a:p>
          <a:p>
            <a:endParaRPr lang="en-US"/>
          </a:p>
        </p:txBody>
      </p:sp>
      <p:pic>
        <p:nvPicPr>
          <p:cNvPr id="3" name="Picture 2">
            <a:extLst>
              <a:ext uri="{FF2B5EF4-FFF2-40B4-BE49-F238E27FC236}">
                <a16:creationId xmlns:a16="http://schemas.microsoft.com/office/drawing/2014/main" id="{8A591388-C75C-1766-7D14-9DB4EABEDABD}"/>
              </a:ext>
            </a:extLst>
          </p:cNvPr>
          <p:cNvPicPr>
            <a:picLocks noChangeAspect="1"/>
          </p:cNvPicPr>
          <p:nvPr/>
        </p:nvPicPr>
        <p:blipFill>
          <a:blip r:embed="rId2"/>
          <a:stretch>
            <a:fillRect/>
          </a:stretch>
        </p:blipFill>
        <p:spPr>
          <a:xfrm>
            <a:off x="203200" y="1027004"/>
            <a:ext cx="2924583" cy="1552792"/>
          </a:xfrm>
          <a:prstGeom prst="rect">
            <a:avLst/>
          </a:prstGeom>
        </p:spPr>
      </p:pic>
      <p:pic>
        <p:nvPicPr>
          <p:cNvPr id="5" name="Picture 4">
            <a:extLst>
              <a:ext uri="{FF2B5EF4-FFF2-40B4-BE49-F238E27FC236}">
                <a16:creationId xmlns:a16="http://schemas.microsoft.com/office/drawing/2014/main" id="{F4F09517-7625-DF8E-4FD7-68CCB1BAB60A}"/>
              </a:ext>
            </a:extLst>
          </p:cNvPr>
          <p:cNvPicPr>
            <a:picLocks noChangeAspect="1"/>
          </p:cNvPicPr>
          <p:nvPr/>
        </p:nvPicPr>
        <p:blipFill>
          <a:blip r:embed="rId3"/>
          <a:stretch>
            <a:fillRect/>
          </a:stretch>
        </p:blipFill>
        <p:spPr>
          <a:xfrm>
            <a:off x="203200" y="3361974"/>
            <a:ext cx="4601217" cy="2572109"/>
          </a:xfrm>
          <a:prstGeom prst="rect">
            <a:avLst/>
          </a:prstGeom>
        </p:spPr>
      </p:pic>
    </p:spTree>
    <p:extLst>
      <p:ext uri="{BB962C8B-B14F-4D97-AF65-F5344CB8AC3E}">
        <p14:creationId xmlns:p14="http://schemas.microsoft.com/office/powerpoint/2010/main" val="869640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C9266-51A0-6F5C-62B6-88F79971AA9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A32C74E-6D03-DAFF-6D12-03526173CBE5}"/>
              </a:ext>
            </a:extLst>
          </p:cNvPr>
          <p:cNvSpPr txBox="1"/>
          <p:nvPr/>
        </p:nvSpPr>
        <p:spPr>
          <a:xfrm>
            <a:off x="203200" y="244826"/>
            <a:ext cx="11822545" cy="4939814"/>
          </a:xfrm>
          <a:prstGeom prst="rect">
            <a:avLst/>
          </a:prstGeom>
          <a:noFill/>
        </p:spPr>
        <p:txBody>
          <a:bodyPr wrap="square">
            <a:spAutoFit/>
          </a:bodyPr>
          <a:lstStyle/>
          <a:p>
            <a:r>
              <a:rPr lang="en-US" b="1"/>
              <a:t>Həll yolu</a:t>
            </a:r>
            <a:r>
              <a:rPr lang="en-US"/>
              <a:t>:</a:t>
            </a:r>
          </a:p>
          <a:p>
            <a:pPr marL="285750" indent="-285750">
              <a:lnSpc>
                <a:spcPct val="150000"/>
              </a:lnSpc>
              <a:buFont typeface="Arial" panose="020B0604020202020204" pitchFamily="34" charset="0"/>
              <a:buChar char="•"/>
            </a:pPr>
            <a:r>
              <a:rPr lang="en-US" b="1"/>
              <a:t>Minimal sahələr</a:t>
            </a:r>
            <a:r>
              <a:rPr lang="en-US"/>
              <a:t>: Yalnız istifadə olunan sahələri schema-da göstərin.</a:t>
            </a:r>
          </a:p>
          <a:p>
            <a:pPr marL="285750" indent="-285750">
              <a:lnSpc>
                <a:spcPct val="150000"/>
              </a:lnSpc>
              <a:buFont typeface="Arial" panose="020B0604020202020204" pitchFamily="34" charset="0"/>
              <a:buChar char="•"/>
            </a:pPr>
            <a:r>
              <a:rPr lang="en-US" b="1"/>
              <a:t>Autorizasiya yoxlaması</a:t>
            </a:r>
            <a:r>
              <a:rPr lang="en-US"/>
              <a:t>: Həssas sahələrə girişi məhdudlaşdırmaq üçün resolver funksiyalarında yoxlama əlavə edin:</a:t>
            </a:r>
            <a:endParaRPr lang="az-Latn-AZ"/>
          </a:p>
          <a:p>
            <a:pPr marL="285750" indent="-285750">
              <a:lnSpc>
                <a:spcPct val="150000"/>
              </a:lnSpc>
              <a:buFont typeface="Arial" panose="020B0604020202020204" pitchFamily="34" charset="0"/>
              <a:buChar char="•"/>
            </a:pPr>
            <a:endParaRPr lang="az-Latn-AZ"/>
          </a:p>
          <a:p>
            <a:pPr marL="285750" indent="-285750">
              <a:lnSpc>
                <a:spcPct val="150000"/>
              </a:lnSpc>
              <a:buFont typeface="Arial" panose="020B0604020202020204" pitchFamily="34" charset="0"/>
              <a:buChar char="•"/>
            </a:pPr>
            <a:endParaRPr lang="az-Latn-AZ"/>
          </a:p>
          <a:p>
            <a:pPr marL="285750" indent="-285750">
              <a:lnSpc>
                <a:spcPct val="150000"/>
              </a:lnSpc>
              <a:buFont typeface="Arial" panose="020B0604020202020204" pitchFamily="34" charset="0"/>
              <a:buChar char="•"/>
            </a:pPr>
            <a:endParaRPr lang="az-Latn-AZ"/>
          </a:p>
          <a:p>
            <a:pPr marL="285750" indent="-285750">
              <a:lnSpc>
                <a:spcPct val="150000"/>
              </a:lnSpc>
              <a:buFont typeface="Arial" panose="020B0604020202020204" pitchFamily="34" charset="0"/>
              <a:buChar char="•"/>
            </a:pPr>
            <a:endParaRPr lang="az-Latn-AZ"/>
          </a:p>
          <a:p>
            <a:pPr marL="285750" indent="-285750">
              <a:lnSpc>
                <a:spcPct val="150000"/>
              </a:lnSpc>
              <a:buFont typeface="Arial" panose="020B0604020202020204" pitchFamily="34" charset="0"/>
              <a:buChar char="•"/>
            </a:pPr>
            <a:endParaRPr lang="az-Latn-AZ"/>
          </a:p>
          <a:p>
            <a:pPr marL="285750" indent="-285750">
              <a:lnSpc>
                <a:spcPct val="150000"/>
              </a:lnSpc>
              <a:buFont typeface="Arial" panose="020B0604020202020204" pitchFamily="34" charset="0"/>
              <a:buChar char="•"/>
            </a:pPr>
            <a:endParaRPr lang="az-Latn-AZ"/>
          </a:p>
          <a:p>
            <a:pPr marL="285750" indent="-285750">
              <a:lnSpc>
                <a:spcPct val="150000"/>
              </a:lnSpc>
              <a:buFont typeface="Arial" panose="020B0604020202020204" pitchFamily="34" charset="0"/>
              <a:buChar char="•"/>
            </a:pPr>
            <a:r>
              <a:rPr lang="az-Latn-AZ"/>
              <a:t>Direktivlər: Lighthouse kimi alətlərdə </a:t>
            </a:r>
            <a:r>
              <a:rPr lang="az-Latn-AZ" b="1">
                <a:solidFill>
                  <a:srgbClr val="FF0000"/>
                </a:solidFill>
              </a:rPr>
              <a:t>@can </a:t>
            </a:r>
            <a:r>
              <a:rPr lang="az-Latn-AZ"/>
              <a:t>və ya </a:t>
            </a:r>
            <a:r>
              <a:rPr lang="az-Latn-AZ" b="1">
                <a:solidFill>
                  <a:srgbClr val="FF0000"/>
                </a:solidFill>
              </a:rPr>
              <a:t>@restrict </a:t>
            </a:r>
            <a:r>
              <a:rPr lang="az-Latn-AZ"/>
              <a:t>direktivləri ilə sahələri məhdudlaşdırın.</a:t>
            </a:r>
          </a:p>
          <a:p>
            <a:endParaRPr lang="az-Latn-AZ"/>
          </a:p>
          <a:p>
            <a:endParaRPr lang="az-Latn-AZ"/>
          </a:p>
          <a:p>
            <a:endParaRPr lang="en-US"/>
          </a:p>
        </p:txBody>
      </p:sp>
      <p:pic>
        <p:nvPicPr>
          <p:cNvPr id="3" name="Picture 2">
            <a:extLst>
              <a:ext uri="{FF2B5EF4-FFF2-40B4-BE49-F238E27FC236}">
                <a16:creationId xmlns:a16="http://schemas.microsoft.com/office/drawing/2014/main" id="{5FEC2290-6628-C306-1DF7-E906998895C4}"/>
              </a:ext>
            </a:extLst>
          </p:cNvPr>
          <p:cNvPicPr>
            <a:picLocks noChangeAspect="1"/>
          </p:cNvPicPr>
          <p:nvPr/>
        </p:nvPicPr>
        <p:blipFill>
          <a:blip r:embed="rId2"/>
          <a:stretch>
            <a:fillRect/>
          </a:stretch>
        </p:blipFill>
        <p:spPr>
          <a:xfrm>
            <a:off x="203200" y="1488780"/>
            <a:ext cx="5553850" cy="2162477"/>
          </a:xfrm>
          <a:prstGeom prst="rect">
            <a:avLst/>
          </a:prstGeom>
        </p:spPr>
      </p:pic>
    </p:spTree>
    <p:extLst>
      <p:ext uri="{BB962C8B-B14F-4D97-AF65-F5344CB8AC3E}">
        <p14:creationId xmlns:p14="http://schemas.microsoft.com/office/powerpoint/2010/main" val="360763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51BDD-1E9F-2173-7C90-C5FFAB297F1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AA36E89-47B5-8236-CE75-3CF8978A4BB2}"/>
              </a:ext>
            </a:extLst>
          </p:cNvPr>
          <p:cNvSpPr txBox="1"/>
          <p:nvPr/>
        </p:nvSpPr>
        <p:spPr>
          <a:xfrm>
            <a:off x="203200" y="244826"/>
            <a:ext cx="11822545" cy="5816977"/>
          </a:xfrm>
          <a:prstGeom prst="rect">
            <a:avLst/>
          </a:prstGeom>
          <a:noFill/>
        </p:spPr>
        <p:txBody>
          <a:bodyPr wrap="square">
            <a:spAutoFit/>
          </a:bodyPr>
          <a:lstStyle/>
          <a:p>
            <a:r>
              <a:rPr lang="az-Latn-AZ" sz="1200" b="1">
                <a:highlight>
                  <a:srgbClr val="FFFF00"/>
                </a:highlight>
                <a:latin typeface="-apple-system"/>
              </a:rPr>
              <a:t>GraphQL Təhlükəsizlik Tədbirləri</a:t>
            </a:r>
          </a:p>
          <a:p>
            <a:endParaRPr lang="az-Latn-AZ" sz="1200" b="1">
              <a:latin typeface="-apple-system"/>
            </a:endParaRPr>
          </a:p>
          <a:p>
            <a:endParaRPr lang="az-Latn-AZ" sz="1200" b="1">
              <a:solidFill>
                <a:srgbClr val="00B050"/>
              </a:solidFill>
              <a:latin typeface="-apple-system"/>
            </a:endParaRPr>
          </a:p>
          <a:p>
            <a:endParaRPr lang="az-Latn-AZ" sz="1200" b="1">
              <a:solidFill>
                <a:srgbClr val="00B050"/>
              </a:solidFill>
              <a:latin typeface="-apple-system"/>
            </a:endParaRPr>
          </a:p>
          <a:p>
            <a:r>
              <a:rPr lang="en-US" sz="1200" b="1">
                <a:solidFill>
                  <a:srgbClr val="00B050"/>
                </a:solidFill>
                <a:latin typeface="-apple-system"/>
              </a:rPr>
              <a:t>Dərinlik Limiti (Query Depth Limit) Nədir? </a:t>
            </a:r>
            <a:r>
              <a:rPr lang="en-US" sz="1200">
                <a:latin typeface="-apple-system"/>
              </a:rPr>
              <a:t>Sorğuların nə qədər dərin (nested) ola biləcəyini məhdudlaşdırmaq. Bu, dövri bağlantılardan qoruyur.</a:t>
            </a:r>
            <a:endParaRPr lang="az-Latn-AZ" sz="1200">
              <a:latin typeface="-apple-system"/>
            </a:endParaRPr>
          </a:p>
          <a:p>
            <a:endParaRPr lang="az-Latn-AZ" sz="1200">
              <a:latin typeface="-apple-system"/>
            </a:endParaRPr>
          </a:p>
          <a:p>
            <a:r>
              <a:rPr lang="en-US" sz="1200" b="1"/>
              <a:t>PHP-də (webonyx/graphql-php)</a:t>
            </a:r>
            <a:r>
              <a:rPr lang="en-US" sz="1200"/>
              <a:t>:</a:t>
            </a:r>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solidFill>
                  <a:srgbClr val="00B050"/>
                </a:solidFill>
              </a:rPr>
              <a:t>Komplekslik Limiti (Query Complexity Limit) Nədir? </a:t>
            </a:r>
            <a:r>
              <a:rPr lang="en-US" sz="1200"/>
              <a:t>Sorğunun ümumi "ağırlığını" hesablamaq və məhdudlaşdırmaq. Hər sahəyə qiymət (cost) təyin edilir.</a:t>
            </a:r>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b="1"/>
          </a:p>
          <a:p>
            <a:endParaRPr lang="az-Latn-AZ" sz="1200" b="1"/>
          </a:p>
          <a:p>
            <a:endParaRPr lang="az-Latn-AZ" sz="1200" b="1"/>
          </a:p>
          <a:p>
            <a:endParaRPr lang="az-Latn-AZ" sz="1200" b="1"/>
          </a:p>
          <a:p>
            <a:r>
              <a:rPr lang="en-US" sz="1200" b="1">
                <a:solidFill>
                  <a:srgbClr val="00B050"/>
                </a:solidFill>
              </a:rPr>
              <a:t>Rate Limiting Nədir? </a:t>
            </a:r>
            <a:r>
              <a:rPr lang="en-US" sz="1200"/>
              <a:t>Müəyyən müddətdə göndərilən sorğu sayını məhdudlaşdırmaq. Bu, </a:t>
            </a:r>
            <a:r>
              <a:rPr lang="en-US" sz="1200" b="1"/>
              <a:t>DDoS</a:t>
            </a:r>
            <a:r>
              <a:rPr lang="en-US" sz="1200"/>
              <a:t> hücumlarına qarşı qoruyur.</a:t>
            </a:r>
            <a:r>
              <a:rPr lang="az-Latn-AZ" sz="1200"/>
              <a:t> </a:t>
            </a:r>
            <a:r>
              <a:rPr lang="az-Latn-AZ" sz="1200" b="1"/>
              <a:t>PHP-də (Laravel ilə)</a:t>
            </a:r>
            <a:r>
              <a:rPr lang="az-Latn-AZ" sz="1200"/>
              <a:t>:</a:t>
            </a:r>
            <a:endParaRPr lang="en-US" sz="1200"/>
          </a:p>
        </p:txBody>
      </p:sp>
      <p:pic>
        <p:nvPicPr>
          <p:cNvPr id="3" name="Picture 2">
            <a:extLst>
              <a:ext uri="{FF2B5EF4-FFF2-40B4-BE49-F238E27FC236}">
                <a16:creationId xmlns:a16="http://schemas.microsoft.com/office/drawing/2014/main" id="{6EFB0814-003C-721C-3017-C92A5B266B40}"/>
              </a:ext>
            </a:extLst>
          </p:cNvPr>
          <p:cNvPicPr>
            <a:picLocks noChangeAspect="1"/>
          </p:cNvPicPr>
          <p:nvPr/>
        </p:nvPicPr>
        <p:blipFill>
          <a:blip r:embed="rId2"/>
          <a:stretch>
            <a:fillRect/>
          </a:stretch>
        </p:blipFill>
        <p:spPr>
          <a:xfrm>
            <a:off x="203200" y="1699113"/>
            <a:ext cx="4147127" cy="1178419"/>
          </a:xfrm>
          <a:prstGeom prst="rect">
            <a:avLst/>
          </a:prstGeom>
        </p:spPr>
      </p:pic>
      <p:pic>
        <p:nvPicPr>
          <p:cNvPr id="5" name="Picture 4">
            <a:extLst>
              <a:ext uri="{FF2B5EF4-FFF2-40B4-BE49-F238E27FC236}">
                <a16:creationId xmlns:a16="http://schemas.microsoft.com/office/drawing/2014/main" id="{B54636FA-4ED9-30A1-1CEF-F9E16B7830A6}"/>
              </a:ext>
            </a:extLst>
          </p:cNvPr>
          <p:cNvPicPr>
            <a:picLocks noChangeAspect="1"/>
          </p:cNvPicPr>
          <p:nvPr/>
        </p:nvPicPr>
        <p:blipFill>
          <a:blip r:embed="rId3"/>
          <a:stretch>
            <a:fillRect/>
          </a:stretch>
        </p:blipFill>
        <p:spPr>
          <a:xfrm>
            <a:off x="203200" y="3695809"/>
            <a:ext cx="2992582" cy="1347708"/>
          </a:xfrm>
          <a:prstGeom prst="rect">
            <a:avLst/>
          </a:prstGeom>
        </p:spPr>
      </p:pic>
      <p:pic>
        <p:nvPicPr>
          <p:cNvPr id="8" name="Picture 7">
            <a:extLst>
              <a:ext uri="{FF2B5EF4-FFF2-40B4-BE49-F238E27FC236}">
                <a16:creationId xmlns:a16="http://schemas.microsoft.com/office/drawing/2014/main" id="{18C16523-1E4E-42A7-D644-F62390BF826A}"/>
              </a:ext>
            </a:extLst>
          </p:cNvPr>
          <p:cNvPicPr>
            <a:picLocks noChangeAspect="1"/>
          </p:cNvPicPr>
          <p:nvPr/>
        </p:nvPicPr>
        <p:blipFill>
          <a:blip r:embed="rId4"/>
          <a:stretch>
            <a:fillRect/>
          </a:stretch>
        </p:blipFill>
        <p:spPr>
          <a:xfrm>
            <a:off x="203200" y="6074048"/>
            <a:ext cx="8964276" cy="781159"/>
          </a:xfrm>
          <a:prstGeom prst="rect">
            <a:avLst/>
          </a:prstGeom>
        </p:spPr>
      </p:pic>
    </p:spTree>
    <p:extLst>
      <p:ext uri="{BB962C8B-B14F-4D97-AF65-F5344CB8AC3E}">
        <p14:creationId xmlns:p14="http://schemas.microsoft.com/office/powerpoint/2010/main" val="1587927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7F2B4-6D39-3951-16EF-A9FED182EFB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E881411-EC06-1330-3265-2C66C81D31B6}"/>
              </a:ext>
            </a:extLst>
          </p:cNvPr>
          <p:cNvSpPr txBox="1"/>
          <p:nvPr/>
        </p:nvSpPr>
        <p:spPr>
          <a:xfrm>
            <a:off x="203200" y="244826"/>
            <a:ext cx="11822545" cy="3416320"/>
          </a:xfrm>
          <a:prstGeom prst="rect">
            <a:avLst/>
          </a:prstGeom>
          <a:noFill/>
        </p:spPr>
        <p:txBody>
          <a:bodyPr wrap="square">
            <a:spAutoFit/>
          </a:bodyPr>
          <a:lstStyle/>
          <a:p>
            <a:r>
              <a:rPr lang="en-US" sz="1200" b="1">
                <a:solidFill>
                  <a:srgbClr val="00B050"/>
                </a:solidFill>
                <a:latin typeface="-apple-system"/>
              </a:rPr>
              <a:t>Autentikasiya və Autorizasiya Nədir? </a:t>
            </a:r>
            <a:r>
              <a:rPr lang="en-US" sz="1200">
                <a:latin typeface="-apple-system"/>
              </a:rPr>
              <a:t>Yalnız icazəsi olan istifadəçilərin müəyyən məlumatlara və ya əməliyyatlara girişi olmasını təmin etmək. JWT və ya OAuth istifadə olunur. </a:t>
            </a:r>
            <a:r>
              <a:rPr lang="en-US" sz="1200" b="1">
                <a:latin typeface="-apple-system"/>
              </a:rPr>
              <a:t>PHP-də (resolver ilə)</a:t>
            </a:r>
            <a:r>
              <a:rPr lang="en-US" sz="1200">
                <a:latin typeface="-apple-system"/>
              </a:rPr>
              <a:t>:</a:t>
            </a:r>
            <a:endParaRPr lang="az-Latn-AZ" sz="1200">
              <a:latin typeface="-apple-system"/>
            </a:endParaRPr>
          </a:p>
          <a:p>
            <a:endParaRPr lang="az-Latn-AZ" sz="1200">
              <a:latin typeface="-apple-system"/>
            </a:endParaRPr>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solidFill>
                  <a:srgbClr val="00B050"/>
                </a:solidFill>
              </a:rPr>
              <a:t>DataLoader ilə N+1 Problemini Həll Nədir? </a:t>
            </a:r>
            <a:r>
              <a:rPr lang="en-US" sz="1200"/>
              <a:t>Çoxlu nested sorğular zamanı verilənlər bazasına çoxlu kiçik sorğu gedir (N+1 problemi). DataLoader ilə məlumatlar toplu şəkildə çəkilir.</a:t>
            </a:r>
            <a:r>
              <a:rPr lang="az-Latn-AZ" sz="1200"/>
              <a:t> </a:t>
            </a:r>
            <a:r>
              <a:rPr lang="az-Latn-AZ" sz="1200" b="1"/>
              <a:t>PHP-də (webonyx/graphql-php ilə)</a:t>
            </a:r>
            <a:r>
              <a:rPr lang="az-Latn-AZ" sz="1200"/>
              <a:t>:</a:t>
            </a:r>
            <a:endParaRPr lang="en-US" sz="1200"/>
          </a:p>
        </p:txBody>
      </p:sp>
      <p:pic>
        <p:nvPicPr>
          <p:cNvPr id="3" name="Picture 2">
            <a:extLst>
              <a:ext uri="{FF2B5EF4-FFF2-40B4-BE49-F238E27FC236}">
                <a16:creationId xmlns:a16="http://schemas.microsoft.com/office/drawing/2014/main" id="{B4A81073-249C-0EBD-C58F-C814AEA9A097}"/>
              </a:ext>
            </a:extLst>
          </p:cNvPr>
          <p:cNvPicPr>
            <a:picLocks noChangeAspect="1"/>
          </p:cNvPicPr>
          <p:nvPr/>
        </p:nvPicPr>
        <p:blipFill>
          <a:blip r:embed="rId2"/>
          <a:stretch>
            <a:fillRect/>
          </a:stretch>
        </p:blipFill>
        <p:spPr>
          <a:xfrm>
            <a:off x="203200" y="789755"/>
            <a:ext cx="4221018" cy="2107630"/>
          </a:xfrm>
          <a:prstGeom prst="rect">
            <a:avLst/>
          </a:prstGeom>
        </p:spPr>
      </p:pic>
      <p:pic>
        <p:nvPicPr>
          <p:cNvPr id="5" name="Picture 4">
            <a:extLst>
              <a:ext uri="{FF2B5EF4-FFF2-40B4-BE49-F238E27FC236}">
                <a16:creationId xmlns:a16="http://schemas.microsoft.com/office/drawing/2014/main" id="{5739DB47-00B9-F5A4-CDDF-B30501321C59}"/>
              </a:ext>
            </a:extLst>
          </p:cNvPr>
          <p:cNvPicPr>
            <a:picLocks noChangeAspect="1"/>
          </p:cNvPicPr>
          <p:nvPr/>
        </p:nvPicPr>
        <p:blipFill>
          <a:blip r:embed="rId3"/>
          <a:stretch>
            <a:fillRect/>
          </a:stretch>
        </p:blipFill>
        <p:spPr>
          <a:xfrm>
            <a:off x="203200" y="3682085"/>
            <a:ext cx="4636655" cy="2931089"/>
          </a:xfrm>
          <a:prstGeom prst="rect">
            <a:avLst/>
          </a:prstGeom>
        </p:spPr>
      </p:pic>
    </p:spTree>
    <p:extLst>
      <p:ext uri="{BB962C8B-B14F-4D97-AF65-F5344CB8AC3E}">
        <p14:creationId xmlns:p14="http://schemas.microsoft.com/office/powerpoint/2010/main" val="3354985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82850-5E74-CA92-FE65-7668F3BA0B9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4183B1D-B759-B807-40AE-AF4961881F11}"/>
              </a:ext>
            </a:extLst>
          </p:cNvPr>
          <p:cNvSpPr txBox="1"/>
          <p:nvPr/>
        </p:nvSpPr>
        <p:spPr>
          <a:xfrm>
            <a:off x="203200" y="244826"/>
            <a:ext cx="11822545" cy="4524315"/>
          </a:xfrm>
          <a:prstGeom prst="rect">
            <a:avLst/>
          </a:prstGeom>
          <a:noFill/>
        </p:spPr>
        <p:txBody>
          <a:bodyPr wrap="square">
            <a:spAutoFit/>
          </a:bodyPr>
          <a:lstStyle/>
          <a:p>
            <a:r>
              <a:rPr lang="en-US" sz="1200" b="1">
                <a:highlight>
                  <a:srgbClr val="FFFF00"/>
                </a:highlight>
                <a:latin typeface="-apple-system"/>
              </a:rPr>
              <a:t>REST API Təhlükəsizliyi </a:t>
            </a:r>
            <a:endParaRPr lang="az-Latn-AZ" sz="1200" b="1">
              <a:highlight>
                <a:srgbClr val="FFFF00"/>
              </a:highlight>
              <a:latin typeface="-apple-system"/>
            </a:endParaRPr>
          </a:p>
          <a:p>
            <a:endParaRPr lang="az-Latn-AZ" sz="1200">
              <a:latin typeface="-apple-system"/>
            </a:endParaRPr>
          </a:p>
          <a:p>
            <a:r>
              <a:rPr lang="en-US" sz="1200">
                <a:latin typeface="-apple-system"/>
              </a:rPr>
              <a:t>REST API-də təhlükəsizlik də vacibdir, amma GraphQL-dən fərqli olaraq endpoint-lər sabitdir və bu, bəzi riskləri azaldır, bəzilərini isə artır.</a:t>
            </a:r>
            <a:endParaRPr lang="az-Latn-AZ" sz="1200">
              <a:latin typeface="-apple-system"/>
            </a:endParaRPr>
          </a:p>
          <a:p>
            <a:endParaRPr lang="az-Latn-AZ" sz="1200">
              <a:latin typeface="-apple-system"/>
            </a:endParaRPr>
          </a:p>
          <a:p>
            <a:r>
              <a:rPr lang="en-US" sz="1200" b="1">
                <a:solidFill>
                  <a:srgbClr val="00B050"/>
                </a:solidFill>
              </a:rPr>
              <a:t>Autentikasiya və Autorizasiya Nədir</a:t>
            </a:r>
            <a:r>
              <a:rPr lang="en-US" sz="1200"/>
              <a:t>? REST-də də yalnız icazəli istifadəçilər müəyyən endpoint-lərə daxil ola bilər. JWT, OAuth və ya API açarları istifadə olunur.</a:t>
            </a:r>
            <a:r>
              <a:rPr lang="az-Latn-AZ" sz="1200"/>
              <a:t> PHP-də (Laravel ilə):</a:t>
            </a:r>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solidFill>
                  <a:srgbClr val="00B050"/>
                </a:solidFill>
              </a:rPr>
              <a:t>Rate Limiting Nədir? </a:t>
            </a:r>
            <a:r>
              <a:rPr lang="en-US" sz="1200"/>
              <a:t>Çox sayda sorğuya qarşı qorumaq üçün sorğu sayını məhdudlaşdırmaq.</a:t>
            </a:r>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solidFill>
                  <a:srgbClr val="00B050"/>
                </a:solidFill>
              </a:rPr>
              <a:t>Input Validation Nədir?</a:t>
            </a:r>
            <a:r>
              <a:rPr lang="en-US" sz="1200"/>
              <a:t> Müştərinin göndərdiyi məlumatların (məsələn, formalar) düzgünlüyünü yoxlamaq. </a:t>
            </a:r>
            <a:r>
              <a:rPr lang="en-US" sz="1200" b="1"/>
              <a:t>SQL injection </a:t>
            </a:r>
            <a:r>
              <a:rPr lang="en-US" sz="1200"/>
              <a:t>və ya </a:t>
            </a:r>
            <a:r>
              <a:rPr lang="en-US" sz="1200" b="1"/>
              <a:t>XSS</a:t>
            </a:r>
            <a:r>
              <a:rPr lang="en-US" sz="1200"/>
              <a:t> hücumlarına qarşı qoruyur.</a:t>
            </a:r>
            <a:r>
              <a:rPr lang="az-Latn-AZ" sz="1200"/>
              <a:t> </a:t>
            </a:r>
            <a:r>
              <a:rPr lang="az-Latn-AZ" sz="1200" b="1"/>
              <a:t>PHP-də (Laravel ilə)</a:t>
            </a:r>
            <a:r>
              <a:rPr lang="az-Latn-AZ" sz="1200"/>
              <a:t>:</a:t>
            </a:r>
            <a:endParaRPr lang="en-US" sz="1200"/>
          </a:p>
        </p:txBody>
      </p:sp>
      <p:pic>
        <p:nvPicPr>
          <p:cNvPr id="3" name="Picture 2">
            <a:extLst>
              <a:ext uri="{FF2B5EF4-FFF2-40B4-BE49-F238E27FC236}">
                <a16:creationId xmlns:a16="http://schemas.microsoft.com/office/drawing/2014/main" id="{00530DFC-5FB9-14EF-9AD3-053BF6ADE8C4}"/>
              </a:ext>
            </a:extLst>
          </p:cNvPr>
          <p:cNvPicPr>
            <a:picLocks noChangeAspect="1"/>
          </p:cNvPicPr>
          <p:nvPr/>
        </p:nvPicPr>
        <p:blipFill>
          <a:blip r:embed="rId2"/>
          <a:stretch>
            <a:fillRect/>
          </a:stretch>
        </p:blipFill>
        <p:spPr>
          <a:xfrm>
            <a:off x="203200" y="1343616"/>
            <a:ext cx="5325218" cy="1190791"/>
          </a:xfrm>
          <a:prstGeom prst="rect">
            <a:avLst/>
          </a:prstGeom>
        </p:spPr>
      </p:pic>
      <p:pic>
        <p:nvPicPr>
          <p:cNvPr id="5" name="Picture 4">
            <a:extLst>
              <a:ext uri="{FF2B5EF4-FFF2-40B4-BE49-F238E27FC236}">
                <a16:creationId xmlns:a16="http://schemas.microsoft.com/office/drawing/2014/main" id="{9BBBAA35-F5B9-3026-44D8-0F3CFB74F9DF}"/>
              </a:ext>
            </a:extLst>
          </p:cNvPr>
          <p:cNvPicPr>
            <a:picLocks noChangeAspect="1"/>
          </p:cNvPicPr>
          <p:nvPr/>
        </p:nvPicPr>
        <p:blipFill>
          <a:blip r:embed="rId3"/>
          <a:stretch>
            <a:fillRect/>
          </a:stretch>
        </p:blipFill>
        <p:spPr>
          <a:xfrm>
            <a:off x="203200" y="3547410"/>
            <a:ext cx="7220958" cy="400106"/>
          </a:xfrm>
          <a:prstGeom prst="rect">
            <a:avLst/>
          </a:prstGeom>
        </p:spPr>
      </p:pic>
      <p:pic>
        <p:nvPicPr>
          <p:cNvPr id="8" name="Picture 7">
            <a:extLst>
              <a:ext uri="{FF2B5EF4-FFF2-40B4-BE49-F238E27FC236}">
                <a16:creationId xmlns:a16="http://schemas.microsoft.com/office/drawing/2014/main" id="{DCE9D6A8-FF9E-342E-00B6-146158FBF751}"/>
              </a:ext>
            </a:extLst>
          </p:cNvPr>
          <p:cNvPicPr>
            <a:picLocks noChangeAspect="1"/>
          </p:cNvPicPr>
          <p:nvPr/>
        </p:nvPicPr>
        <p:blipFill>
          <a:blip r:embed="rId4"/>
          <a:stretch>
            <a:fillRect/>
          </a:stretch>
        </p:blipFill>
        <p:spPr>
          <a:xfrm>
            <a:off x="203200" y="4815969"/>
            <a:ext cx="4001058" cy="1724266"/>
          </a:xfrm>
          <a:prstGeom prst="rect">
            <a:avLst/>
          </a:prstGeom>
        </p:spPr>
      </p:pic>
    </p:spTree>
    <p:extLst>
      <p:ext uri="{BB962C8B-B14F-4D97-AF65-F5344CB8AC3E}">
        <p14:creationId xmlns:p14="http://schemas.microsoft.com/office/powerpoint/2010/main" val="3290511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2190D-EF9E-D537-A6BB-53B3C5266A5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AB980F1-7E4B-332A-7613-31260563DC7E}"/>
              </a:ext>
            </a:extLst>
          </p:cNvPr>
          <p:cNvSpPr txBox="1"/>
          <p:nvPr/>
        </p:nvSpPr>
        <p:spPr>
          <a:xfrm>
            <a:off x="203200" y="244826"/>
            <a:ext cx="11822545" cy="1754326"/>
          </a:xfrm>
          <a:prstGeom prst="rect">
            <a:avLst/>
          </a:prstGeom>
          <a:noFill/>
        </p:spPr>
        <p:txBody>
          <a:bodyPr wrap="square">
            <a:spAutoFit/>
          </a:bodyPr>
          <a:lstStyle/>
          <a:p>
            <a:r>
              <a:rPr lang="en-US" b="1">
                <a:solidFill>
                  <a:srgbClr val="00B050"/>
                </a:solidFill>
                <a:latin typeface="-apple-system"/>
              </a:rPr>
              <a:t>HTTPS İstifadəsi Nədir?</a:t>
            </a:r>
            <a:r>
              <a:rPr lang="en-US">
                <a:latin typeface="-apple-system"/>
              </a:rPr>
              <a:t> Bütün sorğu və cavabların şifrələnməsi. Bu, məlumatların oğurlanmasının qarşısını alır.  PHP-də: Serverdə HTTPS-i aktivləşdirmək (Nginx/Apache konfiqurasiyası ilə).</a:t>
            </a:r>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r>
              <a:rPr lang="en-US" b="1">
                <a:solidFill>
                  <a:srgbClr val="00B050"/>
                </a:solidFill>
              </a:rPr>
              <a:t>CORS (Cross-Origin Resource Sharing) Nədir?</a:t>
            </a:r>
            <a:r>
              <a:rPr lang="en-US"/>
              <a:t> Yalnız icazəli domenlərdən sorğuların qəbul edilməsi.</a:t>
            </a:r>
            <a:r>
              <a:rPr lang="az-Latn-AZ"/>
              <a:t> </a:t>
            </a:r>
            <a:r>
              <a:rPr lang="az-Latn-AZ" b="1"/>
              <a:t>PHP-də (Laravel ilə)</a:t>
            </a:r>
            <a:r>
              <a:rPr lang="az-Latn-AZ"/>
              <a:t>:</a:t>
            </a:r>
            <a:endParaRPr lang="en-US"/>
          </a:p>
        </p:txBody>
      </p:sp>
      <p:pic>
        <p:nvPicPr>
          <p:cNvPr id="3" name="Picture 2">
            <a:extLst>
              <a:ext uri="{FF2B5EF4-FFF2-40B4-BE49-F238E27FC236}">
                <a16:creationId xmlns:a16="http://schemas.microsoft.com/office/drawing/2014/main" id="{E2149FE4-0598-F69D-92C9-2CB25B095985}"/>
              </a:ext>
            </a:extLst>
          </p:cNvPr>
          <p:cNvPicPr>
            <a:picLocks noChangeAspect="1"/>
          </p:cNvPicPr>
          <p:nvPr/>
        </p:nvPicPr>
        <p:blipFill>
          <a:blip r:embed="rId2"/>
          <a:stretch>
            <a:fillRect/>
          </a:stretch>
        </p:blipFill>
        <p:spPr>
          <a:xfrm>
            <a:off x="203200" y="2076261"/>
            <a:ext cx="4439270" cy="1352739"/>
          </a:xfrm>
          <a:prstGeom prst="rect">
            <a:avLst/>
          </a:prstGeom>
        </p:spPr>
      </p:pic>
    </p:spTree>
    <p:extLst>
      <p:ext uri="{BB962C8B-B14F-4D97-AF65-F5344CB8AC3E}">
        <p14:creationId xmlns:p14="http://schemas.microsoft.com/office/powerpoint/2010/main" val="3295208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5BAB8-9A61-BDCA-E232-3E6C393CBE8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3AB1C27-8661-957D-8367-30064B5C97B5}"/>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622870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9AEA6-01FA-AE2B-33F2-2A7704FC857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1001295-C190-D7EF-A649-9D74FBCC9391}"/>
              </a:ext>
            </a:extLst>
          </p:cNvPr>
          <p:cNvSpPr txBox="1"/>
          <p:nvPr/>
        </p:nvSpPr>
        <p:spPr>
          <a:xfrm>
            <a:off x="203200" y="244826"/>
            <a:ext cx="11822545" cy="4747453"/>
          </a:xfrm>
          <a:prstGeom prst="rect">
            <a:avLst/>
          </a:prstGeom>
          <a:noFill/>
        </p:spPr>
        <p:txBody>
          <a:bodyPr wrap="square">
            <a:spAutoFit/>
          </a:bodyPr>
          <a:lstStyle/>
          <a:p>
            <a:r>
              <a:rPr lang="en-US" sz="1100" b="1">
                <a:solidFill>
                  <a:srgbClr val="FF0000"/>
                </a:solidFill>
              </a:rPr>
              <a:t>2. PHP-də GraphQL Qurmaq: Variantlar</a:t>
            </a:r>
          </a:p>
          <a:p>
            <a:pPr marL="742950" lvl="1" indent="-285750">
              <a:lnSpc>
                <a:spcPct val="150000"/>
              </a:lnSpc>
              <a:buFont typeface="Arial" panose="020B0604020202020204" pitchFamily="34" charset="0"/>
              <a:buChar char="•"/>
            </a:pPr>
            <a:r>
              <a:rPr lang="en-US" sz="1100" b="1"/>
              <a:t>Sadə PHP üçün: webonyx/graphql-php</a:t>
            </a:r>
            <a:r>
              <a:rPr lang="en-US" sz="1100"/>
              <a:t> – Bu, əsas kitabxanadır, hər şeyi əl ilə qurursunuz. Kiçik layihələrə uyğundur.</a:t>
            </a:r>
          </a:p>
          <a:p>
            <a:pPr marL="742950" lvl="1" indent="-285750">
              <a:lnSpc>
                <a:spcPct val="150000"/>
              </a:lnSpc>
              <a:buFont typeface="Arial" panose="020B0604020202020204" pitchFamily="34" charset="0"/>
              <a:buChar char="•"/>
            </a:pPr>
            <a:r>
              <a:rPr lang="en-US" sz="1100" b="1"/>
              <a:t>Laravel framework-u üçün: Lighthouse</a:t>
            </a:r>
            <a:r>
              <a:rPr lang="en-US" sz="1100"/>
              <a:t> – Laravel istifadə edirsinizsə, bu asanlaşdırır, çünki avtomatik kod yaradır.</a:t>
            </a:r>
          </a:p>
          <a:p>
            <a:pPr marL="742950" lvl="1" indent="-285750">
              <a:lnSpc>
                <a:spcPct val="150000"/>
              </a:lnSpc>
              <a:buFont typeface="Arial" panose="020B0604020202020204" pitchFamily="34" charset="0"/>
              <a:buChar char="•"/>
            </a:pPr>
            <a:r>
              <a:rPr lang="en-US" sz="1100" b="1"/>
              <a:t>Böyük layihələr üçün: API Platform</a:t>
            </a:r>
            <a:r>
              <a:rPr lang="en-US" sz="1100"/>
              <a:t> – Symfony və ya Laravel ilə işləyir, resursları avtomatik GraphQL-ə çevirir.</a:t>
            </a:r>
            <a:endParaRPr lang="az-Latn-AZ" sz="1100"/>
          </a:p>
          <a:p>
            <a:endParaRPr lang="az-Latn-AZ" sz="1100"/>
          </a:p>
          <a:p>
            <a:endParaRPr lang="az-Latn-AZ" sz="1100"/>
          </a:p>
          <a:p>
            <a:endParaRPr lang="az-Latn-AZ" sz="1100"/>
          </a:p>
          <a:p>
            <a:r>
              <a:rPr lang="en-US" sz="1100" b="1">
                <a:solidFill>
                  <a:srgbClr val="FF0000"/>
                </a:solidFill>
              </a:rPr>
              <a:t>3. Sadə Nümunə: GraphQL Sorğusu Necə Yazılır</a:t>
            </a:r>
            <a:endParaRPr lang="az-Latn-AZ" sz="1100" b="1">
              <a:solidFill>
                <a:srgbClr val="FF0000"/>
              </a:solidFill>
            </a:endParaRPr>
          </a:p>
          <a:p>
            <a:endParaRPr lang="az-Latn-AZ" sz="1100"/>
          </a:p>
          <a:p>
            <a:r>
              <a:rPr lang="en-US" sz="1100"/>
              <a:t>Tutaq ki, kitabxana app-i qururuq.  </a:t>
            </a:r>
            <a:r>
              <a:rPr lang="en-US" sz="1100" b="1"/>
              <a:t>Schema</a:t>
            </a:r>
            <a:r>
              <a:rPr lang="en-US" sz="1100"/>
              <a:t> (menyu qaydası):</a:t>
            </a:r>
            <a:endParaRPr lang="az-Latn-AZ" sz="1100"/>
          </a:p>
          <a:p>
            <a:endParaRPr lang="az-Latn-AZ" sz="1100"/>
          </a:p>
          <a:p>
            <a:endParaRPr lang="az-Latn-AZ" sz="1100"/>
          </a:p>
          <a:p>
            <a:endParaRPr lang="az-Latn-AZ" sz="1100"/>
          </a:p>
          <a:p>
            <a:endParaRPr lang="az-Latn-AZ" sz="1100"/>
          </a:p>
          <a:p>
            <a:endParaRPr lang="az-Latn-AZ" sz="1100"/>
          </a:p>
          <a:p>
            <a:endParaRPr lang="az-Latn-AZ" sz="1100"/>
          </a:p>
          <a:p>
            <a:endParaRPr lang="az-Latn-AZ" sz="1100"/>
          </a:p>
          <a:p>
            <a:endParaRPr lang="az-Latn-AZ" sz="1100"/>
          </a:p>
          <a:p>
            <a:endParaRPr lang="az-Latn-AZ" sz="1100"/>
          </a:p>
          <a:p>
            <a:endParaRPr lang="az-Latn-AZ" sz="1100"/>
          </a:p>
          <a:p>
            <a:endParaRPr lang="az-Latn-AZ" sz="1100"/>
          </a:p>
          <a:p>
            <a:endParaRPr lang="az-Latn-AZ" sz="1100"/>
          </a:p>
          <a:p>
            <a:endParaRPr lang="az-Latn-AZ" sz="1100"/>
          </a:p>
          <a:p>
            <a:endParaRPr lang="az-Latn-AZ" sz="1100"/>
          </a:p>
          <a:p>
            <a:endParaRPr lang="az-Latn-AZ" sz="1100"/>
          </a:p>
          <a:p>
            <a:r>
              <a:rPr lang="en-US" sz="1100" b="1"/>
              <a:t>Sorğu nümunəsi</a:t>
            </a:r>
            <a:r>
              <a:rPr lang="en-US" sz="1100"/>
              <a:t>:</a:t>
            </a:r>
          </a:p>
        </p:txBody>
      </p:sp>
      <p:pic>
        <p:nvPicPr>
          <p:cNvPr id="3" name="Picture 2">
            <a:extLst>
              <a:ext uri="{FF2B5EF4-FFF2-40B4-BE49-F238E27FC236}">
                <a16:creationId xmlns:a16="http://schemas.microsoft.com/office/drawing/2014/main" id="{D7D0F5D6-AE16-1959-38E6-F2CBA0C0E116}"/>
              </a:ext>
            </a:extLst>
          </p:cNvPr>
          <p:cNvPicPr>
            <a:picLocks noChangeAspect="1"/>
          </p:cNvPicPr>
          <p:nvPr/>
        </p:nvPicPr>
        <p:blipFill>
          <a:blip r:embed="rId2"/>
          <a:stretch>
            <a:fillRect/>
          </a:stretch>
        </p:blipFill>
        <p:spPr>
          <a:xfrm>
            <a:off x="203200" y="2317609"/>
            <a:ext cx="1971950" cy="2019582"/>
          </a:xfrm>
          <a:prstGeom prst="rect">
            <a:avLst/>
          </a:prstGeom>
        </p:spPr>
      </p:pic>
      <p:pic>
        <p:nvPicPr>
          <p:cNvPr id="5" name="Picture 4">
            <a:extLst>
              <a:ext uri="{FF2B5EF4-FFF2-40B4-BE49-F238E27FC236}">
                <a16:creationId xmlns:a16="http://schemas.microsoft.com/office/drawing/2014/main" id="{B2EAF08F-BCE4-73A3-8557-42F71F67FFF7}"/>
              </a:ext>
            </a:extLst>
          </p:cNvPr>
          <p:cNvPicPr>
            <a:picLocks noChangeAspect="1"/>
          </p:cNvPicPr>
          <p:nvPr/>
        </p:nvPicPr>
        <p:blipFill>
          <a:blip r:embed="rId3"/>
          <a:stretch>
            <a:fillRect/>
          </a:stretch>
        </p:blipFill>
        <p:spPr>
          <a:xfrm>
            <a:off x="203200" y="4992279"/>
            <a:ext cx="1390844" cy="1609950"/>
          </a:xfrm>
          <a:prstGeom prst="rect">
            <a:avLst/>
          </a:prstGeom>
        </p:spPr>
      </p:pic>
    </p:spTree>
    <p:extLst>
      <p:ext uri="{BB962C8B-B14F-4D97-AF65-F5344CB8AC3E}">
        <p14:creationId xmlns:p14="http://schemas.microsoft.com/office/powerpoint/2010/main" val="3971146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ED757-E970-FE46-A11F-A0D302E5668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140A69B-CD93-1E29-278A-76DCBD178EEB}"/>
              </a:ext>
            </a:extLst>
          </p:cNvPr>
          <p:cNvSpPr txBox="1"/>
          <p:nvPr/>
        </p:nvSpPr>
        <p:spPr>
          <a:xfrm>
            <a:off x="203200" y="244826"/>
            <a:ext cx="11822545" cy="6324808"/>
          </a:xfrm>
          <a:prstGeom prst="rect">
            <a:avLst/>
          </a:prstGeom>
          <a:noFill/>
        </p:spPr>
        <p:txBody>
          <a:bodyPr wrap="square">
            <a:spAutoFit/>
          </a:bodyPr>
          <a:lstStyle/>
          <a:p>
            <a:r>
              <a:rPr lang="az-Latn-AZ" b="1">
                <a:latin typeface="-apple-system"/>
              </a:rPr>
              <a:t>GraphQL Schema Tiplərinin İzahatı</a:t>
            </a:r>
          </a:p>
          <a:p>
            <a:endParaRPr lang="az-Latn-AZ">
              <a:latin typeface="-apple-system"/>
            </a:endParaRPr>
          </a:p>
          <a:p>
            <a:r>
              <a:rPr lang="en-US">
                <a:latin typeface="-apple-system"/>
              </a:rPr>
              <a:t>PHP kontekstində qısa misallar verəcəm, amma texniki detallara çox girməyəcəm – sadəcə konsepsiyaları başa düşmək üçün. </a:t>
            </a:r>
            <a:endParaRPr lang="az-Latn-AZ">
              <a:latin typeface="-apple-system"/>
            </a:endParaRPr>
          </a:p>
          <a:p>
            <a:endParaRPr lang="az-Latn-AZ">
              <a:latin typeface="-apple-system"/>
            </a:endParaRPr>
          </a:p>
          <a:p>
            <a:endParaRPr lang="az-Latn-AZ">
              <a:latin typeface="-apple-system"/>
            </a:endParaRPr>
          </a:p>
          <a:p>
            <a:pPr marL="342900" indent="-342900">
              <a:buAutoNum type="arabicPeriod"/>
            </a:pPr>
            <a:r>
              <a:rPr lang="en-US" b="1">
                <a:solidFill>
                  <a:srgbClr val="FF0000"/>
                </a:solidFill>
              </a:rPr>
              <a:t>Schema Nədir və Niyə Vacibdir?</a:t>
            </a:r>
            <a:endParaRPr lang="az-Latn-AZ" b="1">
              <a:solidFill>
                <a:srgbClr val="FF0000"/>
              </a:solidFill>
            </a:endParaRPr>
          </a:p>
          <a:p>
            <a:pPr marL="342900" indent="-342900">
              <a:buAutoNum type="arabicPeriod"/>
            </a:pPr>
            <a:endParaRPr lang="en-US" b="1"/>
          </a:p>
          <a:p>
            <a:r>
              <a:rPr lang="en-US"/>
              <a:t>GraphQL</a:t>
            </a:r>
            <a:r>
              <a:rPr lang="az-Latn-AZ"/>
              <a:t> </a:t>
            </a:r>
            <a:r>
              <a:rPr lang="en-US"/>
              <a:t>-də </a:t>
            </a:r>
            <a:r>
              <a:rPr lang="en-US" b="1"/>
              <a:t>schema</a:t>
            </a:r>
            <a:r>
              <a:rPr lang="en-US"/>
              <a:t> API-nin "qaydalar kitabçası"dır. Bu, sanki bir mağazanın kataloqudur: "Bizdə hansı məhsullar var? Hər məhsulun hansı xüsusiyyətləri var?" deyə göstərir. Schema, müştərinin (telefon, veb-sayt) serverdən nə sorğulaya biləcəyini və hansı cavabları alacağını təyin edir.</a:t>
            </a:r>
          </a:p>
          <a:p>
            <a:endParaRPr lang="az-Latn-AZ"/>
          </a:p>
          <a:p>
            <a:r>
              <a:rPr lang="en-US"/>
              <a:t>Schema tiplərdən ibarətdir. Hər tip, məlumatın bir kateqoriyasını təsvir edir. Məsələn, bir kitabxana app-ində "Kitab" və "Müəllif" tipləri ola bilər. Tiplər, məlumatların necə qurulduğunu və hansı sorğuların işləyəcəyini müəyyənləşdirir.</a:t>
            </a:r>
            <a:endParaRPr lang="az-Latn-AZ"/>
          </a:p>
          <a:p>
            <a:endParaRPr lang="az-Latn-AZ"/>
          </a:p>
          <a:p>
            <a:endParaRPr lang="az-Latn-AZ"/>
          </a:p>
          <a:p>
            <a:r>
              <a:rPr lang="en-US" b="1"/>
              <a:t>Nümunə (restoran analoqiyası)</a:t>
            </a:r>
            <a:r>
              <a:rPr lang="en-US"/>
              <a:t>:</a:t>
            </a:r>
          </a:p>
          <a:p>
            <a:pPr marL="742950" lvl="1" indent="-285750">
              <a:lnSpc>
                <a:spcPct val="150000"/>
              </a:lnSpc>
              <a:buFont typeface="Arial" panose="020B0604020202020204" pitchFamily="34" charset="0"/>
              <a:buChar char="•"/>
            </a:pPr>
            <a:r>
              <a:rPr lang="en-US" b="1">
                <a:solidFill>
                  <a:srgbClr val="00B050"/>
                </a:solidFill>
              </a:rPr>
              <a:t>Schema</a:t>
            </a:r>
            <a:r>
              <a:rPr lang="en-US"/>
              <a:t>: Restoranın menyusudur. "Salatlar, içkilər, desertlər var" deyir.</a:t>
            </a:r>
          </a:p>
          <a:p>
            <a:pPr marL="742950" lvl="1" indent="-285750">
              <a:lnSpc>
                <a:spcPct val="150000"/>
              </a:lnSpc>
              <a:buFont typeface="Arial" panose="020B0604020202020204" pitchFamily="34" charset="0"/>
              <a:buChar char="•"/>
            </a:pPr>
            <a:r>
              <a:rPr lang="en-US" b="1">
                <a:solidFill>
                  <a:srgbClr val="0070C0"/>
                </a:solidFill>
              </a:rPr>
              <a:t>Tiplər</a:t>
            </a:r>
            <a:r>
              <a:rPr lang="en-US"/>
              <a:t>: Menyunun bölmələri, məsələn, "Salat" tipi – adı, qiyməti, tərkibi kimi xüsusiyyətlərə malikdir.</a:t>
            </a:r>
            <a:endParaRPr lang="az-Latn-AZ"/>
          </a:p>
          <a:p>
            <a:pPr marL="742950" lvl="1" indent="-285750">
              <a:lnSpc>
                <a:spcPct val="150000"/>
              </a:lnSpc>
              <a:buFont typeface="Arial" panose="020B0604020202020204" pitchFamily="34" charset="0"/>
              <a:buChar char="•"/>
            </a:pPr>
            <a:endParaRPr lang="en-US"/>
          </a:p>
          <a:p>
            <a:r>
              <a:rPr lang="en-US"/>
              <a:t>Schema </a:t>
            </a:r>
            <a:r>
              <a:rPr lang="en-US" b="1"/>
              <a:t>SDL (Schema Definition Language)</a:t>
            </a:r>
            <a:r>
              <a:rPr lang="en-US"/>
              <a:t> ilə yazılır – bu, sadə bir dildir, kod kimi görünür, amma asan oxunur.</a:t>
            </a:r>
          </a:p>
          <a:p>
            <a:endParaRPr lang="en-US"/>
          </a:p>
        </p:txBody>
      </p:sp>
    </p:spTree>
    <p:extLst>
      <p:ext uri="{BB962C8B-B14F-4D97-AF65-F5344CB8AC3E}">
        <p14:creationId xmlns:p14="http://schemas.microsoft.com/office/powerpoint/2010/main" val="2146720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3D4F-ACD8-F501-9C33-874E1CDCA98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2E7A14C-54E0-243C-6ED0-5747FCED348D}"/>
              </a:ext>
            </a:extLst>
          </p:cNvPr>
          <p:cNvSpPr txBox="1"/>
          <p:nvPr/>
        </p:nvSpPr>
        <p:spPr>
          <a:xfrm>
            <a:off x="203200" y="244826"/>
            <a:ext cx="11822545" cy="5447645"/>
          </a:xfrm>
          <a:prstGeom prst="rect">
            <a:avLst/>
          </a:prstGeom>
          <a:noFill/>
        </p:spPr>
        <p:txBody>
          <a:bodyPr wrap="square">
            <a:spAutoFit/>
          </a:bodyPr>
          <a:lstStyle/>
          <a:p>
            <a:r>
              <a:rPr lang="en-US" sz="1200" b="1">
                <a:solidFill>
                  <a:srgbClr val="FF0000"/>
                </a:solidFill>
                <a:latin typeface="-apple-system"/>
              </a:rPr>
              <a:t>2. GraphQL-də Əsas Tiplər </a:t>
            </a:r>
            <a:endParaRPr lang="az-Latn-AZ" sz="1200" b="1">
              <a:solidFill>
                <a:srgbClr val="FF0000"/>
              </a:solidFill>
              <a:latin typeface="-apple-system"/>
            </a:endParaRPr>
          </a:p>
          <a:p>
            <a:endParaRPr lang="az-Latn-AZ" sz="1200">
              <a:latin typeface="-apple-system"/>
            </a:endParaRPr>
          </a:p>
          <a:p>
            <a:r>
              <a:rPr lang="en-US" sz="1200">
                <a:latin typeface="-apple-system"/>
              </a:rPr>
              <a:t>GraphQL-də bir neçə əsas tip var. Hər biri fərqli məqsədə xidmət edir.</a:t>
            </a:r>
            <a:endParaRPr lang="az-Latn-AZ" sz="1200">
              <a:latin typeface="-apple-system"/>
            </a:endParaRPr>
          </a:p>
          <a:p>
            <a:endParaRPr lang="az-Latn-AZ" sz="1200">
              <a:latin typeface="-apple-system"/>
            </a:endParaRPr>
          </a:p>
          <a:p>
            <a:endParaRPr lang="az-Latn-AZ" sz="1200">
              <a:latin typeface="-apple-system"/>
            </a:endParaRPr>
          </a:p>
          <a:p>
            <a:r>
              <a:rPr lang="en-US" sz="1200" b="1"/>
              <a:t>2.1. Scalar Tiplər (Skalyar Tiplər)</a:t>
            </a:r>
            <a:r>
              <a:rPr lang="az-Latn-AZ" sz="1200" b="1"/>
              <a:t> </a:t>
            </a:r>
            <a:r>
              <a:rPr lang="en-US" sz="1200" b="1"/>
              <a:t>Nədir?</a:t>
            </a:r>
            <a:r>
              <a:rPr lang="en-US" sz="1200"/>
              <a:t> </a:t>
            </a:r>
            <a:endParaRPr lang="az-Latn-AZ" sz="1200"/>
          </a:p>
          <a:p>
            <a:endParaRPr lang="az-Latn-AZ" sz="1200"/>
          </a:p>
          <a:p>
            <a:r>
              <a:rPr lang="en-US" sz="1200"/>
              <a:t>Scalar tiplər, ən sadə məlumat növləridir. Bunlar "son nöqtə"dir, yəni daha kiçik hissələrə bölünmür. Məsələn, bir insanın adı (sətir) və ya yaşı (rəqəm) scalar tipdir.</a:t>
            </a:r>
            <a:endParaRPr lang="az-Latn-AZ" sz="1200"/>
          </a:p>
          <a:p>
            <a:endParaRPr lang="en-US" sz="1200"/>
          </a:p>
          <a:p>
            <a:r>
              <a:rPr lang="en-US" sz="1200" b="1"/>
              <a:t>Əsas Scalar Tiplər</a:t>
            </a:r>
            <a:r>
              <a:rPr lang="en-US" sz="1200"/>
              <a:t>:</a:t>
            </a:r>
          </a:p>
          <a:p>
            <a:pPr marL="742950" lvl="1" indent="-285750">
              <a:lnSpc>
                <a:spcPct val="150000"/>
              </a:lnSpc>
              <a:buFont typeface="Arial" panose="020B0604020202020204" pitchFamily="34" charset="0"/>
              <a:buChar char="•"/>
            </a:pPr>
            <a:r>
              <a:rPr lang="en-US" sz="1200" b="1"/>
              <a:t>Int</a:t>
            </a:r>
            <a:r>
              <a:rPr lang="en-US" sz="1200"/>
              <a:t>: Tam ədəd (32-bit, məsələn, 5, 42, -10).</a:t>
            </a:r>
          </a:p>
          <a:p>
            <a:pPr marL="742950" lvl="1" indent="-285750">
              <a:lnSpc>
                <a:spcPct val="150000"/>
              </a:lnSpc>
              <a:buFont typeface="Arial" panose="020B0604020202020204" pitchFamily="34" charset="0"/>
              <a:buChar char="•"/>
            </a:pPr>
            <a:r>
              <a:rPr lang="en-US" sz="1200" b="1"/>
              <a:t>Float</a:t>
            </a:r>
            <a:r>
              <a:rPr lang="en-US" sz="1200"/>
              <a:t>: Kəsrli ədəd (məsələn, 3.14, 0.99).</a:t>
            </a:r>
          </a:p>
          <a:p>
            <a:pPr marL="742950" lvl="1" indent="-285750">
              <a:lnSpc>
                <a:spcPct val="150000"/>
              </a:lnSpc>
              <a:buFont typeface="Arial" panose="020B0604020202020204" pitchFamily="34" charset="0"/>
              <a:buChar char="•"/>
            </a:pPr>
            <a:r>
              <a:rPr lang="en-US" sz="1200" b="1"/>
              <a:t>String</a:t>
            </a:r>
            <a:r>
              <a:rPr lang="en-US" sz="1200"/>
              <a:t>: Mətn (məsələn, "Salam", "Kitabın adı").</a:t>
            </a:r>
          </a:p>
          <a:p>
            <a:pPr marL="742950" lvl="1" indent="-285750">
              <a:lnSpc>
                <a:spcPct val="150000"/>
              </a:lnSpc>
              <a:buFont typeface="Arial" panose="020B0604020202020204" pitchFamily="34" charset="0"/>
              <a:buChar char="•"/>
            </a:pPr>
            <a:r>
              <a:rPr lang="en-US" sz="1200" b="1"/>
              <a:t>Boolean</a:t>
            </a:r>
            <a:r>
              <a:rPr lang="en-US" sz="1200"/>
              <a:t>: Doğru və ya yalan (true/false).</a:t>
            </a:r>
          </a:p>
          <a:p>
            <a:pPr marL="742950" lvl="1" indent="-285750">
              <a:lnSpc>
                <a:spcPct val="150000"/>
              </a:lnSpc>
              <a:buFont typeface="Arial" panose="020B0604020202020204" pitchFamily="34" charset="0"/>
              <a:buChar char="•"/>
            </a:pPr>
            <a:r>
              <a:rPr lang="en-US" sz="1200" b="1"/>
              <a:t>ID</a:t>
            </a:r>
            <a:r>
              <a:rPr lang="en-US" sz="1200"/>
              <a:t>: Unikal identifikator, adətən mətn kimi görünür (məsələn, "123", "user_abc").</a:t>
            </a:r>
          </a:p>
          <a:p>
            <a:endParaRPr lang="az-Latn-AZ" sz="1200"/>
          </a:p>
          <a:p>
            <a:endParaRPr lang="az-Latn-AZ" sz="1200"/>
          </a:p>
          <a:p>
            <a:r>
              <a:rPr lang="en-US" sz="1200" b="1"/>
              <a:t>Nümunə (gündəlik həyatdan)</a:t>
            </a:r>
            <a:r>
              <a:rPr lang="en-US" sz="1200"/>
              <a:t>:</a:t>
            </a:r>
          </a:p>
          <a:p>
            <a:pPr marL="742950" lvl="1" indent="-285750">
              <a:lnSpc>
                <a:spcPct val="150000"/>
              </a:lnSpc>
              <a:buFont typeface="Arial" panose="020B0604020202020204" pitchFamily="34" charset="0"/>
              <a:buChar char="•"/>
            </a:pPr>
            <a:r>
              <a:rPr lang="en-US" sz="1200"/>
              <a:t>Bir kitabın adı ("String"): "Sərgüzəştlər".</a:t>
            </a:r>
          </a:p>
          <a:p>
            <a:pPr marL="742950" lvl="1" indent="-285750">
              <a:lnSpc>
                <a:spcPct val="150000"/>
              </a:lnSpc>
              <a:buFont typeface="Arial" panose="020B0604020202020204" pitchFamily="34" charset="0"/>
              <a:buChar char="•"/>
            </a:pPr>
            <a:r>
              <a:rPr lang="en-US" sz="1200"/>
              <a:t>Bir kitabın qiyməti ("Float"): 12.99 AZN.</a:t>
            </a:r>
          </a:p>
          <a:p>
            <a:pPr marL="742950" lvl="1" indent="-285750">
              <a:lnSpc>
                <a:spcPct val="150000"/>
              </a:lnSpc>
              <a:buFont typeface="Arial" panose="020B0604020202020204" pitchFamily="34" charset="0"/>
              <a:buChar char="•"/>
            </a:pPr>
            <a:r>
              <a:rPr lang="en-US" sz="1200"/>
              <a:t>Kitabın unikal nömrəsi ("ID"): "book_001".</a:t>
            </a:r>
          </a:p>
          <a:p>
            <a:endParaRPr lang="az-Latn-AZ" sz="1200"/>
          </a:p>
          <a:p>
            <a:endParaRPr lang="az-Latn-AZ" sz="1200"/>
          </a:p>
          <a:p>
            <a:endParaRPr lang="az-Latn-AZ" sz="1200"/>
          </a:p>
          <a:p>
            <a:r>
              <a:rPr lang="de-DE" sz="1200" b="1"/>
              <a:t>SDL-də ( Schema Definition Language ) nümunə</a:t>
            </a:r>
            <a:r>
              <a:rPr lang="de-DE" sz="1200"/>
              <a:t>:</a:t>
            </a:r>
            <a:r>
              <a:rPr lang="az-Latn-AZ" sz="1200"/>
              <a:t> </a:t>
            </a:r>
            <a:r>
              <a:rPr lang="az-Latn-AZ" sz="1200" b="1">
                <a:solidFill>
                  <a:srgbClr val="FF0000"/>
                </a:solidFill>
              </a:rPr>
              <a:t>!</a:t>
            </a:r>
            <a:r>
              <a:rPr lang="az-Latn-AZ" sz="1200"/>
              <a:t> işarəsi: Bu sahə mütləq olmalıdır, null ola bilməz.</a:t>
            </a:r>
            <a:endParaRPr lang="en-US" sz="1200"/>
          </a:p>
        </p:txBody>
      </p:sp>
      <p:pic>
        <p:nvPicPr>
          <p:cNvPr id="3" name="Picture 2">
            <a:extLst>
              <a:ext uri="{FF2B5EF4-FFF2-40B4-BE49-F238E27FC236}">
                <a16:creationId xmlns:a16="http://schemas.microsoft.com/office/drawing/2014/main" id="{9F490854-8BD7-67B1-37B9-2A2D60A370FA}"/>
              </a:ext>
            </a:extLst>
          </p:cNvPr>
          <p:cNvPicPr>
            <a:picLocks noChangeAspect="1"/>
          </p:cNvPicPr>
          <p:nvPr/>
        </p:nvPicPr>
        <p:blipFill>
          <a:blip r:embed="rId2"/>
          <a:stretch>
            <a:fillRect/>
          </a:stretch>
        </p:blipFill>
        <p:spPr>
          <a:xfrm>
            <a:off x="0" y="5721461"/>
            <a:ext cx="4667901" cy="1133633"/>
          </a:xfrm>
          <a:prstGeom prst="rect">
            <a:avLst/>
          </a:prstGeom>
        </p:spPr>
      </p:pic>
    </p:spTree>
    <p:extLst>
      <p:ext uri="{BB962C8B-B14F-4D97-AF65-F5344CB8AC3E}">
        <p14:creationId xmlns:p14="http://schemas.microsoft.com/office/powerpoint/2010/main" val="3391715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8C109-F37A-712D-A66A-3B488297CB7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6AAAE13-8832-B6F0-9958-FCC3C135EF20}"/>
              </a:ext>
            </a:extLst>
          </p:cNvPr>
          <p:cNvSpPr txBox="1"/>
          <p:nvPr/>
        </p:nvSpPr>
        <p:spPr>
          <a:xfrm>
            <a:off x="203200" y="244826"/>
            <a:ext cx="11822545" cy="5755422"/>
          </a:xfrm>
          <a:prstGeom prst="rect">
            <a:avLst/>
          </a:prstGeom>
          <a:noFill/>
        </p:spPr>
        <p:txBody>
          <a:bodyPr wrap="square">
            <a:spAutoFit/>
          </a:bodyPr>
          <a:lstStyle/>
          <a:p>
            <a:r>
              <a:rPr lang="en-US" sz="1600">
                <a:latin typeface="-apple-system"/>
              </a:rPr>
              <a:t>PHP-də (</a:t>
            </a:r>
            <a:r>
              <a:rPr lang="en-US" sz="1600" b="1">
                <a:solidFill>
                  <a:srgbClr val="FF0000"/>
                </a:solidFill>
                <a:latin typeface="-apple-system"/>
              </a:rPr>
              <a:t>webonyx/graphql-php </a:t>
            </a:r>
            <a:r>
              <a:rPr lang="en-US" sz="1600">
                <a:latin typeface="-apple-system"/>
              </a:rPr>
              <a:t>ilə)</a:t>
            </a:r>
            <a:r>
              <a:rPr lang="az-Latn-AZ" sz="1600">
                <a:latin typeface="-apple-system"/>
              </a:rPr>
              <a:t> tiplərin təyin edilməsi</a:t>
            </a:r>
            <a:r>
              <a:rPr lang="en-US" sz="1600">
                <a:latin typeface="-apple-system"/>
              </a:rPr>
              <a:t>:</a:t>
            </a:r>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endParaRPr lang="az-Latn-AZ" sz="1600">
              <a:latin typeface="-apple-system"/>
            </a:endParaRPr>
          </a:p>
          <a:p>
            <a:r>
              <a:rPr lang="en-US" sz="1600" b="1"/>
              <a:t>2.2. Object Tiplər</a:t>
            </a:r>
            <a:endParaRPr lang="az-Latn-AZ" sz="1600" b="1"/>
          </a:p>
          <a:p>
            <a:endParaRPr lang="en-US" sz="1600" b="1"/>
          </a:p>
          <a:p>
            <a:r>
              <a:rPr lang="en-US" sz="1600" b="1"/>
              <a:t>Nədir?</a:t>
            </a:r>
            <a:r>
              <a:rPr lang="en-US" sz="1600"/>
              <a:t> Object tiplər, bir neçə sahədən (fields) ibarət məlumat qruplarıdır. Hər sahə özü də başqa bir tip ola bilər (scalar və ya başqa object). Məsələn, "Kitab" object tipdir, çünki onun "ad" (String), "müəllif" (başqa object) kimi sahələri var.</a:t>
            </a:r>
            <a:endParaRPr lang="az-Latn-AZ" sz="1600"/>
          </a:p>
          <a:p>
            <a:endParaRPr lang="en-US" sz="1600"/>
          </a:p>
          <a:p>
            <a:r>
              <a:rPr lang="en-US" sz="1600" b="1"/>
              <a:t>Nümunə (gündəlik həyatdan)</a:t>
            </a:r>
            <a:r>
              <a:rPr lang="en-US" sz="1600"/>
              <a:t>:</a:t>
            </a:r>
          </a:p>
          <a:p>
            <a:pPr marL="628650" lvl="1" indent="-171450">
              <a:lnSpc>
                <a:spcPct val="150000"/>
              </a:lnSpc>
              <a:buFont typeface="Arial" panose="020B0604020202020204" pitchFamily="34" charset="0"/>
              <a:buChar char="•"/>
            </a:pPr>
            <a:r>
              <a:rPr lang="en-US" sz="1600" b="1"/>
              <a:t>Bir kitabxanada "</a:t>
            </a:r>
            <a:r>
              <a:rPr lang="en-US" sz="1600" b="1" i="1"/>
              <a:t>Kitab</a:t>
            </a:r>
            <a:r>
              <a:rPr lang="en-US" sz="1600" b="1"/>
              <a:t>" object-i</a:t>
            </a:r>
            <a:r>
              <a:rPr lang="en-US" sz="1600"/>
              <a:t>: Adı, müəllifi, nəşr ili var.</a:t>
            </a:r>
          </a:p>
          <a:p>
            <a:pPr marL="628650" lvl="1" indent="-171450">
              <a:lnSpc>
                <a:spcPct val="150000"/>
              </a:lnSpc>
              <a:buFont typeface="Arial" panose="020B0604020202020204" pitchFamily="34" charset="0"/>
              <a:buChar char="•"/>
            </a:pPr>
            <a:r>
              <a:rPr lang="en-US" sz="1600" b="1"/>
              <a:t>Kitabın müəllifi də özü bir object-dir</a:t>
            </a:r>
            <a:r>
              <a:rPr lang="en-US" sz="1600"/>
              <a:t>: Adı, doğum ili var.</a:t>
            </a:r>
          </a:p>
          <a:p>
            <a:endParaRPr lang="en-US" sz="1600"/>
          </a:p>
        </p:txBody>
      </p:sp>
      <p:pic>
        <p:nvPicPr>
          <p:cNvPr id="3" name="Picture 2">
            <a:extLst>
              <a:ext uri="{FF2B5EF4-FFF2-40B4-BE49-F238E27FC236}">
                <a16:creationId xmlns:a16="http://schemas.microsoft.com/office/drawing/2014/main" id="{782CCEF4-6DDB-0622-94D6-61D773160E80}"/>
              </a:ext>
            </a:extLst>
          </p:cNvPr>
          <p:cNvPicPr>
            <a:picLocks noChangeAspect="1"/>
          </p:cNvPicPr>
          <p:nvPr/>
        </p:nvPicPr>
        <p:blipFill>
          <a:blip r:embed="rId2"/>
          <a:stretch>
            <a:fillRect/>
          </a:stretch>
        </p:blipFill>
        <p:spPr>
          <a:xfrm>
            <a:off x="0" y="681927"/>
            <a:ext cx="4491194" cy="2190582"/>
          </a:xfrm>
          <a:prstGeom prst="rect">
            <a:avLst/>
          </a:prstGeom>
        </p:spPr>
      </p:pic>
    </p:spTree>
    <p:extLst>
      <p:ext uri="{BB962C8B-B14F-4D97-AF65-F5344CB8AC3E}">
        <p14:creationId xmlns:p14="http://schemas.microsoft.com/office/powerpoint/2010/main" val="2870253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A729B-2F4C-BF33-77EB-EBCE7C98D41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9A4F994-6EF7-AC01-B812-052CD634ED29}"/>
              </a:ext>
            </a:extLst>
          </p:cNvPr>
          <p:cNvSpPr txBox="1"/>
          <p:nvPr/>
        </p:nvSpPr>
        <p:spPr>
          <a:xfrm>
            <a:off x="203200" y="244826"/>
            <a:ext cx="11822545" cy="3600986"/>
          </a:xfrm>
          <a:prstGeom prst="rect">
            <a:avLst/>
          </a:prstGeom>
          <a:noFill/>
        </p:spPr>
        <p:txBody>
          <a:bodyPr wrap="square">
            <a:spAutoFit/>
          </a:bodyPr>
          <a:lstStyle/>
          <a:p>
            <a:r>
              <a:rPr lang="en-US" sz="1200" b="1"/>
              <a:t>SDL-də nümunə</a:t>
            </a:r>
            <a:r>
              <a:rPr lang="en-US" sz="1200"/>
              <a:t>:</a:t>
            </a:r>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a:t>Burada </a:t>
            </a:r>
            <a:r>
              <a:rPr lang="en-US" sz="1200" b="1" i="1"/>
              <a:t>Kitabın</a:t>
            </a:r>
            <a:r>
              <a:rPr lang="en-US" sz="1200"/>
              <a:t> </a:t>
            </a:r>
            <a:r>
              <a:rPr lang="en-US" sz="1200" b="1" i="1" u="sng"/>
              <a:t>muellif</a:t>
            </a:r>
            <a:r>
              <a:rPr lang="en-US" sz="1200"/>
              <a:t> sahəsi </a:t>
            </a:r>
            <a:r>
              <a:rPr lang="en-US" sz="1200" b="1" i="1"/>
              <a:t>Muellif</a:t>
            </a:r>
            <a:r>
              <a:rPr lang="en-US" sz="1200"/>
              <a:t> object</a:t>
            </a:r>
            <a:r>
              <a:rPr lang="az-Latn-AZ" sz="1200"/>
              <a:t> </a:t>
            </a:r>
            <a:r>
              <a:rPr lang="en-US" sz="1200"/>
              <a:t>-inə bağlanır. Bu, </a:t>
            </a:r>
            <a:r>
              <a:rPr lang="en-US" sz="1200" b="1"/>
              <a:t>nested</a:t>
            </a:r>
            <a:r>
              <a:rPr lang="en-US" sz="1200"/>
              <a:t> sorğulara imkan verir:</a:t>
            </a:r>
            <a:r>
              <a:rPr lang="az-Latn-AZ" sz="1200"/>
              <a:t>    </a:t>
            </a:r>
          </a:p>
          <a:p>
            <a:endParaRPr lang="az-Latn-AZ" sz="1200"/>
          </a:p>
          <a:p>
            <a:r>
              <a:rPr lang="en-US" sz="1200" b="1"/>
              <a:t>Cavab</a:t>
            </a:r>
            <a:r>
              <a:rPr lang="en-US" sz="1200"/>
              <a:t>: Kitabın adı və müəllifinin adı gəlir.</a:t>
            </a:r>
          </a:p>
          <a:p>
            <a:endParaRPr lang="az-Latn-AZ" sz="1200"/>
          </a:p>
          <a:p>
            <a:endParaRPr lang="az-Latn-AZ" sz="1200">
              <a:effectLst/>
            </a:endParaRPr>
          </a:p>
          <a:p>
            <a:endParaRPr lang="en-US" sz="1200">
              <a:effectLst/>
            </a:endParaRPr>
          </a:p>
        </p:txBody>
      </p:sp>
      <p:pic>
        <p:nvPicPr>
          <p:cNvPr id="5" name="Picture 4">
            <a:extLst>
              <a:ext uri="{FF2B5EF4-FFF2-40B4-BE49-F238E27FC236}">
                <a16:creationId xmlns:a16="http://schemas.microsoft.com/office/drawing/2014/main" id="{0C2DFDA1-2AFD-C504-0E9A-57AA7650E5F8}"/>
              </a:ext>
            </a:extLst>
          </p:cNvPr>
          <p:cNvPicPr>
            <a:picLocks noChangeAspect="1"/>
          </p:cNvPicPr>
          <p:nvPr/>
        </p:nvPicPr>
        <p:blipFill>
          <a:blip r:embed="rId2"/>
          <a:stretch>
            <a:fillRect/>
          </a:stretch>
        </p:blipFill>
        <p:spPr>
          <a:xfrm>
            <a:off x="203200" y="579666"/>
            <a:ext cx="2974109" cy="1499447"/>
          </a:xfrm>
          <a:prstGeom prst="rect">
            <a:avLst/>
          </a:prstGeom>
        </p:spPr>
      </p:pic>
      <p:pic>
        <p:nvPicPr>
          <p:cNvPr id="3" name="Picture 2">
            <a:extLst>
              <a:ext uri="{FF2B5EF4-FFF2-40B4-BE49-F238E27FC236}">
                <a16:creationId xmlns:a16="http://schemas.microsoft.com/office/drawing/2014/main" id="{09E2CF4C-EF48-99A4-36E9-9EAC7643ADF9}"/>
              </a:ext>
            </a:extLst>
          </p:cNvPr>
          <p:cNvPicPr>
            <a:picLocks noChangeAspect="1"/>
          </p:cNvPicPr>
          <p:nvPr/>
        </p:nvPicPr>
        <p:blipFill>
          <a:blip r:embed="rId3"/>
          <a:stretch>
            <a:fillRect/>
          </a:stretch>
        </p:blipFill>
        <p:spPr>
          <a:xfrm>
            <a:off x="0" y="3343715"/>
            <a:ext cx="1448002" cy="1962424"/>
          </a:xfrm>
          <a:prstGeom prst="rect">
            <a:avLst/>
          </a:prstGeom>
        </p:spPr>
      </p:pic>
    </p:spTree>
    <p:extLst>
      <p:ext uri="{BB962C8B-B14F-4D97-AF65-F5344CB8AC3E}">
        <p14:creationId xmlns:p14="http://schemas.microsoft.com/office/powerpoint/2010/main" val="949294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29CB5-C842-D3F4-60AA-0747AE98F65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ED58C8C-43D3-CDAD-9A9D-BE6F065050B7}"/>
              </a:ext>
            </a:extLst>
          </p:cNvPr>
          <p:cNvSpPr txBox="1"/>
          <p:nvPr/>
        </p:nvSpPr>
        <p:spPr>
          <a:xfrm>
            <a:off x="203200" y="244826"/>
            <a:ext cx="11822545" cy="923330"/>
          </a:xfrm>
          <a:prstGeom prst="rect">
            <a:avLst/>
          </a:prstGeom>
          <a:noFill/>
        </p:spPr>
        <p:txBody>
          <a:bodyPr wrap="square">
            <a:spAutoFit/>
          </a:bodyPr>
          <a:lstStyle/>
          <a:p>
            <a:r>
              <a:rPr lang="en-US">
                <a:latin typeface="-apple-system"/>
              </a:rPr>
              <a:t>PHP-də:</a:t>
            </a:r>
            <a:endParaRPr lang="az-Latn-AZ">
              <a:latin typeface="-apple-system"/>
            </a:endParaRPr>
          </a:p>
          <a:p>
            <a:endParaRPr lang="az-Latn-AZ">
              <a:latin typeface="-apple-system"/>
            </a:endParaRPr>
          </a:p>
          <a:p>
            <a:endParaRPr lang="en-US"/>
          </a:p>
        </p:txBody>
      </p:sp>
      <p:pic>
        <p:nvPicPr>
          <p:cNvPr id="3" name="Picture 2">
            <a:extLst>
              <a:ext uri="{FF2B5EF4-FFF2-40B4-BE49-F238E27FC236}">
                <a16:creationId xmlns:a16="http://schemas.microsoft.com/office/drawing/2014/main" id="{FB118695-4325-7982-B371-2AAED47C90B0}"/>
              </a:ext>
            </a:extLst>
          </p:cNvPr>
          <p:cNvPicPr>
            <a:picLocks noChangeAspect="1"/>
          </p:cNvPicPr>
          <p:nvPr/>
        </p:nvPicPr>
        <p:blipFill>
          <a:blip r:embed="rId2"/>
          <a:stretch>
            <a:fillRect/>
          </a:stretch>
        </p:blipFill>
        <p:spPr>
          <a:xfrm>
            <a:off x="203200" y="706491"/>
            <a:ext cx="4734586" cy="3801005"/>
          </a:xfrm>
          <a:prstGeom prst="rect">
            <a:avLst/>
          </a:prstGeom>
        </p:spPr>
      </p:pic>
    </p:spTree>
    <p:extLst>
      <p:ext uri="{BB962C8B-B14F-4D97-AF65-F5344CB8AC3E}">
        <p14:creationId xmlns:p14="http://schemas.microsoft.com/office/powerpoint/2010/main" val="2245141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43403-B263-431F-9E34-E847242F7E5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ACC1101-76F5-0BC3-B368-86276D88B05C}"/>
              </a:ext>
            </a:extLst>
          </p:cNvPr>
          <p:cNvSpPr txBox="1"/>
          <p:nvPr/>
        </p:nvSpPr>
        <p:spPr>
          <a:xfrm>
            <a:off x="203200" y="244826"/>
            <a:ext cx="11822545" cy="6555641"/>
          </a:xfrm>
          <a:prstGeom prst="rect">
            <a:avLst/>
          </a:prstGeom>
          <a:noFill/>
        </p:spPr>
        <p:txBody>
          <a:bodyPr wrap="square">
            <a:spAutoFit/>
          </a:bodyPr>
          <a:lstStyle/>
          <a:p>
            <a:r>
              <a:rPr lang="en-US" sz="1400" b="1"/>
              <a:t>2.3. List Tiplər</a:t>
            </a:r>
            <a:r>
              <a:rPr lang="az-Latn-AZ" sz="1400" b="1"/>
              <a:t> </a:t>
            </a:r>
            <a:r>
              <a:rPr lang="en-US" sz="1400" b="1"/>
              <a:t>Nədir?</a:t>
            </a:r>
            <a:r>
              <a:rPr lang="en-US" sz="1400"/>
              <a:t> </a:t>
            </a:r>
            <a:endParaRPr lang="az-Latn-AZ" sz="1400"/>
          </a:p>
          <a:p>
            <a:endParaRPr lang="az-Latn-AZ" sz="1400"/>
          </a:p>
          <a:p>
            <a:r>
              <a:rPr lang="en-US" sz="1400"/>
              <a:t>List tiplər, eyni tipdən olan çoxlu elementləri saxlayır. Məsələn, bir kitabxanada çoxlu kitab var – bu, </a:t>
            </a:r>
            <a:r>
              <a:rPr lang="en-US" sz="1400" b="1"/>
              <a:t>[Kitab] </a:t>
            </a:r>
            <a:r>
              <a:rPr lang="en-US" sz="1400"/>
              <a:t>listidir.</a:t>
            </a:r>
            <a:endParaRPr lang="az-Latn-AZ" sz="1400"/>
          </a:p>
          <a:p>
            <a:endParaRPr lang="en-US" sz="1400"/>
          </a:p>
          <a:p>
            <a:r>
              <a:rPr lang="en-US" sz="1400" b="1"/>
              <a:t>Nümunə</a:t>
            </a:r>
            <a:r>
              <a:rPr lang="en-US" sz="1400"/>
              <a:t>:</a:t>
            </a:r>
          </a:p>
          <a:p>
            <a:pPr marL="742950" lvl="1" indent="-285750">
              <a:lnSpc>
                <a:spcPct val="150000"/>
              </a:lnSpc>
              <a:buFont typeface="Arial" panose="020B0604020202020204" pitchFamily="34" charset="0"/>
              <a:buChar char="•"/>
            </a:pPr>
            <a:r>
              <a:rPr lang="en-US" sz="1400"/>
              <a:t>Bir müəllifin yazdığı bütün kitablar: </a:t>
            </a:r>
            <a:r>
              <a:rPr lang="en-US" sz="1400" b="1"/>
              <a:t>[Kitab]</a:t>
            </a:r>
            <a:r>
              <a:rPr lang="en-US" sz="1400"/>
              <a:t>.</a:t>
            </a:r>
          </a:p>
          <a:p>
            <a:pPr marL="742950" lvl="1" indent="-285750">
              <a:lnSpc>
                <a:spcPct val="150000"/>
              </a:lnSpc>
              <a:buFont typeface="Arial" panose="020B0604020202020204" pitchFamily="34" charset="0"/>
              <a:buChar char="•"/>
            </a:pPr>
            <a:r>
              <a:rPr lang="en-US" sz="1400"/>
              <a:t>Bir kitabın kateqoriyaları: </a:t>
            </a:r>
            <a:r>
              <a:rPr lang="en-US" sz="1400" b="1"/>
              <a:t>[String]</a:t>
            </a:r>
            <a:r>
              <a:rPr lang="en-US" sz="1400"/>
              <a:t>.</a:t>
            </a:r>
            <a:endParaRPr lang="az-Latn-AZ" sz="1400"/>
          </a:p>
          <a:p>
            <a:endParaRPr lang="en-US" sz="1400"/>
          </a:p>
          <a:p>
            <a:r>
              <a:rPr lang="en-US" sz="1400" b="1"/>
              <a:t>SDL-də nümunə</a:t>
            </a:r>
            <a:r>
              <a:rPr lang="en-US" sz="1400"/>
              <a:t>:</a:t>
            </a:r>
            <a:r>
              <a:rPr lang="az-Latn-AZ" sz="1400"/>
              <a:t> </a:t>
            </a:r>
            <a:r>
              <a:rPr lang="az-Latn-AZ" sz="1400" b="1">
                <a:solidFill>
                  <a:srgbClr val="00B050"/>
                </a:solidFill>
              </a:rPr>
              <a:t>[Kitab</a:t>
            </a:r>
            <a:r>
              <a:rPr lang="az-Latn-AZ" sz="1400" b="1">
                <a:solidFill>
                  <a:srgbClr val="FF0000"/>
                </a:solidFill>
              </a:rPr>
              <a:t>!</a:t>
            </a:r>
            <a:r>
              <a:rPr lang="az-Latn-AZ" sz="1400" b="1">
                <a:solidFill>
                  <a:srgbClr val="00B050"/>
                </a:solidFill>
              </a:rPr>
              <a:t>]</a:t>
            </a:r>
            <a:r>
              <a:rPr lang="az-Latn-AZ" sz="1400" b="1">
                <a:solidFill>
                  <a:srgbClr val="FF0000"/>
                </a:solidFill>
              </a:rPr>
              <a:t>!</a:t>
            </a:r>
            <a:r>
              <a:rPr lang="az-Latn-AZ" sz="1400"/>
              <a:t>: Siyahı mütləq olmalıdır (</a:t>
            </a:r>
            <a:r>
              <a:rPr lang="az-Latn-AZ" sz="1400" b="1"/>
              <a:t>!</a:t>
            </a:r>
            <a:r>
              <a:rPr lang="az-Latn-AZ" sz="1400"/>
              <a:t>), və siyahının içindəki hər kitab da mütləq olmalıdır.</a:t>
            </a:r>
          </a:p>
          <a:p>
            <a:endParaRPr lang="az-Latn-AZ" sz="1400">
              <a:effectLst/>
            </a:endParaRPr>
          </a:p>
          <a:p>
            <a:endParaRPr lang="az-Latn-AZ" sz="1400"/>
          </a:p>
          <a:p>
            <a:endParaRPr lang="az-Latn-AZ" sz="1400">
              <a:effectLst/>
            </a:endParaRPr>
          </a:p>
          <a:p>
            <a:endParaRPr lang="az-Latn-AZ" sz="1400"/>
          </a:p>
          <a:p>
            <a:endParaRPr lang="az-Latn-AZ" sz="1400">
              <a:effectLst/>
            </a:endParaRPr>
          </a:p>
          <a:p>
            <a:endParaRPr lang="az-Latn-AZ" sz="1400"/>
          </a:p>
          <a:p>
            <a:endParaRPr lang="az-Latn-AZ" sz="1400">
              <a:effectLst/>
            </a:endParaRPr>
          </a:p>
          <a:p>
            <a:endParaRPr lang="az-Latn-AZ" sz="1400"/>
          </a:p>
          <a:p>
            <a:r>
              <a:rPr lang="en-US" sz="1400" b="1"/>
              <a:t>Sorğu nümunəsi</a:t>
            </a:r>
            <a:r>
              <a:rPr lang="en-US" sz="1400"/>
              <a:t>:</a:t>
            </a:r>
            <a:endParaRPr lang="az-Latn-AZ" sz="1400"/>
          </a:p>
          <a:p>
            <a:endParaRPr lang="az-Latn-AZ" sz="1400">
              <a:effectLst/>
            </a:endParaRPr>
          </a:p>
          <a:p>
            <a:endParaRPr lang="az-Latn-AZ" sz="1400"/>
          </a:p>
          <a:p>
            <a:endParaRPr lang="az-Latn-AZ" sz="1400">
              <a:effectLst/>
            </a:endParaRPr>
          </a:p>
          <a:p>
            <a:endParaRPr lang="az-Latn-AZ" sz="1400"/>
          </a:p>
          <a:p>
            <a:endParaRPr lang="az-Latn-AZ" sz="1400">
              <a:effectLst/>
            </a:endParaRPr>
          </a:p>
          <a:p>
            <a:endParaRPr lang="az-Latn-AZ" sz="1400"/>
          </a:p>
          <a:p>
            <a:endParaRPr lang="az-Latn-AZ" sz="1400">
              <a:effectLst/>
            </a:endParaRPr>
          </a:p>
          <a:p>
            <a:endParaRPr lang="az-Latn-AZ" sz="1400"/>
          </a:p>
          <a:p>
            <a:endParaRPr lang="az-Latn-AZ" sz="1400">
              <a:effectLst/>
            </a:endParaRPr>
          </a:p>
          <a:p>
            <a:endParaRPr lang="az-Latn-AZ" sz="1400"/>
          </a:p>
          <a:p>
            <a:r>
              <a:rPr lang="en-US" sz="1400" b="1"/>
              <a:t>Cavab</a:t>
            </a:r>
            <a:r>
              <a:rPr lang="en-US" sz="1400"/>
              <a:t>: </a:t>
            </a:r>
            <a:r>
              <a:rPr lang="en-US" sz="1400" b="1" i="1"/>
              <a:t>Müəllifin</a:t>
            </a:r>
            <a:r>
              <a:rPr lang="en-US" sz="1400"/>
              <a:t> adı və onun bütün </a:t>
            </a:r>
            <a:r>
              <a:rPr lang="en-US" sz="1400" b="1" i="1"/>
              <a:t>kitablarının</a:t>
            </a:r>
            <a:r>
              <a:rPr lang="en-US" sz="1400"/>
              <a:t> adları.</a:t>
            </a:r>
            <a:endParaRPr lang="en-US" sz="1400">
              <a:effectLst/>
            </a:endParaRPr>
          </a:p>
        </p:txBody>
      </p:sp>
      <p:pic>
        <p:nvPicPr>
          <p:cNvPr id="3" name="Picture 2">
            <a:extLst>
              <a:ext uri="{FF2B5EF4-FFF2-40B4-BE49-F238E27FC236}">
                <a16:creationId xmlns:a16="http://schemas.microsoft.com/office/drawing/2014/main" id="{5E92FD67-49A8-5C02-CDF1-F4207D973201}"/>
              </a:ext>
            </a:extLst>
          </p:cNvPr>
          <p:cNvPicPr>
            <a:picLocks noChangeAspect="1"/>
          </p:cNvPicPr>
          <p:nvPr/>
        </p:nvPicPr>
        <p:blipFill>
          <a:blip r:embed="rId2"/>
          <a:stretch>
            <a:fillRect/>
          </a:stretch>
        </p:blipFill>
        <p:spPr>
          <a:xfrm>
            <a:off x="0" y="2493904"/>
            <a:ext cx="6449325" cy="1247949"/>
          </a:xfrm>
          <a:prstGeom prst="rect">
            <a:avLst/>
          </a:prstGeom>
        </p:spPr>
      </p:pic>
      <p:pic>
        <p:nvPicPr>
          <p:cNvPr id="5" name="Picture 4">
            <a:extLst>
              <a:ext uri="{FF2B5EF4-FFF2-40B4-BE49-F238E27FC236}">
                <a16:creationId xmlns:a16="http://schemas.microsoft.com/office/drawing/2014/main" id="{5F23AA48-5A57-3B6F-1801-052FAD2A88F9}"/>
              </a:ext>
            </a:extLst>
          </p:cNvPr>
          <p:cNvPicPr>
            <a:picLocks noChangeAspect="1"/>
          </p:cNvPicPr>
          <p:nvPr/>
        </p:nvPicPr>
        <p:blipFill>
          <a:blip r:embed="rId3"/>
          <a:stretch>
            <a:fillRect/>
          </a:stretch>
        </p:blipFill>
        <p:spPr>
          <a:xfrm>
            <a:off x="1" y="4442132"/>
            <a:ext cx="1902690" cy="1885155"/>
          </a:xfrm>
          <a:prstGeom prst="rect">
            <a:avLst/>
          </a:prstGeom>
        </p:spPr>
      </p:pic>
    </p:spTree>
    <p:extLst>
      <p:ext uri="{BB962C8B-B14F-4D97-AF65-F5344CB8AC3E}">
        <p14:creationId xmlns:p14="http://schemas.microsoft.com/office/powerpoint/2010/main" val="1672500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6E32A-6CF4-B192-3F90-A76F052E144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B85809D-1034-41FD-9130-93D8E358B7E4}"/>
              </a:ext>
            </a:extLst>
          </p:cNvPr>
          <p:cNvSpPr txBox="1"/>
          <p:nvPr/>
        </p:nvSpPr>
        <p:spPr>
          <a:xfrm>
            <a:off x="203200" y="244826"/>
            <a:ext cx="11822545" cy="369332"/>
          </a:xfrm>
          <a:prstGeom prst="rect">
            <a:avLst/>
          </a:prstGeom>
          <a:noFill/>
        </p:spPr>
        <p:txBody>
          <a:bodyPr wrap="square">
            <a:spAutoFit/>
          </a:bodyPr>
          <a:lstStyle/>
          <a:p>
            <a:r>
              <a:rPr lang="en-US">
                <a:latin typeface="-apple-system"/>
              </a:rPr>
              <a:t>PHP-də:</a:t>
            </a:r>
            <a:endParaRPr lang="en-US"/>
          </a:p>
        </p:txBody>
      </p:sp>
      <p:pic>
        <p:nvPicPr>
          <p:cNvPr id="3" name="Picture 2">
            <a:extLst>
              <a:ext uri="{FF2B5EF4-FFF2-40B4-BE49-F238E27FC236}">
                <a16:creationId xmlns:a16="http://schemas.microsoft.com/office/drawing/2014/main" id="{53EDDAF5-00DC-B4F6-DCA1-AC8C03E82592}"/>
              </a:ext>
            </a:extLst>
          </p:cNvPr>
          <p:cNvPicPr>
            <a:picLocks noChangeAspect="1"/>
          </p:cNvPicPr>
          <p:nvPr/>
        </p:nvPicPr>
        <p:blipFill>
          <a:blip r:embed="rId2"/>
          <a:stretch>
            <a:fillRect/>
          </a:stretch>
        </p:blipFill>
        <p:spPr>
          <a:xfrm>
            <a:off x="0" y="669574"/>
            <a:ext cx="7144747" cy="1905266"/>
          </a:xfrm>
          <a:prstGeom prst="rect">
            <a:avLst/>
          </a:prstGeom>
        </p:spPr>
      </p:pic>
    </p:spTree>
    <p:extLst>
      <p:ext uri="{BB962C8B-B14F-4D97-AF65-F5344CB8AC3E}">
        <p14:creationId xmlns:p14="http://schemas.microsoft.com/office/powerpoint/2010/main" val="3353942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FC878-E987-DDF2-06A6-3757E32F050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D3276DA-D586-C418-67E7-A9596728E6CD}"/>
              </a:ext>
            </a:extLst>
          </p:cNvPr>
          <p:cNvSpPr txBox="1"/>
          <p:nvPr/>
        </p:nvSpPr>
        <p:spPr>
          <a:xfrm>
            <a:off x="203200" y="244826"/>
            <a:ext cx="11822545" cy="4401205"/>
          </a:xfrm>
          <a:prstGeom prst="rect">
            <a:avLst/>
          </a:prstGeom>
          <a:noFill/>
        </p:spPr>
        <p:txBody>
          <a:bodyPr wrap="square">
            <a:spAutoFit/>
          </a:bodyPr>
          <a:lstStyle/>
          <a:p>
            <a:r>
              <a:rPr lang="en-US" sz="1400" b="1">
                <a:latin typeface="-apple-system"/>
              </a:rPr>
              <a:t>2.4. Enum Tiplər Nədir? </a:t>
            </a:r>
            <a:endParaRPr lang="az-Latn-AZ" sz="1400" b="1">
              <a:latin typeface="-apple-system"/>
            </a:endParaRPr>
          </a:p>
          <a:p>
            <a:endParaRPr lang="az-Latn-AZ" sz="1400">
              <a:latin typeface="-apple-system"/>
            </a:endParaRPr>
          </a:p>
          <a:p>
            <a:r>
              <a:rPr lang="en-US" sz="1400" b="1">
                <a:solidFill>
                  <a:srgbClr val="FF0000"/>
                </a:solidFill>
                <a:latin typeface="-apple-system"/>
              </a:rPr>
              <a:t>Enum</a:t>
            </a:r>
            <a:r>
              <a:rPr lang="en-US" sz="1400">
                <a:latin typeface="-apple-system"/>
              </a:rPr>
              <a:t> (Enumeration) tiplər, məhdud sayda seçimlərdən birini təmsil edir. Məsələn, bir kitabın vəziyyəti: "</a:t>
            </a:r>
            <a:r>
              <a:rPr lang="en-US" sz="1400" b="1" i="1">
                <a:latin typeface="-apple-system"/>
              </a:rPr>
              <a:t>Yeni</a:t>
            </a:r>
            <a:r>
              <a:rPr lang="en-US" sz="1400">
                <a:latin typeface="-apple-system"/>
              </a:rPr>
              <a:t>", "</a:t>
            </a:r>
            <a:r>
              <a:rPr lang="en-US" sz="1400" b="1" i="1">
                <a:latin typeface="-apple-system"/>
              </a:rPr>
              <a:t>İstifadə</a:t>
            </a:r>
            <a:r>
              <a:rPr lang="en-US" sz="1400">
                <a:latin typeface="-apple-system"/>
              </a:rPr>
              <a:t> </a:t>
            </a:r>
            <a:r>
              <a:rPr lang="en-US" sz="1400" b="1" i="1">
                <a:latin typeface="-apple-system"/>
              </a:rPr>
              <a:t>edilmiş</a:t>
            </a:r>
            <a:r>
              <a:rPr lang="en-US" sz="1400">
                <a:latin typeface="-apple-system"/>
              </a:rPr>
              <a:t>" və ya "</a:t>
            </a:r>
            <a:r>
              <a:rPr lang="en-US" sz="1400" b="1" i="1">
                <a:latin typeface="-apple-system"/>
              </a:rPr>
              <a:t>Zədələnmiş</a:t>
            </a:r>
            <a:r>
              <a:rPr lang="en-US" sz="1400">
                <a:latin typeface="-apple-system"/>
              </a:rPr>
              <a:t>".</a:t>
            </a:r>
            <a:r>
              <a:rPr lang="az-Latn-AZ" sz="1400">
                <a:latin typeface="-apple-system"/>
              </a:rPr>
              <a:t> Bu 3 vəziyyətdən başqası ola bilməz !</a:t>
            </a:r>
          </a:p>
          <a:p>
            <a:endParaRPr lang="az-Latn-AZ" sz="1400">
              <a:latin typeface="-apple-system"/>
            </a:endParaRPr>
          </a:p>
          <a:p>
            <a:r>
              <a:rPr lang="az-Latn-AZ" sz="1400" b="1">
                <a:latin typeface="-apple-system"/>
              </a:rPr>
              <a:t>Nümunə</a:t>
            </a:r>
            <a:r>
              <a:rPr lang="az-Latn-AZ" sz="1400">
                <a:latin typeface="-apple-system"/>
              </a:rPr>
              <a:t>: Kitabın kateqoriyası: </a:t>
            </a:r>
            <a:r>
              <a:rPr lang="az-Latn-AZ" sz="1400" i="1">
                <a:latin typeface="-apple-system"/>
              </a:rPr>
              <a:t>Roman</a:t>
            </a:r>
            <a:r>
              <a:rPr lang="az-Latn-AZ" sz="1400">
                <a:latin typeface="-apple-system"/>
              </a:rPr>
              <a:t>, </a:t>
            </a:r>
            <a:r>
              <a:rPr lang="az-Latn-AZ" sz="1400" i="1">
                <a:latin typeface="-apple-system"/>
              </a:rPr>
              <a:t>Elm</a:t>
            </a:r>
            <a:r>
              <a:rPr lang="az-Latn-AZ" sz="1400">
                <a:latin typeface="-apple-system"/>
              </a:rPr>
              <a:t>, </a:t>
            </a:r>
            <a:r>
              <a:rPr lang="az-Latn-AZ" sz="1400" i="1">
                <a:latin typeface="-apple-system"/>
              </a:rPr>
              <a:t>Tarix</a:t>
            </a:r>
            <a:r>
              <a:rPr lang="az-Latn-AZ" sz="1400">
                <a:latin typeface="-apple-system"/>
              </a:rPr>
              <a:t>.</a:t>
            </a:r>
          </a:p>
          <a:p>
            <a:endParaRPr lang="az-Latn-AZ" sz="1400">
              <a:latin typeface="-apple-system"/>
            </a:endParaRPr>
          </a:p>
          <a:p>
            <a:r>
              <a:rPr lang="az-Latn-AZ" sz="1400" b="1">
                <a:latin typeface="-apple-system"/>
              </a:rPr>
              <a:t>SDL-də nümunə</a:t>
            </a:r>
            <a:r>
              <a:rPr lang="az-Latn-AZ" sz="1400">
                <a:latin typeface="-apple-system"/>
              </a:rPr>
              <a:t>:</a:t>
            </a: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endParaRPr lang="az-Latn-AZ" sz="1400">
              <a:latin typeface="-apple-system"/>
            </a:endParaRPr>
          </a:p>
          <a:p>
            <a:r>
              <a:rPr lang="az-Latn-AZ" sz="1400" b="1">
                <a:latin typeface="-apple-system"/>
              </a:rPr>
              <a:t>Sorğu nümunəsi</a:t>
            </a:r>
            <a:r>
              <a:rPr lang="az-Latn-AZ" sz="1400">
                <a:latin typeface="-apple-system"/>
              </a:rPr>
              <a:t>:</a:t>
            </a:r>
          </a:p>
        </p:txBody>
      </p:sp>
      <p:pic>
        <p:nvPicPr>
          <p:cNvPr id="3" name="Picture 2">
            <a:extLst>
              <a:ext uri="{FF2B5EF4-FFF2-40B4-BE49-F238E27FC236}">
                <a16:creationId xmlns:a16="http://schemas.microsoft.com/office/drawing/2014/main" id="{1CB4F012-6566-FF22-B3AA-6B1E0551E25A}"/>
              </a:ext>
            </a:extLst>
          </p:cNvPr>
          <p:cNvPicPr>
            <a:picLocks noChangeAspect="1"/>
          </p:cNvPicPr>
          <p:nvPr/>
        </p:nvPicPr>
        <p:blipFill>
          <a:blip r:embed="rId2"/>
          <a:stretch>
            <a:fillRect/>
          </a:stretch>
        </p:blipFill>
        <p:spPr>
          <a:xfrm>
            <a:off x="203200" y="2060708"/>
            <a:ext cx="2576945" cy="1980430"/>
          </a:xfrm>
          <a:prstGeom prst="rect">
            <a:avLst/>
          </a:prstGeom>
        </p:spPr>
      </p:pic>
      <p:pic>
        <p:nvPicPr>
          <p:cNvPr id="5" name="Picture 4">
            <a:extLst>
              <a:ext uri="{FF2B5EF4-FFF2-40B4-BE49-F238E27FC236}">
                <a16:creationId xmlns:a16="http://schemas.microsoft.com/office/drawing/2014/main" id="{C79C5D42-BEC1-BA2C-C3AF-52BE23DD78B6}"/>
              </a:ext>
            </a:extLst>
          </p:cNvPr>
          <p:cNvPicPr>
            <a:picLocks noChangeAspect="1"/>
          </p:cNvPicPr>
          <p:nvPr/>
        </p:nvPicPr>
        <p:blipFill>
          <a:blip r:embed="rId3"/>
          <a:stretch>
            <a:fillRect/>
          </a:stretch>
        </p:blipFill>
        <p:spPr>
          <a:xfrm>
            <a:off x="208036" y="4646031"/>
            <a:ext cx="5144218" cy="1495634"/>
          </a:xfrm>
          <a:prstGeom prst="rect">
            <a:avLst/>
          </a:prstGeom>
        </p:spPr>
      </p:pic>
    </p:spTree>
    <p:extLst>
      <p:ext uri="{BB962C8B-B14F-4D97-AF65-F5344CB8AC3E}">
        <p14:creationId xmlns:p14="http://schemas.microsoft.com/office/powerpoint/2010/main" val="1669569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9476A-CFE6-1669-40CC-5FECB8C85E3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1040E58-003A-A4FF-FB5D-B7384463827E}"/>
              </a:ext>
            </a:extLst>
          </p:cNvPr>
          <p:cNvSpPr txBox="1"/>
          <p:nvPr/>
        </p:nvSpPr>
        <p:spPr>
          <a:xfrm>
            <a:off x="203200" y="244826"/>
            <a:ext cx="11822545" cy="646331"/>
          </a:xfrm>
          <a:prstGeom prst="rect">
            <a:avLst/>
          </a:prstGeom>
          <a:noFill/>
        </p:spPr>
        <p:txBody>
          <a:bodyPr wrap="square">
            <a:spAutoFit/>
          </a:bodyPr>
          <a:lstStyle/>
          <a:p>
            <a:r>
              <a:rPr lang="en-US">
                <a:latin typeface="-apple-system"/>
              </a:rPr>
              <a:t>PHP-də:</a:t>
            </a:r>
            <a:r>
              <a:rPr lang="az-Latn-AZ">
                <a:latin typeface="-apple-system"/>
              </a:rPr>
              <a:t> Enum tipləri menyudakı pizza növləri kimi düşünün – yalnız "</a:t>
            </a:r>
            <a:r>
              <a:rPr lang="az-Latn-AZ" b="1" i="1">
                <a:latin typeface="-apple-system"/>
              </a:rPr>
              <a:t>Margherita</a:t>
            </a:r>
            <a:r>
              <a:rPr lang="az-Latn-AZ">
                <a:latin typeface="-apple-system"/>
              </a:rPr>
              <a:t>", "</a:t>
            </a:r>
            <a:r>
              <a:rPr lang="az-Latn-AZ" b="1" i="1">
                <a:latin typeface="-apple-system"/>
              </a:rPr>
              <a:t>Pepperoni</a:t>
            </a:r>
            <a:r>
              <a:rPr lang="az-Latn-AZ">
                <a:latin typeface="-apple-system"/>
              </a:rPr>
              <a:t>" və ya "</a:t>
            </a:r>
            <a:r>
              <a:rPr lang="az-Latn-AZ" b="1" i="1">
                <a:latin typeface="-apple-system"/>
              </a:rPr>
              <a:t>Vegetarian</a:t>
            </a:r>
            <a:r>
              <a:rPr lang="az-Latn-AZ">
                <a:latin typeface="-apple-system"/>
              </a:rPr>
              <a:t>" seçə bilərsiniz, başqa yox.</a:t>
            </a:r>
            <a:endParaRPr lang="en-US"/>
          </a:p>
        </p:txBody>
      </p:sp>
      <p:pic>
        <p:nvPicPr>
          <p:cNvPr id="3" name="Picture 2">
            <a:extLst>
              <a:ext uri="{FF2B5EF4-FFF2-40B4-BE49-F238E27FC236}">
                <a16:creationId xmlns:a16="http://schemas.microsoft.com/office/drawing/2014/main" id="{C03BCB78-615E-757A-ABCE-8007D41CF286}"/>
              </a:ext>
            </a:extLst>
          </p:cNvPr>
          <p:cNvPicPr>
            <a:picLocks noChangeAspect="1"/>
          </p:cNvPicPr>
          <p:nvPr/>
        </p:nvPicPr>
        <p:blipFill>
          <a:blip r:embed="rId2"/>
          <a:stretch>
            <a:fillRect/>
          </a:stretch>
        </p:blipFill>
        <p:spPr>
          <a:xfrm>
            <a:off x="203200" y="957002"/>
            <a:ext cx="5325218" cy="3724795"/>
          </a:xfrm>
          <a:prstGeom prst="rect">
            <a:avLst/>
          </a:prstGeom>
        </p:spPr>
      </p:pic>
    </p:spTree>
    <p:extLst>
      <p:ext uri="{BB962C8B-B14F-4D97-AF65-F5344CB8AC3E}">
        <p14:creationId xmlns:p14="http://schemas.microsoft.com/office/powerpoint/2010/main" val="1691234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4D403-FE57-5510-7634-BE812ECCE53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C2DF511-AFB8-8BBE-276D-F42213A5E9B2}"/>
              </a:ext>
            </a:extLst>
          </p:cNvPr>
          <p:cNvSpPr txBox="1"/>
          <p:nvPr/>
        </p:nvSpPr>
        <p:spPr>
          <a:xfrm>
            <a:off x="184727" y="244826"/>
            <a:ext cx="11822545" cy="4524315"/>
          </a:xfrm>
          <a:prstGeom prst="rect">
            <a:avLst/>
          </a:prstGeom>
          <a:noFill/>
        </p:spPr>
        <p:txBody>
          <a:bodyPr wrap="square">
            <a:spAutoFit/>
          </a:bodyPr>
          <a:lstStyle/>
          <a:p>
            <a:r>
              <a:rPr lang="en-US" sz="1200" b="1"/>
              <a:t>2.5. Interface Tiplər</a:t>
            </a:r>
            <a:r>
              <a:rPr lang="az-Latn-AZ" sz="1200" b="1"/>
              <a:t> </a:t>
            </a:r>
            <a:r>
              <a:rPr lang="en-US" sz="1200" b="1"/>
              <a:t>Nədir?</a:t>
            </a:r>
            <a:r>
              <a:rPr lang="en-US" sz="1200"/>
              <a:t> </a:t>
            </a:r>
            <a:endParaRPr lang="az-Latn-AZ" sz="1200"/>
          </a:p>
          <a:p>
            <a:endParaRPr lang="az-Latn-AZ" sz="1200"/>
          </a:p>
          <a:p>
            <a:r>
              <a:rPr lang="en-US" sz="1200" i="1"/>
              <a:t>Interface</a:t>
            </a:r>
            <a:r>
              <a:rPr lang="en-US" sz="1200"/>
              <a:t>, bir neçə object tipinin paylaşdığı </a:t>
            </a:r>
            <a:r>
              <a:rPr lang="az-Latn-AZ" sz="1200"/>
              <a:t>ortaq</a:t>
            </a:r>
            <a:r>
              <a:rPr lang="en-US" sz="1200"/>
              <a:t> xüsusiyyətləri təyin edir. Məsələn, həm "</a:t>
            </a:r>
            <a:r>
              <a:rPr lang="en-US" sz="1200" b="1"/>
              <a:t>Kitab</a:t>
            </a:r>
            <a:r>
              <a:rPr lang="en-US" sz="1200"/>
              <a:t>", həm də "</a:t>
            </a:r>
            <a:r>
              <a:rPr lang="en-US" sz="1200" b="1"/>
              <a:t>Jurnal</a:t>
            </a:r>
            <a:r>
              <a:rPr lang="en-US" sz="1200"/>
              <a:t>" "</a:t>
            </a:r>
            <a:r>
              <a:rPr lang="en-US" sz="1200" b="1" i="1"/>
              <a:t>ad</a:t>
            </a:r>
            <a:r>
              <a:rPr lang="en-US" sz="1200"/>
              <a:t>" və "</a:t>
            </a:r>
            <a:r>
              <a:rPr lang="en-US" sz="1200" b="1" i="1"/>
              <a:t>nəşr ili</a:t>
            </a:r>
            <a:r>
              <a:rPr lang="en-US" sz="1200"/>
              <a:t>" sahələrinə malikdirsə, bunları bir </a:t>
            </a:r>
            <a:r>
              <a:rPr lang="en-US" sz="1200" b="1"/>
              <a:t>interface</a:t>
            </a:r>
            <a:r>
              <a:rPr lang="en-US" sz="1200"/>
              <a:t>-də təyin edə bilərsiniz.</a:t>
            </a:r>
            <a:endParaRPr lang="az-Latn-AZ" sz="1200"/>
          </a:p>
          <a:p>
            <a:endParaRPr lang="en-US" sz="1200"/>
          </a:p>
          <a:p>
            <a:r>
              <a:rPr lang="en-US" sz="1200" b="1"/>
              <a:t>Nümunə</a:t>
            </a:r>
            <a:r>
              <a:rPr lang="en-US" sz="1200"/>
              <a:t>:</a:t>
            </a:r>
            <a:r>
              <a:rPr lang="az-Latn-AZ" sz="1200"/>
              <a:t> </a:t>
            </a:r>
            <a:r>
              <a:rPr lang="en-US" sz="1200"/>
              <a:t>Kitab və jurnalın ortaq sahələri: </a:t>
            </a:r>
            <a:r>
              <a:rPr lang="en-US" sz="1200" i="1"/>
              <a:t>Ad</a:t>
            </a:r>
            <a:r>
              <a:rPr lang="en-US" sz="1200"/>
              <a:t> və </a:t>
            </a:r>
            <a:r>
              <a:rPr lang="en-US" sz="1200" i="1"/>
              <a:t>nəşr ili</a:t>
            </a:r>
            <a:r>
              <a:rPr lang="az-Latn-AZ" sz="1200" i="1"/>
              <a:t> </a:t>
            </a:r>
            <a:r>
              <a:rPr lang="az-Latn-AZ" sz="1200"/>
              <a:t>-dir</a:t>
            </a:r>
            <a:r>
              <a:rPr lang="en-US" sz="1200"/>
              <a:t>. </a:t>
            </a:r>
            <a:r>
              <a:rPr lang="az-Latn-AZ" sz="1200"/>
              <a:t> Ancaq</a:t>
            </a:r>
            <a:r>
              <a:rPr lang="en-US" sz="1200"/>
              <a:t> öz xüsusi xüsusiyyətləri də ola bilər (müəllif, nömrə).</a:t>
            </a:r>
            <a:endParaRPr lang="az-Latn-AZ" sz="1200"/>
          </a:p>
          <a:p>
            <a:endParaRPr lang="az-Latn-AZ" sz="1200"/>
          </a:p>
          <a:p>
            <a:r>
              <a:rPr lang="az-Latn-AZ" sz="1200" b="1"/>
              <a:t>SDL-də nümunə</a:t>
            </a:r>
            <a:r>
              <a:rPr lang="az-Latn-AZ" sz="1200"/>
              <a:t>:</a:t>
            </a:r>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t>Sorğu nümunəsi</a:t>
            </a:r>
            <a:r>
              <a:rPr lang="en-US" sz="1200"/>
              <a:t>:</a:t>
            </a:r>
          </a:p>
        </p:txBody>
      </p:sp>
      <p:pic>
        <p:nvPicPr>
          <p:cNvPr id="3" name="Picture 2">
            <a:extLst>
              <a:ext uri="{FF2B5EF4-FFF2-40B4-BE49-F238E27FC236}">
                <a16:creationId xmlns:a16="http://schemas.microsoft.com/office/drawing/2014/main" id="{90A865C0-D8F5-2D27-4E86-8AA9A73DC1B0}"/>
              </a:ext>
            </a:extLst>
          </p:cNvPr>
          <p:cNvPicPr>
            <a:picLocks noChangeAspect="1"/>
          </p:cNvPicPr>
          <p:nvPr/>
        </p:nvPicPr>
        <p:blipFill>
          <a:blip r:embed="rId2"/>
          <a:stretch>
            <a:fillRect/>
          </a:stretch>
        </p:blipFill>
        <p:spPr>
          <a:xfrm>
            <a:off x="184727" y="1895341"/>
            <a:ext cx="1551709" cy="2171351"/>
          </a:xfrm>
          <a:prstGeom prst="rect">
            <a:avLst/>
          </a:prstGeom>
        </p:spPr>
      </p:pic>
      <p:pic>
        <p:nvPicPr>
          <p:cNvPr id="5" name="Picture 4">
            <a:extLst>
              <a:ext uri="{FF2B5EF4-FFF2-40B4-BE49-F238E27FC236}">
                <a16:creationId xmlns:a16="http://schemas.microsoft.com/office/drawing/2014/main" id="{1C4E6173-4E84-997E-6D92-E61E8EA1D657}"/>
              </a:ext>
            </a:extLst>
          </p:cNvPr>
          <p:cNvPicPr>
            <a:picLocks noChangeAspect="1"/>
          </p:cNvPicPr>
          <p:nvPr/>
        </p:nvPicPr>
        <p:blipFill>
          <a:blip r:embed="rId3"/>
          <a:stretch>
            <a:fillRect/>
          </a:stretch>
        </p:blipFill>
        <p:spPr>
          <a:xfrm>
            <a:off x="184727" y="4761110"/>
            <a:ext cx="1431637" cy="2004292"/>
          </a:xfrm>
          <a:prstGeom prst="rect">
            <a:avLst/>
          </a:prstGeom>
        </p:spPr>
      </p:pic>
    </p:spTree>
    <p:extLst>
      <p:ext uri="{BB962C8B-B14F-4D97-AF65-F5344CB8AC3E}">
        <p14:creationId xmlns:p14="http://schemas.microsoft.com/office/powerpoint/2010/main" val="4023269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020E5-E778-D082-8769-4D3AF3531D5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A587037-2C81-D066-E4B2-9B9EEEE1E109}"/>
              </a:ext>
            </a:extLst>
          </p:cNvPr>
          <p:cNvSpPr txBox="1"/>
          <p:nvPr/>
        </p:nvSpPr>
        <p:spPr>
          <a:xfrm>
            <a:off x="203200" y="244826"/>
            <a:ext cx="11822545" cy="369332"/>
          </a:xfrm>
          <a:prstGeom prst="rect">
            <a:avLst/>
          </a:prstGeom>
          <a:noFill/>
        </p:spPr>
        <p:txBody>
          <a:bodyPr wrap="square">
            <a:spAutoFit/>
          </a:bodyPr>
          <a:lstStyle/>
          <a:p>
            <a:r>
              <a:rPr lang="en-US">
                <a:latin typeface="-apple-system"/>
              </a:rPr>
              <a:t>PHP-də:</a:t>
            </a:r>
            <a:endParaRPr lang="en-US"/>
          </a:p>
        </p:txBody>
      </p:sp>
      <p:pic>
        <p:nvPicPr>
          <p:cNvPr id="3" name="Picture 2">
            <a:extLst>
              <a:ext uri="{FF2B5EF4-FFF2-40B4-BE49-F238E27FC236}">
                <a16:creationId xmlns:a16="http://schemas.microsoft.com/office/drawing/2014/main" id="{18073F11-0294-CBED-4C68-5692E1E743DD}"/>
              </a:ext>
            </a:extLst>
          </p:cNvPr>
          <p:cNvPicPr>
            <a:picLocks noChangeAspect="1"/>
          </p:cNvPicPr>
          <p:nvPr/>
        </p:nvPicPr>
        <p:blipFill>
          <a:blip r:embed="rId2"/>
          <a:stretch>
            <a:fillRect/>
          </a:stretch>
        </p:blipFill>
        <p:spPr>
          <a:xfrm>
            <a:off x="203200" y="614158"/>
            <a:ext cx="6544588" cy="2610214"/>
          </a:xfrm>
          <a:prstGeom prst="rect">
            <a:avLst/>
          </a:prstGeom>
        </p:spPr>
      </p:pic>
    </p:spTree>
    <p:extLst>
      <p:ext uri="{BB962C8B-B14F-4D97-AF65-F5344CB8AC3E}">
        <p14:creationId xmlns:p14="http://schemas.microsoft.com/office/powerpoint/2010/main" val="2630825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968D6-E960-4C47-68EF-CEFD65790F9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71E94F3-A3CC-CD89-8905-1590FA42FD24}"/>
              </a:ext>
            </a:extLst>
          </p:cNvPr>
          <p:cNvSpPr txBox="1"/>
          <p:nvPr/>
        </p:nvSpPr>
        <p:spPr>
          <a:xfrm>
            <a:off x="203200" y="244826"/>
            <a:ext cx="11822545" cy="3539430"/>
          </a:xfrm>
          <a:prstGeom prst="rect">
            <a:avLst/>
          </a:prstGeom>
          <a:noFill/>
        </p:spPr>
        <p:txBody>
          <a:bodyPr wrap="square">
            <a:spAutoFit/>
          </a:bodyPr>
          <a:lstStyle/>
          <a:p>
            <a:r>
              <a:rPr lang="en-US" sz="1400" b="1"/>
              <a:t>2.6. Union Tiplər</a:t>
            </a:r>
            <a:r>
              <a:rPr lang="az-Latn-AZ" sz="1400" b="1"/>
              <a:t> </a:t>
            </a:r>
            <a:r>
              <a:rPr lang="en-US" sz="1400" b="1"/>
              <a:t>Nədir?</a:t>
            </a:r>
            <a:r>
              <a:rPr lang="en-US" sz="1400"/>
              <a:t> </a:t>
            </a:r>
            <a:endParaRPr lang="az-Latn-AZ" sz="1400"/>
          </a:p>
          <a:p>
            <a:endParaRPr lang="az-Latn-AZ" sz="1400"/>
          </a:p>
          <a:p>
            <a:r>
              <a:rPr lang="en-US" sz="1400"/>
              <a:t>Union, bir neçə fərqli object tipini birləşdirir, amma onların ortaq sahələri olmaya bilər. Sorğuda hansı tipin gəldiyini yoxlamaq lazımdır.</a:t>
            </a:r>
            <a:endParaRPr lang="az-Latn-AZ" sz="1400"/>
          </a:p>
          <a:p>
            <a:endParaRPr lang="en-US" sz="1400"/>
          </a:p>
          <a:p>
            <a:r>
              <a:rPr lang="en-US" sz="1400" b="1"/>
              <a:t>Nümunə</a:t>
            </a:r>
            <a:r>
              <a:rPr lang="en-US" sz="1400"/>
              <a:t>:</a:t>
            </a:r>
            <a:r>
              <a:rPr lang="az-Latn-AZ" sz="1400"/>
              <a:t> </a:t>
            </a:r>
            <a:r>
              <a:rPr lang="en-US" sz="1400"/>
              <a:t>Axtarış nəticəsi həm "</a:t>
            </a:r>
            <a:r>
              <a:rPr lang="en-US" sz="1400" b="1"/>
              <a:t>Kitab</a:t>
            </a:r>
            <a:r>
              <a:rPr lang="en-US" sz="1400"/>
              <a:t>", həm də "</a:t>
            </a:r>
            <a:r>
              <a:rPr lang="en-US" sz="1400" b="1"/>
              <a:t>Muellif</a:t>
            </a:r>
            <a:r>
              <a:rPr lang="en-US" sz="1400"/>
              <a:t>" ola bilər.</a:t>
            </a:r>
            <a:endParaRPr lang="az-Latn-AZ" sz="1400"/>
          </a:p>
          <a:p>
            <a:endParaRPr lang="en-US" sz="1400"/>
          </a:p>
          <a:p>
            <a:r>
              <a:rPr lang="en-US" sz="1400" b="1"/>
              <a:t>SDL-də nümunə</a:t>
            </a:r>
            <a:r>
              <a:rPr lang="en-US" sz="1400"/>
              <a:t>:</a:t>
            </a:r>
            <a:endParaRPr lang="az-Latn-AZ" sz="1400"/>
          </a:p>
          <a:p>
            <a:endParaRPr lang="az-Latn-AZ" sz="1400">
              <a:effectLst/>
            </a:endParaRPr>
          </a:p>
          <a:p>
            <a:endParaRPr lang="az-Latn-AZ" sz="1400"/>
          </a:p>
          <a:p>
            <a:endParaRPr lang="az-Latn-AZ" sz="1400">
              <a:effectLst/>
            </a:endParaRPr>
          </a:p>
          <a:p>
            <a:endParaRPr lang="az-Latn-AZ" sz="1400"/>
          </a:p>
          <a:p>
            <a:endParaRPr lang="az-Latn-AZ" sz="1400">
              <a:effectLst/>
            </a:endParaRPr>
          </a:p>
          <a:p>
            <a:endParaRPr lang="az-Latn-AZ" sz="1400"/>
          </a:p>
          <a:p>
            <a:endParaRPr lang="az-Latn-AZ" sz="1400">
              <a:effectLst/>
            </a:endParaRPr>
          </a:p>
          <a:p>
            <a:endParaRPr lang="az-Latn-AZ" sz="1400"/>
          </a:p>
          <a:p>
            <a:r>
              <a:rPr lang="en-US" sz="1400" b="1"/>
              <a:t>Sorğu nümunəsi</a:t>
            </a:r>
            <a:r>
              <a:rPr lang="en-US" sz="1400"/>
              <a:t>:</a:t>
            </a:r>
            <a:endParaRPr lang="en-US" sz="1400">
              <a:effectLst/>
            </a:endParaRPr>
          </a:p>
        </p:txBody>
      </p:sp>
      <p:pic>
        <p:nvPicPr>
          <p:cNvPr id="3" name="Picture 2">
            <a:extLst>
              <a:ext uri="{FF2B5EF4-FFF2-40B4-BE49-F238E27FC236}">
                <a16:creationId xmlns:a16="http://schemas.microsoft.com/office/drawing/2014/main" id="{22D49439-CAF7-86BB-D588-62F06D045AEF}"/>
              </a:ext>
            </a:extLst>
          </p:cNvPr>
          <p:cNvPicPr>
            <a:picLocks noChangeAspect="1"/>
          </p:cNvPicPr>
          <p:nvPr/>
        </p:nvPicPr>
        <p:blipFill>
          <a:blip r:embed="rId2"/>
          <a:stretch>
            <a:fillRect/>
          </a:stretch>
        </p:blipFill>
        <p:spPr>
          <a:xfrm>
            <a:off x="203200" y="1925077"/>
            <a:ext cx="4134427" cy="1057423"/>
          </a:xfrm>
          <a:prstGeom prst="rect">
            <a:avLst/>
          </a:prstGeom>
        </p:spPr>
      </p:pic>
      <p:pic>
        <p:nvPicPr>
          <p:cNvPr id="5" name="Picture 4">
            <a:extLst>
              <a:ext uri="{FF2B5EF4-FFF2-40B4-BE49-F238E27FC236}">
                <a16:creationId xmlns:a16="http://schemas.microsoft.com/office/drawing/2014/main" id="{5BAD2B93-6D65-8916-ED70-0059A8A4753B}"/>
              </a:ext>
            </a:extLst>
          </p:cNvPr>
          <p:cNvPicPr>
            <a:picLocks noChangeAspect="1"/>
          </p:cNvPicPr>
          <p:nvPr/>
        </p:nvPicPr>
        <p:blipFill>
          <a:blip r:embed="rId3"/>
          <a:stretch>
            <a:fillRect/>
          </a:stretch>
        </p:blipFill>
        <p:spPr>
          <a:xfrm>
            <a:off x="203200" y="3875501"/>
            <a:ext cx="2705478" cy="2410161"/>
          </a:xfrm>
          <a:prstGeom prst="rect">
            <a:avLst/>
          </a:prstGeom>
        </p:spPr>
      </p:pic>
    </p:spTree>
    <p:extLst>
      <p:ext uri="{BB962C8B-B14F-4D97-AF65-F5344CB8AC3E}">
        <p14:creationId xmlns:p14="http://schemas.microsoft.com/office/powerpoint/2010/main" val="29905918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0C957-5354-7E53-DC9E-4F121301C0E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84D8422-16CF-EF0C-7893-0D45BDECBA31}"/>
              </a:ext>
            </a:extLst>
          </p:cNvPr>
          <p:cNvSpPr txBox="1"/>
          <p:nvPr/>
        </p:nvSpPr>
        <p:spPr>
          <a:xfrm>
            <a:off x="203200" y="244826"/>
            <a:ext cx="11822545" cy="369332"/>
          </a:xfrm>
          <a:prstGeom prst="rect">
            <a:avLst/>
          </a:prstGeom>
          <a:noFill/>
        </p:spPr>
        <p:txBody>
          <a:bodyPr wrap="square">
            <a:spAutoFit/>
          </a:bodyPr>
          <a:lstStyle/>
          <a:p>
            <a:r>
              <a:rPr lang="en-US">
                <a:latin typeface="-apple-system"/>
              </a:rPr>
              <a:t>PHP-də:</a:t>
            </a:r>
            <a:endParaRPr lang="en-US"/>
          </a:p>
        </p:txBody>
      </p:sp>
      <p:pic>
        <p:nvPicPr>
          <p:cNvPr id="3" name="Picture 2">
            <a:extLst>
              <a:ext uri="{FF2B5EF4-FFF2-40B4-BE49-F238E27FC236}">
                <a16:creationId xmlns:a16="http://schemas.microsoft.com/office/drawing/2014/main" id="{BF9F456D-F796-CB1B-7D9A-7409A3B07471}"/>
              </a:ext>
            </a:extLst>
          </p:cNvPr>
          <p:cNvPicPr>
            <a:picLocks noChangeAspect="1"/>
          </p:cNvPicPr>
          <p:nvPr/>
        </p:nvPicPr>
        <p:blipFill>
          <a:blip r:embed="rId2"/>
          <a:stretch>
            <a:fillRect/>
          </a:stretch>
        </p:blipFill>
        <p:spPr>
          <a:xfrm>
            <a:off x="203200" y="719304"/>
            <a:ext cx="6592220" cy="1743318"/>
          </a:xfrm>
          <a:prstGeom prst="rect">
            <a:avLst/>
          </a:prstGeom>
        </p:spPr>
      </p:pic>
    </p:spTree>
    <p:extLst>
      <p:ext uri="{BB962C8B-B14F-4D97-AF65-F5344CB8AC3E}">
        <p14:creationId xmlns:p14="http://schemas.microsoft.com/office/powerpoint/2010/main" val="2930814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0E7B9-3FD8-5A56-E25F-24107670DB9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7A115AA-D541-A750-6312-8721A78F3459}"/>
              </a:ext>
            </a:extLst>
          </p:cNvPr>
          <p:cNvSpPr txBox="1"/>
          <p:nvPr/>
        </p:nvSpPr>
        <p:spPr>
          <a:xfrm>
            <a:off x="203200" y="244826"/>
            <a:ext cx="11822545" cy="3970318"/>
          </a:xfrm>
          <a:prstGeom prst="rect">
            <a:avLst/>
          </a:prstGeom>
          <a:noFill/>
        </p:spPr>
        <p:txBody>
          <a:bodyPr wrap="square">
            <a:spAutoFit/>
          </a:bodyPr>
          <a:lstStyle/>
          <a:p>
            <a:r>
              <a:rPr lang="en-US" sz="1400" b="1"/>
              <a:t>2.7. Input Tiplər</a:t>
            </a:r>
            <a:r>
              <a:rPr lang="az-Latn-AZ" sz="1400" b="1"/>
              <a:t> </a:t>
            </a:r>
            <a:r>
              <a:rPr lang="en-US" sz="1400" b="1"/>
              <a:t>Nədir?</a:t>
            </a:r>
            <a:r>
              <a:rPr lang="en-US" sz="1400"/>
              <a:t> </a:t>
            </a:r>
            <a:endParaRPr lang="az-Latn-AZ" sz="1400"/>
          </a:p>
          <a:p>
            <a:endParaRPr lang="az-Latn-AZ" sz="1400"/>
          </a:p>
          <a:p>
            <a:r>
              <a:rPr lang="en-US" sz="1400"/>
              <a:t>Input tiplər, mutasiyalarda (məlumat dəyişmək üçün) istifadə olunur. Object tiplərə bənzəyir, amma yalnız daxil edilən məlumat üçün istifadə edilir.</a:t>
            </a:r>
            <a:endParaRPr lang="az-Latn-AZ" sz="1400"/>
          </a:p>
          <a:p>
            <a:endParaRPr lang="en-US" sz="1400"/>
          </a:p>
          <a:p>
            <a:r>
              <a:rPr lang="en-US" sz="1400" b="1"/>
              <a:t>Nümunə</a:t>
            </a:r>
            <a:r>
              <a:rPr lang="en-US" sz="1400"/>
              <a:t>:</a:t>
            </a:r>
            <a:r>
              <a:rPr lang="az-Latn-AZ" sz="1400"/>
              <a:t> </a:t>
            </a:r>
            <a:r>
              <a:rPr lang="en-US" sz="1400"/>
              <a:t>Yeni kitab yaratmaq üçün input.</a:t>
            </a:r>
            <a:endParaRPr lang="az-Latn-AZ" sz="1400"/>
          </a:p>
          <a:p>
            <a:endParaRPr lang="en-US" sz="1400"/>
          </a:p>
          <a:p>
            <a:r>
              <a:rPr lang="en-US" sz="1400" b="1"/>
              <a:t>SDL-də nümunə</a:t>
            </a:r>
            <a:r>
              <a:rPr lang="en-US" sz="1400"/>
              <a:t>:</a:t>
            </a:r>
          </a:p>
          <a:p>
            <a:endParaRPr lang="az-Latn-AZ" sz="1400"/>
          </a:p>
          <a:p>
            <a:endParaRPr lang="az-Latn-AZ" sz="1400"/>
          </a:p>
          <a:p>
            <a:endParaRPr lang="az-Latn-AZ" sz="1400"/>
          </a:p>
          <a:p>
            <a:endParaRPr lang="az-Latn-AZ" sz="1400"/>
          </a:p>
          <a:p>
            <a:endParaRPr lang="az-Latn-AZ" sz="1400"/>
          </a:p>
          <a:p>
            <a:endParaRPr lang="az-Latn-AZ" sz="1400"/>
          </a:p>
          <a:p>
            <a:endParaRPr lang="az-Latn-AZ" sz="1400"/>
          </a:p>
          <a:p>
            <a:endParaRPr lang="az-Latn-AZ" sz="1400"/>
          </a:p>
          <a:p>
            <a:endParaRPr lang="az-Latn-AZ" sz="1400"/>
          </a:p>
          <a:p>
            <a:endParaRPr lang="az-Latn-AZ" sz="1400"/>
          </a:p>
          <a:p>
            <a:r>
              <a:rPr lang="en-US" sz="1400" b="1"/>
              <a:t>PHP-də</a:t>
            </a:r>
            <a:r>
              <a:rPr lang="en-US" sz="1400"/>
              <a:t>:</a:t>
            </a:r>
          </a:p>
        </p:txBody>
      </p:sp>
      <p:pic>
        <p:nvPicPr>
          <p:cNvPr id="5" name="Picture 4">
            <a:extLst>
              <a:ext uri="{FF2B5EF4-FFF2-40B4-BE49-F238E27FC236}">
                <a16:creationId xmlns:a16="http://schemas.microsoft.com/office/drawing/2014/main" id="{1DE6FE41-87F5-7FA5-94BD-ACA30B970368}"/>
              </a:ext>
            </a:extLst>
          </p:cNvPr>
          <p:cNvPicPr>
            <a:picLocks noChangeAspect="1"/>
          </p:cNvPicPr>
          <p:nvPr/>
        </p:nvPicPr>
        <p:blipFill>
          <a:blip r:embed="rId2"/>
          <a:stretch>
            <a:fillRect/>
          </a:stretch>
        </p:blipFill>
        <p:spPr>
          <a:xfrm>
            <a:off x="203200" y="1953207"/>
            <a:ext cx="2946400" cy="1558981"/>
          </a:xfrm>
          <a:prstGeom prst="rect">
            <a:avLst/>
          </a:prstGeom>
        </p:spPr>
      </p:pic>
      <p:pic>
        <p:nvPicPr>
          <p:cNvPr id="8" name="Picture 7">
            <a:extLst>
              <a:ext uri="{FF2B5EF4-FFF2-40B4-BE49-F238E27FC236}">
                <a16:creationId xmlns:a16="http://schemas.microsoft.com/office/drawing/2014/main" id="{01D8DFB3-5EE7-3A19-7651-3FB3FF6E9F4D}"/>
              </a:ext>
            </a:extLst>
          </p:cNvPr>
          <p:cNvPicPr>
            <a:picLocks noChangeAspect="1"/>
          </p:cNvPicPr>
          <p:nvPr/>
        </p:nvPicPr>
        <p:blipFill>
          <a:blip r:embed="rId3"/>
          <a:stretch>
            <a:fillRect/>
          </a:stretch>
        </p:blipFill>
        <p:spPr>
          <a:xfrm>
            <a:off x="203200" y="4225067"/>
            <a:ext cx="4658375" cy="1991003"/>
          </a:xfrm>
          <a:prstGeom prst="rect">
            <a:avLst/>
          </a:prstGeom>
        </p:spPr>
      </p:pic>
    </p:spTree>
    <p:extLst>
      <p:ext uri="{BB962C8B-B14F-4D97-AF65-F5344CB8AC3E}">
        <p14:creationId xmlns:p14="http://schemas.microsoft.com/office/powerpoint/2010/main" val="2549962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8ECDE-AAC2-5DE6-1EAF-C260D495CC4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D7DD369-C547-9D4C-72E5-8C87AD866F08}"/>
              </a:ext>
            </a:extLst>
          </p:cNvPr>
          <p:cNvSpPr txBox="1"/>
          <p:nvPr/>
        </p:nvSpPr>
        <p:spPr>
          <a:xfrm>
            <a:off x="203200" y="244826"/>
            <a:ext cx="11822545" cy="3000821"/>
          </a:xfrm>
          <a:prstGeom prst="rect">
            <a:avLst/>
          </a:prstGeom>
          <a:noFill/>
        </p:spPr>
        <p:txBody>
          <a:bodyPr wrap="square">
            <a:spAutoFit/>
          </a:bodyPr>
          <a:lstStyle/>
          <a:p>
            <a:r>
              <a:rPr lang="en-US" b="1"/>
              <a:t>3. Root Tiplər (Query, Mutation, Subscription)</a:t>
            </a:r>
            <a:endParaRPr lang="az-Latn-AZ" b="1"/>
          </a:p>
          <a:p>
            <a:endParaRPr lang="en-US" b="1"/>
          </a:p>
          <a:p>
            <a:r>
              <a:rPr lang="en-US"/>
              <a:t>Schema-nın əsas giriş nöqtələri bunlardır:</a:t>
            </a:r>
            <a:endParaRPr lang="az-Latn-AZ"/>
          </a:p>
          <a:p>
            <a:endParaRPr lang="en-US"/>
          </a:p>
          <a:p>
            <a:pPr marL="285750" indent="-285750">
              <a:lnSpc>
                <a:spcPct val="150000"/>
              </a:lnSpc>
              <a:buFont typeface="Arial" panose="020B0604020202020204" pitchFamily="34" charset="0"/>
              <a:buChar char="•"/>
            </a:pPr>
            <a:r>
              <a:rPr lang="en-US" b="1"/>
              <a:t>Query</a:t>
            </a:r>
            <a:r>
              <a:rPr lang="en-US"/>
              <a:t>: Məlumat oxumaq üçün (məsələn, kitabların siyahısını almaq).</a:t>
            </a:r>
          </a:p>
          <a:p>
            <a:pPr marL="285750" indent="-285750">
              <a:lnSpc>
                <a:spcPct val="150000"/>
              </a:lnSpc>
              <a:buFont typeface="Arial" panose="020B0604020202020204" pitchFamily="34" charset="0"/>
              <a:buChar char="•"/>
            </a:pPr>
            <a:r>
              <a:rPr lang="en-US" b="1"/>
              <a:t>Mutation</a:t>
            </a:r>
            <a:r>
              <a:rPr lang="en-US"/>
              <a:t>: Məlumat dəyişmək üçün (məsələn, yeni kitab əlavə etmək).</a:t>
            </a:r>
          </a:p>
          <a:p>
            <a:pPr marL="285750" indent="-285750">
              <a:lnSpc>
                <a:spcPct val="150000"/>
              </a:lnSpc>
              <a:buFont typeface="Arial" panose="020B0604020202020204" pitchFamily="34" charset="0"/>
              <a:buChar char="•"/>
            </a:pPr>
            <a:r>
              <a:rPr lang="en-US" b="1"/>
              <a:t>Subscription</a:t>
            </a:r>
            <a:r>
              <a:rPr lang="en-US"/>
              <a:t>: Real vaxtda yenilikləri almaq üçün (məsələn, yeni kitab əlavə olunanda bildiriş).</a:t>
            </a:r>
            <a:endParaRPr lang="az-Latn-AZ"/>
          </a:p>
          <a:p>
            <a:r>
              <a:rPr lang="az-Latn-AZ"/>
              <a:t>	</a:t>
            </a:r>
            <a:endParaRPr lang="en-US"/>
          </a:p>
          <a:p>
            <a:r>
              <a:rPr lang="en-US" b="1"/>
              <a:t>SDL-də nümunə</a:t>
            </a:r>
            <a:r>
              <a:rPr lang="en-US"/>
              <a:t>:</a:t>
            </a:r>
            <a:endParaRPr lang="en-US">
              <a:effectLst/>
            </a:endParaRPr>
          </a:p>
        </p:txBody>
      </p:sp>
      <p:pic>
        <p:nvPicPr>
          <p:cNvPr id="3" name="Picture 2">
            <a:extLst>
              <a:ext uri="{FF2B5EF4-FFF2-40B4-BE49-F238E27FC236}">
                <a16:creationId xmlns:a16="http://schemas.microsoft.com/office/drawing/2014/main" id="{123D2A55-D174-71A2-D84C-02C61CA4EFCD}"/>
              </a:ext>
            </a:extLst>
          </p:cNvPr>
          <p:cNvPicPr>
            <a:picLocks noChangeAspect="1"/>
          </p:cNvPicPr>
          <p:nvPr/>
        </p:nvPicPr>
        <p:blipFill>
          <a:blip r:embed="rId2"/>
          <a:stretch>
            <a:fillRect/>
          </a:stretch>
        </p:blipFill>
        <p:spPr>
          <a:xfrm>
            <a:off x="203200" y="3288485"/>
            <a:ext cx="3734321" cy="3324689"/>
          </a:xfrm>
          <a:prstGeom prst="rect">
            <a:avLst/>
          </a:prstGeom>
        </p:spPr>
      </p:pic>
    </p:spTree>
    <p:extLst>
      <p:ext uri="{BB962C8B-B14F-4D97-AF65-F5344CB8AC3E}">
        <p14:creationId xmlns:p14="http://schemas.microsoft.com/office/powerpoint/2010/main" val="21967691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149B6-E1ED-4805-E190-65B4586ABBF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9B8EA42-355C-957D-6666-257ED9E57CA1}"/>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34256894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EED98-D11D-8BA5-E001-055B174E515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B3FABF0-FD24-9F30-D866-B2873E02B6C0}"/>
              </a:ext>
            </a:extLst>
          </p:cNvPr>
          <p:cNvSpPr txBox="1"/>
          <p:nvPr/>
        </p:nvSpPr>
        <p:spPr>
          <a:xfrm>
            <a:off x="203200" y="244826"/>
            <a:ext cx="11822545" cy="5355312"/>
          </a:xfrm>
          <a:prstGeom prst="rect">
            <a:avLst/>
          </a:prstGeom>
          <a:noFill/>
        </p:spPr>
        <p:txBody>
          <a:bodyPr wrap="square">
            <a:spAutoFit/>
          </a:bodyPr>
          <a:lstStyle/>
          <a:p>
            <a:r>
              <a:rPr lang="en-US" sz="1200">
                <a:latin typeface="-apple-system"/>
              </a:rPr>
              <a:t>GraphQL-də </a:t>
            </a:r>
            <a:r>
              <a:rPr lang="en-US" sz="1200" b="1">
                <a:solidFill>
                  <a:srgbClr val="00B050"/>
                </a:solidFill>
                <a:latin typeface="-apple-system"/>
              </a:rPr>
              <a:t>Fields</a:t>
            </a:r>
            <a:r>
              <a:rPr lang="en-US" sz="1200">
                <a:latin typeface="-apple-system"/>
              </a:rPr>
              <a:t>, </a:t>
            </a:r>
            <a:r>
              <a:rPr lang="en-US" sz="1200" b="1">
                <a:solidFill>
                  <a:srgbClr val="00B050"/>
                </a:solidFill>
                <a:latin typeface="-apple-system"/>
              </a:rPr>
              <a:t>Arguments</a:t>
            </a:r>
            <a:r>
              <a:rPr lang="en-US" sz="1200">
                <a:latin typeface="-apple-system"/>
              </a:rPr>
              <a:t>, </a:t>
            </a:r>
            <a:r>
              <a:rPr lang="en-US" sz="1200" b="1">
                <a:solidFill>
                  <a:srgbClr val="00B050"/>
                </a:solidFill>
                <a:latin typeface="-apple-system"/>
              </a:rPr>
              <a:t>Aliases</a:t>
            </a:r>
            <a:r>
              <a:rPr lang="en-US" sz="1200">
                <a:latin typeface="-apple-system"/>
              </a:rPr>
              <a:t>, </a:t>
            </a:r>
            <a:r>
              <a:rPr lang="en-US" sz="1200" b="1">
                <a:solidFill>
                  <a:srgbClr val="00B050"/>
                </a:solidFill>
                <a:latin typeface="-apple-system"/>
              </a:rPr>
              <a:t>Fragments</a:t>
            </a:r>
            <a:r>
              <a:rPr lang="en-US" sz="1200">
                <a:latin typeface="-apple-system"/>
              </a:rPr>
              <a:t>, </a:t>
            </a:r>
            <a:r>
              <a:rPr lang="en-US" sz="1200" b="1">
                <a:solidFill>
                  <a:srgbClr val="00B050"/>
                </a:solidFill>
                <a:latin typeface="-apple-system"/>
              </a:rPr>
              <a:t>Variables</a:t>
            </a:r>
            <a:r>
              <a:rPr lang="en-US" sz="1200">
                <a:latin typeface="-apple-system"/>
              </a:rPr>
              <a:t> və </a:t>
            </a:r>
            <a:r>
              <a:rPr lang="en-US" sz="1200" b="1">
                <a:solidFill>
                  <a:srgbClr val="00B050"/>
                </a:solidFill>
                <a:latin typeface="-apple-system"/>
              </a:rPr>
              <a:t>Directives</a:t>
            </a:r>
            <a:r>
              <a:rPr lang="en-US" sz="1200">
                <a:latin typeface="-apple-system"/>
              </a:rPr>
              <a:t>:</a:t>
            </a:r>
            <a:endParaRPr lang="az-Latn-AZ" sz="1200">
              <a:latin typeface="-apple-system"/>
            </a:endParaRPr>
          </a:p>
          <a:p>
            <a:endParaRPr lang="az-Latn-AZ" sz="1200">
              <a:latin typeface="-apple-system"/>
            </a:endParaRPr>
          </a:p>
          <a:p>
            <a:r>
              <a:rPr lang="en-US" sz="1200"/>
              <a:t>1. </a:t>
            </a:r>
            <a:r>
              <a:rPr lang="en-US" sz="1200" b="1">
                <a:solidFill>
                  <a:srgbClr val="FF0000"/>
                </a:solidFill>
              </a:rPr>
              <a:t>Fields (Sahələr) Nədir? </a:t>
            </a:r>
            <a:endParaRPr lang="az-Latn-AZ" sz="1200" b="1">
              <a:solidFill>
                <a:srgbClr val="FF0000"/>
              </a:solidFill>
            </a:endParaRPr>
          </a:p>
          <a:p>
            <a:endParaRPr lang="az-Latn-AZ" sz="1200"/>
          </a:p>
          <a:p>
            <a:r>
              <a:rPr lang="en-US" sz="1200"/>
              <a:t>Fields (sahələr), GraphQL-də bir obyektin </a:t>
            </a:r>
            <a:r>
              <a:rPr lang="en-US" sz="1200" b="1" i="1"/>
              <a:t>xüsusiyyətləridir</a:t>
            </a:r>
            <a:r>
              <a:rPr lang="en-US" sz="1200"/>
              <a:t>. Hər obyektin (məsələn, "Kitab" və ya "Müəllif") müəyyən xüsusiyyətləri olur, və bu xüsusiyyətlər </a:t>
            </a:r>
            <a:r>
              <a:rPr lang="en-US" sz="1200" b="1"/>
              <a:t>fields</a:t>
            </a:r>
            <a:r>
              <a:rPr lang="en-US" sz="1200"/>
              <a:t> adlanır. Sorğuda hansı sahələri göstərsəniz, </a:t>
            </a:r>
            <a:r>
              <a:rPr lang="en-US" sz="1200" b="1"/>
              <a:t>server</a:t>
            </a:r>
            <a:r>
              <a:rPr lang="en-US" sz="1200"/>
              <a:t> yalnız onları qaytarır.</a:t>
            </a:r>
            <a:endParaRPr lang="az-Latn-AZ" sz="1200"/>
          </a:p>
          <a:p>
            <a:endParaRPr lang="az-Latn-AZ" sz="1200"/>
          </a:p>
          <a:p>
            <a:r>
              <a:rPr lang="en-US" sz="1200" b="1"/>
              <a:t>GraphQL-də nümunə</a:t>
            </a:r>
            <a:r>
              <a:rPr lang="en-US" sz="1200"/>
              <a:t>: Bir kitabxana sistemində “Kitab” obyekti ola bilər:</a:t>
            </a:r>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t>Sorğu</a:t>
            </a:r>
            <a:r>
              <a:rPr lang="en-US" sz="1200"/>
              <a:t>:</a:t>
            </a:r>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t>Cavab</a:t>
            </a:r>
            <a:r>
              <a:rPr lang="en-US" sz="1200"/>
              <a:t>:</a:t>
            </a:r>
            <a:r>
              <a:rPr lang="az-Latn-AZ" sz="1200"/>
              <a:t> Burada </a:t>
            </a:r>
            <a:r>
              <a:rPr lang="az-Latn-AZ" sz="1200" b="1" i="1"/>
              <a:t>ad</a:t>
            </a:r>
            <a:r>
              <a:rPr lang="az-Latn-AZ" sz="1200"/>
              <a:t> və </a:t>
            </a:r>
            <a:r>
              <a:rPr lang="az-Latn-AZ" sz="1200" b="1" i="1"/>
              <a:t>qiymet</a:t>
            </a:r>
            <a:r>
              <a:rPr lang="az-Latn-AZ" sz="1200"/>
              <a:t> fields -dir. </a:t>
            </a:r>
            <a:r>
              <a:rPr lang="az-Latn-AZ" sz="1200" b="1" i="1"/>
              <a:t>muellif</a:t>
            </a:r>
            <a:r>
              <a:rPr lang="az-Latn-AZ" sz="1200"/>
              <a:t> sahəsini istəmədiyimiz üçün server onu qaytarmadı.</a:t>
            </a:r>
            <a:endParaRPr lang="en-US" sz="1200"/>
          </a:p>
          <a:p>
            <a:endParaRPr lang="en-US" sz="1200"/>
          </a:p>
        </p:txBody>
      </p:sp>
      <p:pic>
        <p:nvPicPr>
          <p:cNvPr id="3" name="Picture 2">
            <a:extLst>
              <a:ext uri="{FF2B5EF4-FFF2-40B4-BE49-F238E27FC236}">
                <a16:creationId xmlns:a16="http://schemas.microsoft.com/office/drawing/2014/main" id="{9057DACA-7C13-0EA5-3A8D-47735D8C3824}"/>
              </a:ext>
            </a:extLst>
          </p:cNvPr>
          <p:cNvPicPr>
            <a:picLocks noChangeAspect="1"/>
          </p:cNvPicPr>
          <p:nvPr/>
        </p:nvPicPr>
        <p:blipFill>
          <a:blip r:embed="rId2"/>
          <a:stretch>
            <a:fillRect/>
          </a:stretch>
        </p:blipFill>
        <p:spPr>
          <a:xfrm>
            <a:off x="203200" y="1897369"/>
            <a:ext cx="1373661" cy="1531632"/>
          </a:xfrm>
          <a:prstGeom prst="rect">
            <a:avLst/>
          </a:prstGeom>
        </p:spPr>
      </p:pic>
      <p:pic>
        <p:nvPicPr>
          <p:cNvPr id="5" name="Picture 4">
            <a:extLst>
              <a:ext uri="{FF2B5EF4-FFF2-40B4-BE49-F238E27FC236}">
                <a16:creationId xmlns:a16="http://schemas.microsoft.com/office/drawing/2014/main" id="{B92FC532-84AC-8B3F-1AC6-8A7FB63BBA19}"/>
              </a:ext>
            </a:extLst>
          </p:cNvPr>
          <p:cNvPicPr>
            <a:picLocks noChangeAspect="1"/>
          </p:cNvPicPr>
          <p:nvPr/>
        </p:nvPicPr>
        <p:blipFill>
          <a:blip r:embed="rId3"/>
          <a:stretch>
            <a:fillRect/>
          </a:stretch>
        </p:blipFill>
        <p:spPr>
          <a:xfrm>
            <a:off x="203200" y="3845812"/>
            <a:ext cx="860012" cy="920152"/>
          </a:xfrm>
          <a:prstGeom prst="rect">
            <a:avLst/>
          </a:prstGeom>
        </p:spPr>
      </p:pic>
      <p:pic>
        <p:nvPicPr>
          <p:cNvPr id="8" name="Picture 7">
            <a:extLst>
              <a:ext uri="{FF2B5EF4-FFF2-40B4-BE49-F238E27FC236}">
                <a16:creationId xmlns:a16="http://schemas.microsoft.com/office/drawing/2014/main" id="{5B2E6339-E086-8532-4140-0F66C099CE95}"/>
              </a:ext>
            </a:extLst>
          </p:cNvPr>
          <p:cNvPicPr>
            <a:picLocks noChangeAspect="1"/>
          </p:cNvPicPr>
          <p:nvPr/>
        </p:nvPicPr>
        <p:blipFill>
          <a:blip r:embed="rId4"/>
          <a:stretch>
            <a:fillRect/>
          </a:stretch>
        </p:blipFill>
        <p:spPr>
          <a:xfrm>
            <a:off x="203201" y="5326368"/>
            <a:ext cx="3493058" cy="1531632"/>
          </a:xfrm>
          <a:prstGeom prst="rect">
            <a:avLst/>
          </a:prstGeom>
        </p:spPr>
      </p:pic>
      <p:sp>
        <p:nvSpPr>
          <p:cNvPr id="10" name="TextBox 9">
            <a:extLst>
              <a:ext uri="{FF2B5EF4-FFF2-40B4-BE49-F238E27FC236}">
                <a16:creationId xmlns:a16="http://schemas.microsoft.com/office/drawing/2014/main" id="{EF97881A-CED1-A33D-82AE-F3FE14A1DD92}"/>
              </a:ext>
            </a:extLst>
          </p:cNvPr>
          <p:cNvSpPr txBox="1"/>
          <p:nvPr/>
        </p:nvSpPr>
        <p:spPr>
          <a:xfrm>
            <a:off x="9672222" y="5049369"/>
            <a:ext cx="2436647" cy="276999"/>
          </a:xfrm>
          <a:prstGeom prst="rect">
            <a:avLst/>
          </a:prstGeom>
          <a:noFill/>
        </p:spPr>
        <p:txBody>
          <a:bodyPr wrap="square">
            <a:spAutoFit/>
          </a:bodyPr>
          <a:lstStyle/>
          <a:p>
            <a:pPr algn="ctr"/>
            <a:r>
              <a:rPr lang="en-US" sz="1200"/>
              <a:t>PHP-də (</a:t>
            </a:r>
            <a:r>
              <a:rPr lang="en-US" sz="1200" b="1"/>
              <a:t>webonyx/graphql-php </a:t>
            </a:r>
            <a:r>
              <a:rPr lang="en-US" sz="1200"/>
              <a:t>ilə):</a:t>
            </a:r>
          </a:p>
        </p:txBody>
      </p:sp>
      <p:pic>
        <p:nvPicPr>
          <p:cNvPr id="12" name="Picture 11">
            <a:extLst>
              <a:ext uri="{FF2B5EF4-FFF2-40B4-BE49-F238E27FC236}">
                <a16:creationId xmlns:a16="http://schemas.microsoft.com/office/drawing/2014/main" id="{F39E94F3-8EB0-7DAA-1DEB-F27B86C11CC8}"/>
              </a:ext>
            </a:extLst>
          </p:cNvPr>
          <p:cNvPicPr>
            <a:picLocks noChangeAspect="1"/>
          </p:cNvPicPr>
          <p:nvPr/>
        </p:nvPicPr>
        <p:blipFill>
          <a:blip r:embed="rId5"/>
          <a:stretch>
            <a:fillRect/>
          </a:stretch>
        </p:blipFill>
        <p:spPr>
          <a:xfrm>
            <a:off x="9589098" y="5403272"/>
            <a:ext cx="2602902" cy="1454727"/>
          </a:xfrm>
          <a:prstGeom prst="rect">
            <a:avLst/>
          </a:prstGeom>
        </p:spPr>
      </p:pic>
    </p:spTree>
    <p:extLst>
      <p:ext uri="{BB962C8B-B14F-4D97-AF65-F5344CB8AC3E}">
        <p14:creationId xmlns:p14="http://schemas.microsoft.com/office/powerpoint/2010/main" val="4236695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D4CEC-774A-2930-A5C7-0580000CB44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87047D6-2BE3-210A-A65C-EDFDAA8C0C44}"/>
              </a:ext>
            </a:extLst>
          </p:cNvPr>
          <p:cNvSpPr txBox="1"/>
          <p:nvPr/>
        </p:nvSpPr>
        <p:spPr>
          <a:xfrm>
            <a:off x="203200" y="244826"/>
            <a:ext cx="11822545" cy="4524315"/>
          </a:xfrm>
          <a:prstGeom prst="rect">
            <a:avLst/>
          </a:prstGeom>
          <a:noFill/>
        </p:spPr>
        <p:txBody>
          <a:bodyPr wrap="square">
            <a:spAutoFit/>
          </a:bodyPr>
          <a:lstStyle/>
          <a:p>
            <a:r>
              <a:rPr lang="en-US" sz="1200">
                <a:latin typeface="-apple-system"/>
              </a:rPr>
              <a:t>2. </a:t>
            </a:r>
            <a:r>
              <a:rPr lang="en-US" sz="1200" b="1">
                <a:solidFill>
                  <a:srgbClr val="FF0000"/>
                </a:solidFill>
                <a:latin typeface="-apple-system"/>
              </a:rPr>
              <a:t>Arguments (Arqumentlər) Nədir? </a:t>
            </a:r>
            <a:endParaRPr lang="az-Latn-AZ" sz="1200" b="1">
              <a:solidFill>
                <a:srgbClr val="FF0000"/>
              </a:solidFill>
              <a:latin typeface="-apple-system"/>
            </a:endParaRPr>
          </a:p>
          <a:p>
            <a:endParaRPr lang="az-Latn-AZ" sz="1200">
              <a:latin typeface="-apple-system"/>
            </a:endParaRPr>
          </a:p>
          <a:p>
            <a:r>
              <a:rPr lang="en-US" sz="1200">
                <a:latin typeface="-apple-system"/>
              </a:rPr>
              <a:t>Arguments, sorğuda hansı məlumatı dəqiqləşdirmək üçün istifadə olunur. Onlar fields</a:t>
            </a:r>
            <a:r>
              <a:rPr lang="az-Latn-AZ" sz="1200">
                <a:latin typeface="-apple-system"/>
              </a:rPr>
              <a:t> </a:t>
            </a:r>
            <a:r>
              <a:rPr lang="en-US" sz="1200">
                <a:latin typeface="-apple-system"/>
              </a:rPr>
              <a:t>-ə əlavə olunur və serverə “tam olaraq nə istədiyini” söyləyir.</a:t>
            </a:r>
            <a:endParaRPr lang="az-Latn-AZ" sz="1200">
              <a:latin typeface="-apple-system"/>
            </a:endParaRPr>
          </a:p>
          <a:p>
            <a:endParaRPr lang="az-Latn-AZ" sz="1200">
              <a:latin typeface="-apple-system"/>
            </a:endParaRPr>
          </a:p>
          <a:p>
            <a:r>
              <a:rPr lang="en-US" sz="1200" b="1"/>
              <a:t>GraphQL-də nümunə</a:t>
            </a:r>
            <a:r>
              <a:rPr lang="en-US" sz="1200"/>
              <a:t>:</a:t>
            </a:r>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t>Sorğu</a:t>
            </a:r>
            <a:r>
              <a:rPr lang="en-US" sz="1200"/>
              <a:t>:</a:t>
            </a:r>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a:t>Cavab</a:t>
            </a:r>
            <a:r>
              <a:rPr lang="en-US" sz="1200"/>
              <a:t>:</a:t>
            </a:r>
            <a:r>
              <a:rPr lang="az-Latn-AZ" sz="1200"/>
              <a:t> </a:t>
            </a:r>
            <a:r>
              <a:rPr lang="en-US" sz="1200"/>
              <a:t>Burada </a:t>
            </a:r>
            <a:r>
              <a:rPr lang="en-US" sz="1200" b="1" i="1"/>
              <a:t>id: "1" </a:t>
            </a:r>
            <a:r>
              <a:rPr lang="en-US" sz="1200"/>
              <a:t>arqumentdir, serverə hansı kitabı istədiyimizi göstərir.</a:t>
            </a:r>
          </a:p>
          <a:p>
            <a:endParaRPr lang="en-US" sz="1200"/>
          </a:p>
        </p:txBody>
      </p:sp>
      <p:pic>
        <p:nvPicPr>
          <p:cNvPr id="3" name="Picture 2">
            <a:extLst>
              <a:ext uri="{FF2B5EF4-FFF2-40B4-BE49-F238E27FC236}">
                <a16:creationId xmlns:a16="http://schemas.microsoft.com/office/drawing/2014/main" id="{49C8BD22-A81D-3DEA-C629-DB6BC7F38B9F}"/>
              </a:ext>
            </a:extLst>
          </p:cNvPr>
          <p:cNvPicPr>
            <a:picLocks noChangeAspect="1"/>
          </p:cNvPicPr>
          <p:nvPr/>
        </p:nvPicPr>
        <p:blipFill>
          <a:blip r:embed="rId2"/>
          <a:stretch>
            <a:fillRect/>
          </a:stretch>
        </p:blipFill>
        <p:spPr>
          <a:xfrm>
            <a:off x="203200" y="1330854"/>
            <a:ext cx="2343477" cy="704948"/>
          </a:xfrm>
          <a:prstGeom prst="rect">
            <a:avLst/>
          </a:prstGeom>
        </p:spPr>
      </p:pic>
      <p:pic>
        <p:nvPicPr>
          <p:cNvPr id="5" name="Picture 4">
            <a:extLst>
              <a:ext uri="{FF2B5EF4-FFF2-40B4-BE49-F238E27FC236}">
                <a16:creationId xmlns:a16="http://schemas.microsoft.com/office/drawing/2014/main" id="{7BCA3877-5C8B-7D9C-719E-C3BB890E7A25}"/>
              </a:ext>
            </a:extLst>
          </p:cNvPr>
          <p:cNvPicPr>
            <a:picLocks noChangeAspect="1"/>
          </p:cNvPicPr>
          <p:nvPr/>
        </p:nvPicPr>
        <p:blipFill>
          <a:blip r:embed="rId3"/>
          <a:stretch>
            <a:fillRect/>
          </a:stretch>
        </p:blipFill>
        <p:spPr>
          <a:xfrm>
            <a:off x="203200" y="2598903"/>
            <a:ext cx="1810003" cy="1428949"/>
          </a:xfrm>
          <a:prstGeom prst="rect">
            <a:avLst/>
          </a:prstGeom>
        </p:spPr>
      </p:pic>
      <p:pic>
        <p:nvPicPr>
          <p:cNvPr id="8" name="Picture 7">
            <a:extLst>
              <a:ext uri="{FF2B5EF4-FFF2-40B4-BE49-F238E27FC236}">
                <a16:creationId xmlns:a16="http://schemas.microsoft.com/office/drawing/2014/main" id="{7DB9009A-25A6-8328-13EF-0C522BCF3022}"/>
              </a:ext>
            </a:extLst>
          </p:cNvPr>
          <p:cNvPicPr>
            <a:picLocks noChangeAspect="1"/>
          </p:cNvPicPr>
          <p:nvPr/>
        </p:nvPicPr>
        <p:blipFill>
          <a:blip r:embed="rId4"/>
          <a:stretch>
            <a:fillRect/>
          </a:stretch>
        </p:blipFill>
        <p:spPr>
          <a:xfrm>
            <a:off x="203200" y="4563811"/>
            <a:ext cx="2391109" cy="1428949"/>
          </a:xfrm>
          <a:prstGeom prst="rect">
            <a:avLst/>
          </a:prstGeom>
        </p:spPr>
      </p:pic>
      <p:sp>
        <p:nvSpPr>
          <p:cNvPr id="10" name="TextBox 9">
            <a:extLst>
              <a:ext uri="{FF2B5EF4-FFF2-40B4-BE49-F238E27FC236}">
                <a16:creationId xmlns:a16="http://schemas.microsoft.com/office/drawing/2014/main" id="{C54E47D4-5A84-9197-E36F-CF7BDFC34655}"/>
              </a:ext>
            </a:extLst>
          </p:cNvPr>
          <p:cNvSpPr txBox="1"/>
          <p:nvPr/>
        </p:nvSpPr>
        <p:spPr>
          <a:xfrm>
            <a:off x="9402617" y="4839046"/>
            <a:ext cx="2253673" cy="369332"/>
          </a:xfrm>
          <a:prstGeom prst="rect">
            <a:avLst/>
          </a:prstGeom>
          <a:noFill/>
        </p:spPr>
        <p:txBody>
          <a:bodyPr wrap="square">
            <a:spAutoFit/>
          </a:bodyPr>
          <a:lstStyle/>
          <a:p>
            <a:pPr algn="ctr"/>
            <a:r>
              <a:rPr lang="en-US"/>
              <a:t>PHP-də</a:t>
            </a:r>
            <a:r>
              <a:rPr lang="az-Latn-AZ"/>
              <a:t> ( query.php )</a:t>
            </a:r>
            <a:r>
              <a:rPr lang="en-US"/>
              <a:t>:</a:t>
            </a:r>
          </a:p>
        </p:txBody>
      </p:sp>
      <p:pic>
        <p:nvPicPr>
          <p:cNvPr id="12" name="Picture 11">
            <a:extLst>
              <a:ext uri="{FF2B5EF4-FFF2-40B4-BE49-F238E27FC236}">
                <a16:creationId xmlns:a16="http://schemas.microsoft.com/office/drawing/2014/main" id="{853CD444-ACF2-1D95-01A5-6CF8FC3628C1}"/>
              </a:ext>
            </a:extLst>
          </p:cNvPr>
          <p:cNvPicPr>
            <a:picLocks noChangeAspect="1"/>
          </p:cNvPicPr>
          <p:nvPr/>
        </p:nvPicPr>
        <p:blipFill>
          <a:blip r:embed="rId5"/>
          <a:stretch>
            <a:fillRect/>
          </a:stretch>
        </p:blipFill>
        <p:spPr>
          <a:xfrm>
            <a:off x="8625868" y="5278284"/>
            <a:ext cx="3566131" cy="1579715"/>
          </a:xfrm>
          <a:prstGeom prst="rect">
            <a:avLst/>
          </a:prstGeom>
        </p:spPr>
      </p:pic>
    </p:spTree>
    <p:extLst>
      <p:ext uri="{BB962C8B-B14F-4D97-AF65-F5344CB8AC3E}">
        <p14:creationId xmlns:p14="http://schemas.microsoft.com/office/powerpoint/2010/main" val="1896151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6097A-0025-D6B6-6255-13B3199D23E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435B1F3-1B2C-79D6-0800-5C0E6ED18F33}"/>
              </a:ext>
            </a:extLst>
          </p:cNvPr>
          <p:cNvSpPr txBox="1"/>
          <p:nvPr/>
        </p:nvSpPr>
        <p:spPr>
          <a:xfrm>
            <a:off x="203200" y="244826"/>
            <a:ext cx="11822545" cy="6186309"/>
          </a:xfrm>
          <a:prstGeom prst="rect">
            <a:avLst/>
          </a:prstGeom>
          <a:noFill/>
        </p:spPr>
        <p:txBody>
          <a:bodyPr wrap="square">
            <a:spAutoFit/>
          </a:bodyPr>
          <a:lstStyle/>
          <a:p>
            <a:r>
              <a:rPr lang="en-US" sz="1200">
                <a:latin typeface="-apple-system"/>
              </a:rPr>
              <a:t>3. </a:t>
            </a:r>
            <a:r>
              <a:rPr lang="en-US" sz="1200" b="1">
                <a:solidFill>
                  <a:srgbClr val="FF0000"/>
                </a:solidFill>
                <a:latin typeface="-apple-system"/>
              </a:rPr>
              <a:t>Aliases (Ləqəblər) Nədir? </a:t>
            </a:r>
            <a:endParaRPr lang="az-Latn-AZ" sz="1200" b="1">
              <a:solidFill>
                <a:srgbClr val="FF0000"/>
              </a:solidFill>
              <a:latin typeface="-apple-system"/>
            </a:endParaRPr>
          </a:p>
          <a:p>
            <a:endParaRPr lang="az-Latn-AZ" sz="1200">
              <a:latin typeface="-apple-system"/>
            </a:endParaRPr>
          </a:p>
          <a:p>
            <a:r>
              <a:rPr lang="en-US" sz="1200">
                <a:latin typeface="-apple-system"/>
              </a:rPr>
              <a:t>Aliases, eyni field-i fərqli adlarla sorğulamağa imkan verir. Bu, eyni məlumatı fərqli arqumentlərlə birdən çox dəfə istəyərkən faydalıdır.</a:t>
            </a:r>
            <a:endParaRPr lang="az-Latn-AZ" sz="1200">
              <a:latin typeface="-apple-system"/>
            </a:endParaRPr>
          </a:p>
          <a:p>
            <a:endParaRPr lang="az-Latn-AZ" sz="1200">
              <a:latin typeface="-apple-system"/>
            </a:endParaRPr>
          </a:p>
          <a:p>
            <a:r>
              <a:rPr lang="en-US" sz="1200"/>
              <a:t>GraphQL-də nümunə:</a:t>
            </a:r>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a:t>Cavab:</a:t>
            </a:r>
            <a:r>
              <a:rPr lang="az-Latn-AZ" sz="1200"/>
              <a:t> </a:t>
            </a:r>
            <a:r>
              <a:rPr lang="en-US" sz="1200"/>
              <a:t>Burada </a:t>
            </a:r>
            <a:r>
              <a:rPr lang="en-US" sz="1200" b="1" i="1"/>
              <a:t>sevgiKitabi</a:t>
            </a:r>
            <a:r>
              <a:rPr lang="en-US" sz="1200"/>
              <a:t> və </a:t>
            </a:r>
            <a:r>
              <a:rPr lang="en-US" sz="1200" b="1" i="1"/>
              <a:t>maceraKitabi</a:t>
            </a:r>
            <a:r>
              <a:rPr lang="en-US" sz="1200"/>
              <a:t> aliases-dir. Eyni kitab field-i fərqli ID-lərlə iki dəfə çağırılır, amma fərqli adlarla.</a:t>
            </a:r>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b="1" i="1">
                <a:solidFill>
                  <a:srgbClr val="FF0000"/>
                </a:solidFill>
                <a:highlight>
                  <a:srgbClr val="FFFF00"/>
                </a:highlight>
              </a:rPr>
              <a:t>PHP-də: Aliases server tərəfində xüsusi kod tələb etmir, çünki GraphQL avtomatik idarə edir. </a:t>
            </a:r>
            <a:r>
              <a:rPr lang="az-Latn-AZ" sz="1200" b="1" i="1">
                <a:solidFill>
                  <a:srgbClr val="FF0000"/>
                </a:solidFill>
                <a:highlight>
                  <a:srgbClr val="FFFF00"/>
                </a:highlight>
              </a:rPr>
              <a:t>35ci slaydda olan</a:t>
            </a:r>
            <a:r>
              <a:rPr lang="en-US" sz="1200" b="1" i="1">
                <a:solidFill>
                  <a:srgbClr val="FF0000"/>
                </a:solidFill>
                <a:highlight>
                  <a:srgbClr val="FFFF00"/>
                </a:highlight>
              </a:rPr>
              <a:t> query.php eyni işləyər.</a:t>
            </a:r>
          </a:p>
        </p:txBody>
      </p:sp>
      <p:pic>
        <p:nvPicPr>
          <p:cNvPr id="3" name="Picture 2">
            <a:extLst>
              <a:ext uri="{FF2B5EF4-FFF2-40B4-BE49-F238E27FC236}">
                <a16:creationId xmlns:a16="http://schemas.microsoft.com/office/drawing/2014/main" id="{AADDDA10-792E-93AB-4F16-C464D50A53D3}"/>
              </a:ext>
            </a:extLst>
          </p:cNvPr>
          <p:cNvPicPr>
            <a:picLocks noChangeAspect="1"/>
          </p:cNvPicPr>
          <p:nvPr/>
        </p:nvPicPr>
        <p:blipFill>
          <a:blip r:embed="rId2"/>
          <a:stretch>
            <a:fillRect/>
          </a:stretch>
        </p:blipFill>
        <p:spPr>
          <a:xfrm>
            <a:off x="203200" y="1352097"/>
            <a:ext cx="1791855" cy="1381807"/>
          </a:xfrm>
          <a:prstGeom prst="rect">
            <a:avLst/>
          </a:prstGeom>
        </p:spPr>
      </p:pic>
      <p:pic>
        <p:nvPicPr>
          <p:cNvPr id="5" name="Picture 4">
            <a:extLst>
              <a:ext uri="{FF2B5EF4-FFF2-40B4-BE49-F238E27FC236}">
                <a16:creationId xmlns:a16="http://schemas.microsoft.com/office/drawing/2014/main" id="{3BA3DD11-0439-F7AE-24B7-75520726D67F}"/>
              </a:ext>
            </a:extLst>
          </p:cNvPr>
          <p:cNvPicPr>
            <a:picLocks noChangeAspect="1"/>
          </p:cNvPicPr>
          <p:nvPr/>
        </p:nvPicPr>
        <p:blipFill>
          <a:blip r:embed="rId3"/>
          <a:stretch>
            <a:fillRect/>
          </a:stretch>
        </p:blipFill>
        <p:spPr>
          <a:xfrm>
            <a:off x="203200" y="3314390"/>
            <a:ext cx="1607127" cy="1600699"/>
          </a:xfrm>
          <a:prstGeom prst="rect">
            <a:avLst/>
          </a:prstGeom>
        </p:spPr>
      </p:pic>
    </p:spTree>
    <p:extLst>
      <p:ext uri="{BB962C8B-B14F-4D97-AF65-F5344CB8AC3E}">
        <p14:creationId xmlns:p14="http://schemas.microsoft.com/office/powerpoint/2010/main" val="39663123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A30F6-0963-FB90-D714-C1F0B4CC574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2EE8E0D-1665-D615-06E6-B3DDC8DB077E}"/>
              </a:ext>
            </a:extLst>
          </p:cNvPr>
          <p:cNvSpPr txBox="1"/>
          <p:nvPr/>
        </p:nvSpPr>
        <p:spPr>
          <a:xfrm>
            <a:off x="203200" y="244826"/>
            <a:ext cx="11822545" cy="5355312"/>
          </a:xfrm>
          <a:prstGeom prst="rect">
            <a:avLst/>
          </a:prstGeom>
          <a:noFill/>
        </p:spPr>
        <p:txBody>
          <a:bodyPr wrap="square">
            <a:spAutoFit/>
          </a:bodyPr>
          <a:lstStyle/>
          <a:p>
            <a:r>
              <a:rPr lang="az-Latn-AZ">
                <a:latin typeface="-apple-system"/>
              </a:rPr>
              <a:t>Alias başqa nümunə: </a:t>
            </a: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endParaRPr lang="az-Latn-AZ">
              <a:latin typeface="-apple-system"/>
            </a:endParaRPr>
          </a:p>
          <a:p>
            <a:r>
              <a:rPr lang="az-Latn-AZ" b="1">
                <a:latin typeface="-apple-system"/>
              </a:rPr>
              <a:t>Users</a:t>
            </a:r>
            <a:r>
              <a:rPr lang="az-Latn-AZ">
                <a:latin typeface="-apple-system"/>
              </a:rPr>
              <a:t> cədvəlinin </a:t>
            </a:r>
            <a:r>
              <a:rPr lang="az-Latn-AZ" b="1">
                <a:latin typeface="-apple-system"/>
              </a:rPr>
              <a:t>name</a:t>
            </a:r>
            <a:r>
              <a:rPr lang="az-Latn-AZ">
                <a:latin typeface="-apple-system"/>
              </a:rPr>
              <a:t> və </a:t>
            </a:r>
            <a:r>
              <a:rPr lang="az-Latn-AZ" b="1">
                <a:latin typeface="-apple-system"/>
              </a:rPr>
              <a:t>descriptin</a:t>
            </a:r>
            <a:r>
              <a:rPr lang="az-Latn-AZ">
                <a:latin typeface="-apple-system"/>
              </a:rPr>
              <a:t> sahələri üçün </a:t>
            </a:r>
            <a:r>
              <a:rPr lang="az-Latn-AZ" b="1">
                <a:latin typeface="-apple-system"/>
              </a:rPr>
              <a:t>userName</a:t>
            </a:r>
            <a:r>
              <a:rPr lang="az-Latn-AZ">
                <a:latin typeface="-apple-system"/>
              </a:rPr>
              <a:t> və </a:t>
            </a:r>
            <a:r>
              <a:rPr lang="az-Latn-AZ" b="1">
                <a:latin typeface="-apple-system"/>
              </a:rPr>
              <a:t>userDescription</a:t>
            </a:r>
            <a:r>
              <a:rPr lang="az-Latn-AZ">
                <a:latin typeface="-apple-system"/>
              </a:rPr>
              <a:t> adlı </a:t>
            </a:r>
            <a:r>
              <a:rPr lang="az-Latn-AZ" b="1">
                <a:latin typeface="-apple-system"/>
              </a:rPr>
              <a:t>ALİAS</a:t>
            </a:r>
            <a:r>
              <a:rPr lang="az-Latn-AZ">
                <a:latin typeface="-apple-system"/>
              </a:rPr>
              <a:t> -lar təyin edilib.</a:t>
            </a:r>
          </a:p>
        </p:txBody>
      </p:sp>
      <p:pic>
        <p:nvPicPr>
          <p:cNvPr id="3" name="Picture 2">
            <a:extLst>
              <a:ext uri="{FF2B5EF4-FFF2-40B4-BE49-F238E27FC236}">
                <a16:creationId xmlns:a16="http://schemas.microsoft.com/office/drawing/2014/main" id="{2F3F449D-4BDB-FAB7-86C3-B59B575A7FA5}"/>
              </a:ext>
            </a:extLst>
          </p:cNvPr>
          <p:cNvPicPr>
            <a:picLocks noChangeAspect="1"/>
          </p:cNvPicPr>
          <p:nvPr/>
        </p:nvPicPr>
        <p:blipFill>
          <a:blip r:embed="rId2"/>
          <a:stretch>
            <a:fillRect/>
          </a:stretch>
        </p:blipFill>
        <p:spPr>
          <a:xfrm>
            <a:off x="136717" y="719220"/>
            <a:ext cx="3458058" cy="29626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DD7E0868-843F-F1E5-F1C0-55AB16750CC9}"/>
              </a:ext>
            </a:extLst>
          </p:cNvPr>
          <p:cNvPicPr>
            <a:picLocks noChangeAspect="1"/>
          </p:cNvPicPr>
          <p:nvPr/>
        </p:nvPicPr>
        <p:blipFill>
          <a:blip r:embed="rId3"/>
          <a:stretch>
            <a:fillRect/>
          </a:stretch>
        </p:blipFill>
        <p:spPr>
          <a:xfrm>
            <a:off x="5753171" y="84837"/>
            <a:ext cx="3105583" cy="44392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Arrow: Right 5">
            <a:extLst>
              <a:ext uri="{FF2B5EF4-FFF2-40B4-BE49-F238E27FC236}">
                <a16:creationId xmlns:a16="http://schemas.microsoft.com/office/drawing/2014/main" id="{F5778505-0441-82BB-4353-948B26C14FB1}"/>
              </a:ext>
            </a:extLst>
          </p:cNvPr>
          <p:cNvSpPr/>
          <p:nvPr/>
        </p:nvSpPr>
        <p:spPr>
          <a:xfrm>
            <a:off x="4410737" y="1881909"/>
            <a:ext cx="748145" cy="63730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09848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61826-73F7-5B64-DFE3-23E4455C369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140FD49-A61A-0FCD-914B-59C053EA0299}"/>
              </a:ext>
            </a:extLst>
          </p:cNvPr>
          <p:cNvSpPr txBox="1"/>
          <p:nvPr/>
        </p:nvSpPr>
        <p:spPr>
          <a:xfrm>
            <a:off x="203200" y="244826"/>
            <a:ext cx="11822545" cy="6555641"/>
          </a:xfrm>
          <a:prstGeom prst="rect">
            <a:avLst/>
          </a:prstGeom>
          <a:noFill/>
        </p:spPr>
        <p:txBody>
          <a:bodyPr wrap="square">
            <a:spAutoFit/>
          </a:bodyPr>
          <a:lstStyle/>
          <a:p>
            <a:r>
              <a:rPr lang="en-US" sz="1200" b="1"/>
              <a:t>4. </a:t>
            </a:r>
            <a:r>
              <a:rPr lang="en-US" sz="1200" b="1">
                <a:solidFill>
                  <a:srgbClr val="FF0000"/>
                </a:solidFill>
              </a:rPr>
              <a:t>Fragments (Fraqmentlər)</a:t>
            </a:r>
            <a:r>
              <a:rPr lang="az-Latn-AZ" sz="1200" b="1">
                <a:solidFill>
                  <a:srgbClr val="FF0000"/>
                </a:solidFill>
              </a:rPr>
              <a:t> </a:t>
            </a:r>
            <a:r>
              <a:rPr lang="en-US" sz="1200" b="1">
                <a:solidFill>
                  <a:srgbClr val="FF0000"/>
                </a:solidFill>
              </a:rPr>
              <a:t>Nədir?</a:t>
            </a:r>
            <a:r>
              <a:rPr lang="en-US" sz="1200">
                <a:solidFill>
                  <a:srgbClr val="FF0000"/>
                </a:solidFill>
              </a:rPr>
              <a:t> </a:t>
            </a:r>
            <a:endParaRPr lang="az-Latn-AZ" sz="1200">
              <a:solidFill>
                <a:srgbClr val="FF0000"/>
              </a:solidFill>
            </a:endParaRPr>
          </a:p>
          <a:p>
            <a:endParaRPr lang="az-Latn-AZ" sz="1200">
              <a:solidFill>
                <a:srgbClr val="FF0000"/>
              </a:solidFill>
            </a:endParaRPr>
          </a:p>
          <a:p>
            <a:r>
              <a:rPr lang="en-US" sz="1200"/>
              <a:t>Fragments, sorğuda təkrarlanan field-ləri bir dəfə yazmağa imkan verir. Bu, uzun sorğuları sadələşdirir və təkrar yazmağın qarşısını alır.</a:t>
            </a:r>
            <a:endParaRPr lang="az-Latn-AZ" sz="1200"/>
          </a:p>
          <a:p>
            <a:endParaRPr lang="az-Latn-AZ" sz="1200">
              <a:effectLst/>
            </a:endParaRPr>
          </a:p>
          <a:p>
            <a:r>
              <a:rPr lang="en-US" sz="1200"/>
              <a:t>GraphQL-də nümunə:</a:t>
            </a:r>
            <a:endParaRPr lang="az-Latn-AZ" sz="1200"/>
          </a:p>
          <a:p>
            <a:endParaRPr lang="az-Latn-AZ" sz="1200">
              <a:effectLst/>
            </a:endParaRPr>
          </a:p>
          <a:p>
            <a:endParaRPr lang="az-Latn-AZ" sz="1200"/>
          </a:p>
          <a:p>
            <a:endParaRPr lang="az-Latn-AZ" sz="1200">
              <a:effectLst/>
            </a:endParaRPr>
          </a:p>
          <a:p>
            <a:endParaRPr lang="az-Latn-AZ" sz="1200"/>
          </a:p>
          <a:p>
            <a:endParaRPr lang="az-Latn-AZ" sz="1200">
              <a:effectLst/>
            </a:endParaRPr>
          </a:p>
          <a:p>
            <a:endParaRPr lang="az-Latn-AZ" sz="1200"/>
          </a:p>
          <a:p>
            <a:endParaRPr lang="az-Latn-AZ" sz="1200">
              <a:effectLst/>
            </a:endParaRPr>
          </a:p>
          <a:p>
            <a:endParaRPr lang="az-Latn-AZ" sz="1200"/>
          </a:p>
          <a:p>
            <a:endParaRPr lang="az-Latn-AZ" sz="1200">
              <a:effectLst/>
            </a:endParaRPr>
          </a:p>
          <a:p>
            <a:endParaRPr lang="az-Latn-AZ" sz="1200"/>
          </a:p>
          <a:p>
            <a:endParaRPr lang="az-Latn-AZ" sz="1200">
              <a:effectLst/>
            </a:endParaRPr>
          </a:p>
          <a:p>
            <a:r>
              <a:rPr lang="en-US" sz="1200"/>
              <a:t>Cavab:</a:t>
            </a:r>
            <a:r>
              <a:rPr lang="az-Latn-AZ" sz="1200"/>
              <a:t> </a:t>
            </a:r>
            <a:r>
              <a:rPr lang="az-Latn-AZ" sz="1200" b="1" i="1"/>
              <a:t>KitabDetallari</a:t>
            </a:r>
            <a:r>
              <a:rPr lang="az-Latn-AZ" sz="1200"/>
              <a:t> fraqmentdir və təkrarlanan </a:t>
            </a:r>
          </a:p>
          <a:p>
            <a:r>
              <a:rPr lang="az-Latn-AZ" sz="1200"/>
              <a:t>sahələri (ad, qiymet, muellif) bir yerdə saxlayır.</a:t>
            </a:r>
            <a:endParaRPr lang="en-US" sz="1200"/>
          </a:p>
          <a:p>
            <a:endParaRPr lang="az-Latn-AZ" sz="1200">
              <a:effectLst/>
            </a:endParaRPr>
          </a:p>
          <a:p>
            <a:endParaRPr lang="az-Latn-AZ" sz="1200"/>
          </a:p>
          <a:p>
            <a:endParaRPr lang="az-Latn-AZ" sz="1200">
              <a:effectLst/>
            </a:endParaRPr>
          </a:p>
          <a:p>
            <a:endParaRPr lang="az-Latn-AZ" sz="1200"/>
          </a:p>
          <a:p>
            <a:endParaRPr lang="az-Latn-AZ" sz="1200">
              <a:effectLst/>
            </a:endParaRPr>
          </a:p>
          <a:p>
            <a:endParaRPr lang="az-Latn-AZ" sz="1200"/>
          </a:p>
          <a:p>
            <a:endParaRPr lang="az-Latn-AZ" sz="1200">
              <a:effectLst/>
            </a:endParaRPr>
          </a:p>
          <a:p>
            <a:endParaRPr lang="az-Latn-AZ" sz="1200"/>
          </a:p>
          <a:p>
            <a:endParaRPr lang="az-Latn-AZ" sz="1200">
              <a:effectLst/>
            </a:endParaRPr>
          </a:p>
          <a:p>
            <a:endParaRPr lang="az-Latn-AZ" sz="1200"/>
          </a:p>
          <a:p>
            <a:endParaRPr lang="az-Latn-AZ" sz="1200">
              <a:effectLst/>
            </a:endParaRPr>
          </a:p>
          <a:p>
            <a:endParaRPr lang="az-Latn-AZ" sz="1200">
              <a:effectLst/>
            </a:endParaRPr>
          </a:p>
          <a:p>
            <a:endParaRPr lang="az-Latn-AZ" sz="1200"/>
          </a:p>
          <a:p>
            <a:endParaRPr lang="az-Latn-AZ" sz="1200">
              <a:effectLst/>
            </a:endParaRPr>
          </a:p>
          <a:p>
            <a:r>
              <a:rPr lang="en-US" sz="1200" b="1">
                <a:solidFill>
                  <a:srgbClr val="FF0000"/>
                </a:solidFill>
                <a:highlight>
                  <a:srgbClr val="FFFF00"/>
                </a:highlight>
              </a:rPr>
              <a:t>PHP-də: Fraqmentlər server tərəfində xüsusi kod tələb etmir, çünki sorğu tərəfində (client) işləyir.</a:t>
            </a:r>
            <a:endParaRPr lang="az-Latn-AZ" sz="1200" b="1">
              <a:solidFill>
                <a:srgbClr val="FF0000"/>
              </a:solidFill>
              <a:highlight>
                <a:srgbClr val="FFFF00"/>
              </a:highlight>
            </a:endParaRPr>
          </a:p>
          <a:p>
            <a:endParaRPr lang="en-US" sz="1200">
              <a:effectLst/>
            </a:endParaRPr>
          </a:p>
        </p:txBody>
      </p:sp>
      <p:pic>
        <p:nvPicPr>
          <p:cNvPr id="3" name="Picture 2">
            <a:extLst>
              <a:ext uri="{FF2B5EF4-FFF2-40B4-BE49-F238E27FC236}">
                <a16:creationId xmlns:a16="http://schemas.microsoft.com/office/drawing/2014/main" id="{363156BA-98DD-433D-6256-DE0CBD2A1090}"/>
              </a:ext>
            </a:extLst>
          </p:cNvPr>
          <p:cNvPicPr>
            <a:picLocks noChangeAspect="1"/>
          </p:cNvPicPr>
          <p:nvPr/>
        </p:nvPicPr>
        <p:blipFill>
          <a:blip r:embed="rId2"/>
          <a:stretch>
            <a:fillRect/>
          </a:stretch>
        </p:blipFill>
        <p:spPr>
          <a:xfrm>
            <a:off x="203200" y="1331386"/>
            <a:ext cx="1581977" cy="1716614"/>
          </a:xfrm>
          <a:prstGeom prst="rect">
            <a:avLst/>
          </a:prstGeom>
        </p:spPr>
      </p:pic>
      <p:pic>
        <p:nvPicPr>
          <p:cNvPr id="5" name="Picture 4">
            <a:extLst>
              <a:ext uri="{FF2B5EF4-FFF2-40B4-BE49-F238E27FC236}">
                <a16:creationId xmlns:a16="http://schemas.microsoft.com/office/drawing/2014/main" id="{22E491C1-F5B9-ACC1-5E63-41E5AF5D0567}"/>
              </a:ext>
            </a:extLst>
          </p:cNvPr>
          <p:cNvPicPr>
            <a:picLocks noChangeAspect="1"/>
          </p:cNvPicPr>
          <p:nvPr/>
        </p:nvPicPr>
        <p:blipFill>
          <a:blip r:embed="rId3"/>
          <a:stretch>
            <a:fillRect/>
          </a:stretch>
        </p:blipFill>
        <p:spPr>
          <a:xfrm>
            <a:off x="203200" y="3655970"/>
            <a:ext cx="1581977" cy="1528891"/>
          </a:xfrm>
          <a:prstGeom prst="rect">
            <a:avLst/>
          </a:prstGeom>
        </p:spPr>
      </p:pic>
      <p:sp>
        <p:nvSpPr>
          <p:cNvPr id="8" name="TextBox 7">
            <a:extLst>
              <a:ext uri="{FF2B5EF4-FFF2-40B4-BE49-F238E27FC236}">
                <a16:creationId xmlns:a16="http://schemas.microsoft.com/office/drawing/2014/main" id="{2B92A895-F245-BBA3-4E2F-5DAF9BE8450A}"/>
              </a:ext>
            </a:extLst>
          </p:cNvPr>
          <p:cNvSpPr txBox="1"/>
          <p:nvPr/>
        </p:nvSpPr>
        <p:spPr>
          <a:xfrm>
            <a:off x="9688945" y="1242061"/>
            <a:ext cx="2216727" cy="4801314"/>
          </a:xfrm>
          <a:prstGeom prst="rect">
            <a:avLst/>
          </a:prstGeom>
          <a:noFill/>
        </p:spPr>
        <p:txBody>
          <a:bodyPr wrap="square">
            <a:spAutoFit/>
          </a:bodyPr>
          <a:lstStyle/>
          <a:p>
            <a:pPr algn="ctr"/>
            <a:r>
              <a:rPr lang="en-US" b="1"/>
              <a:t>Fraqmentsiz yazılış</a:t>
            </a:r>
            <a:r>
              <a:rPr lang="en-US"/>
              <a:t>:</a:t>
            </a:r>
            <a:endParaRPr lang="az-Latn-AZ"/>
          </a:p>
          <a:p>
            <a:pPr algn="ctr"/>
            <a:endParaRPr lang="az-Latn-AZ"/>
          </a:p>
          <a:p>
            <a:pPr algn="ctr"/>
            <a:endParaRPr lang="az-Latn-AZ"/>
          </a:p>
          <a:p>
            <a:pPr algn="ctr"/>
            <a:endParaRPr lang="az-Latn-AZ"/>
          </a:p>
          <a:p>
            <a:pPr algn="ctr"/>
            <a:endParaRPr lang="az-Latn-AZ"/>
          </a:p>
          <a:p>
            <a:pPr algn="ctr"/>
            <a:endParaRPr lang="az-Latn-AZ"/>
          </a:p>
          <a:p>
            <a:pPr algn="ctr"/>
            <a:endParaRPr lang="az-Latn-AZ"/>
          </a:p>
          <a:p>
            <a:pPr algn="ctr"/>
            <a:endParaRPr lang="az-Latn-AZ"/>
          </a:p>
          <a:p>
            <a:pPr algn="ctr"/>
            <a:endParaRPr lang="az-Latn-AZ"/>
          </a:p>
          <a:p>
            <a:pPr algn="ctr"/>
            <a:endParaRPr lang="az-Latn-AZ"/>
          </a:p>
          <a:p>
            <a:pPr algn="ctr"/>
            <a:endParaRPr lang="az-Latn-AZ"/>
          </a:p>
          <a:p>
            <a:pPr algn="ctr"/>
            <a:endParaRPr lang="az-Latn-AZ"/>
          </a:p>
          <a:p>
            <a:pPr algn="ctr"/>
            <a:endParaRPr lang="az-Latn-AZ"/>
          </a:p>
          <a:p>
            <a:pPr algn="ctr"/>
            <a:endParaRPr lang="az-Latn-AZ"/>
          </a:p>
          <a:p>
            <a:pPr algn="ctr"/>
            <a:endParaRPr lang="az-Latn-AZ"/>
          </a:p>
          <a:p>
            <a:pPr algn="ctr"/>
            <a:endParaRPr lang="az-Latn-AZ"/>
          </a:p>
          <a:p>
            <a:pPr algn="ctr"/>
            <a:r>
              <a:rPr lang="en-US" b="1"/>
              <a:t>Cavab (eyni qalır)</a:t>
            </a:r>
            <a:endParaRPr lang="en-US"/>
          </a:p>
        </p:txBody>
      </p:sp>
      <p:pic>
        <p:nvPicPr>
          <p:cNvPr id="10" name="Picture 9">
            <a:extLst>
              <a:ext uri="{FF2B5EF4-FFF2-40B4-BE49-F238E27FC236}">
                <a16:creationId xmlns:a16="http://schemas.microsoft.com/office/drawing/2014/main" id="{D875801C-C20F-02ED-4BA3-25B175121E14}"/>
              </a:ext>
            </a:extLst>
          </p:cNvPr>
          <p:cNvPicPr>
            <a:picLocks noChangeAspect="1"/>
          </p:cNvPicPr>
          <p:nvPr/>
        </p:nvPicPr>
        <p:blipFill>
          <a:blip r:embed="rId4"/>
          <a:stretch>
            <a:fillRect/>
          </a:stretch>
        </p:blipFill>
        <p:spPr>
          <a:xfrm>
            <a:off x="9577938" y="1780320"/>
            <a:ext cx="2438740" cy="3724795"/>
          </a:xfrm>
          <a:prstGeom prst="rect">
            <a:avLst/>
          </a:prstGeom>
        </p:spPr>
      </p:pic>
    </p:spTree>
    <p:extLst>
      <p:ext uri="{BB962C8B-B14F-4D97-AF65-F5344CB8AC3E}">
        <p14:creationId xmlns:p14="http://schemas.microsoft.com/office/powerpoint/2010/main" val="7394724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B87-FCD9-9EF5-AC68-68620D787E5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04C6869-7EE7-EC35-9844-5650B53B920B}"/>
              </a:ext>
            </a:extLst>
          </p:cNvPr>
          <p:cNvSpPr txBox="1"/>
          <p:nvPr/>
        </p:nvSpPr>
        <p:spPr>
          <a:xfrm>
            <a:off x="203200" y="244826"/>
            <a:ext cx="11822545" cy="4431983"/>
          </a:xfrm>
          <a:prstGeom prst="rect">
            <a:avLst/>
          </a:prstGeom>
          <a:noFill/>
        </p:spPr>
        <p:txBody>
          <a:bodyPr wrap="square">
            <a:spAutoFit/>
          </a:bodyPr>
          <a:lstStyle/>
          <a:p>
            <a:r>
              <a:rPr lang="en-US" sz="1200" b="1"/>
              <a:t>5. </a:t>
            </a:r>
            <a:r>
              <a:rPr lang="en-US" sz="1200" b="1">
                <a:solidFill>
                  <a:srgbClr val="FF0000"/>
                </a:solidFill>
              </a:rPr>
              <a:t>Variables (Dəyişənlər)</a:t>
            </a:r>
            <a:r>
              <a:rPr lang="az-Latn-AZ" sz="1200" b="1">
                <a:solidFill>
                  <a:srgbClr val="FF0000"/>
                </a:solidFill>
              </a:rPr>
              <a:t> </a:t>
            </a:r>
            <a:r>
              <a:rPr lang="en-US" sz="1200" b="1">
                <a:solidFill>
                  <a:srgbClr val="FF0000"/>
                </a:solidFill>
              </a:rPr>
              <a:t>Nədir? </a:t>
            </a:r>
            <a:endParaRPr lang="az-Latn-AZ" sz="1200" b="1">
              <a:solidFill>
                <a:srgbClr val="FF0000"/>
              </a:solidFill>
            </a:endParaRPr>
          </a:p>
          <a:p>
            <a:endParaRPr lang="az-Latn-AZ" sz="1200"/>
          </a:p>
          <a:p>
            <a:r>
              <a:rPr lang="en-US" sz="1200"/>
              <a:t>Variables, sorğularda arqumentləri dinamik şəkildə göndərməyə imkan verir. Arqumentləri birbaşa sorğuya yazmaq əvəzinə, dəyişənlərə qoyursunuz və sonra dəyərləri JSON formatında göndərirsiniz.</a:t>
            </a:r>
            <a:endParaRPr lang="az-Latn-AZ" sz="1200"/>
          </a:p>
          <a:p>
            <a:endParaRPr lang="az-Latn-AZ" sz="1200">
              <a:effectLst/>
            </a:endParaRPr>
          </a:p>
          <a:p>
            <a:r>
              <a:rPr lang="en-US" sz="1200"/>
              <a:t>GraphQL-də nümunə:</a:t>
            </a:r>
          </a:p>
          <a:p>
            <a:endParaRPr lang="az-Latn-AZ" sz="1200">
              <a:effectLst/>
            </a:endParaRPr>
          </a:p>
          <a:p>
            <a:endParaRPr lang="az-Latn-AZ" sz="1200"/>
          </a:p>
          <a:p>
            <a:endParaRPr lang="az-Latn-AZ" sz="1200">
              <a:effectLst/>
            </a:endParaRPr>
          </a:p>
          <a:p>
            <a:endParaRPr lang="az-Latn-AZ" sz="1200"/>
          </a:p>
          <a:p>
            <a:endParaRPr lang="az-Latn-AZ" sz="1200">
              <a:effectLst/>
            </a:endParaRPr>
          </a:p>
          <a:p>
            <a:endParaRPr lang="az-Latn-AZ" sz="1200"/>
          </a:p>
          <a:p>
            <a:endParaRPr lang="az-Latn-AZ" sz="1200">
              <a:effectLst/>
            </a:endParaRPr>
          </a:p>
          <a:p>
            <a:endParaRPr lang="az-Latn-AZ" sz="1200"/>
          </a:p>
          <a:p>
            <a:r>
              <a:rPr lang="en-US" sz="1200"/>
              <a:t>Dəyişənlər (JSON):</a:t>
            </a:r>
          </a:p>
          <a:p>
            <a:endParaRPr lang="az-Latn-AZ" sz="1200">
              <a:effectLst/>
            </a:endParaRPr>
          </a:p>
          <a:p>
            <a:endParaRPr lang="az-Latn-AZ" sz="1200"/>
          </a:p>
          <a:p>
            <a:endParaRPr lang="az-Latn-AZ" sz="1200">
              <a:effectLst/>
            </a:endParaRPr>
          </a:p>
          <a:p>
            <a:endParaRPr lang="az-Latn-AZ" sz="1200"/>
          </a:p>
          <a:p>
            <a:endParaRPr lang="az-Latn-AZ" sz="1200">
              <a:effectLst/>
            </a:endParaRPr>
          </a:p>
          <a:p>
            <a:endParaRPr lang="az-Latn-AZ" sz="1200"/>
          </a:p>
          <a:p>
            <a:r>
              <a:rPr lang="en-US" sz="1200"/>
              <a:t>Cavab:</a:t>
            </a:r>
            <a:r>
              <a:rPr lang="az-Latn-AZ" sz="1200"/>
              <a:t> Burada </a:t>
            </a:r>
            <a:r>
              <a:rPr lang="az-Latn-AZ" sz="1200" b="1" i="1"/>
              <a:t>$kitabId </a:t>
            </a:r>
            <a:r>
              <a:rPr lang="az-Latn-AZ" sz="1200"/>
              <a:t>dəyişəndir. Sorğunun strukturu dəyişmir, yalnız dəyişənin dəyəri dəyişir.</a:t>
            </a:r>
            <a:endParaRPr lang="en-US" sz="1200"/>
          </a:p>
          <a:p>
            <a:endParaRPr lang="en-US" sz="1200">
              <a:effectLst/>
            </a:endParaRPr>
          </a:p>
        </p:txBody>
      </p:sp>
      <p:pic>
        <p:nvPicPr>
          <p:cNvPr id="3" name="Picture 2">
            <a:extLst>
              <a:ext uri="{FF2B5EF4-FFF2-40B4-BE49-F238E27FC236}">
                <a16:creationId xmlns:a16="http://schemas.microsoft.com/office/drawing/2014/main" id="{B0D96D52-35F5-CB1F-4A41-9116A648DCB3}"/>
              </a:ext>
            </a:extLst>
          </p:cNvPr>
          <p:cNvPicPr>
            <a:picLocks noChangeAspect="1"/>
          </p:cNvPicPr>
          <p:nvPr/>
        </p:nvPicPr>
        <p:blipFill>
          <a:blip r:embed="rId2"/>
          <a:stretch>
            <a:fillRect/>
          </a:stretch>
        </p:blipFill>
        <p:spPr>
          <a:xfrm>
            <a:off x="203201" y="1454487"/>
            <a:ext cx="2179782" cy="1029539"/>
          </a:xfrm>
          <a:prstGeom prst="rect">
            <a:avLst/>
          </a:prstGeom>
        </p:spPr>
      </p:pic>
      <p:pic>
        <p:nvPicPr>
          <p:cNvPr id="5" name="Picture 4">
            <a:extLst>
              <a:ext uri="{FF2B5EF4-FFF2-40B4-BE49-F238E27FC236}">
                <a16:creationId xmlns:a16="http://schemas.microsoft.com/office/drawing/2014/main" id="{D294546E-450D-3D34-5E52-9E8078933994}"/>
              </a:ext>
            </a:extLst>
          </p:cNvPr>
          <p:cNvPicPr>
            <a:picLocks noChangeAspect="1"/>
          </p:cNvPicPr>
          <p:nvPr/>
        </p:nvPicPr>
        <p:blipFill>
          <a:blip r:embed="rId3"/>
          <a:stretch>
            <a:fillRect/>
          </a:stretch>
        </p:blipFill>
        <p:spPr>
          <a:xfrm>
            <a:off x="203199" y="3104763"/>
            <a:ext cx="1533739" cy="800212"/>
          </a:xfrm>
          <a:prstGeom prst="rect">
            <a:avLst/>
          </a:prstGeom>
        </p:spPr>
      </p:pic>
      <p:pic>
        <p:nvPicPr>
          <p:cNvPr id="8" name="Picture 7">
            <a:extLst>
              <a:ext uri="{FF2B5EF4-FFF2-40B4-BE49-F238E27FC236}">
                <a16:creationId xmlns:a16="http://schemas.microsoft.com/office/drawing/2014/main" id="{ADBF9B4E-F3DC-FCD7-CDFC-F3C68C0C3C3B}"/>
              </a:ext>
            </a:extLst>
          </p:cNvPr>
          <p:cNvPicPr>
            <a:picLocks noChangeAspect="1"/>
          </p:cNvPicPr>
          <p:nvPr/>
        </p:nvPicPr>
        <p:blipFill>
          <a:blip r:embed="rId4"/>
          <a:stretch>
            <a:fillRect/>
          </a:stretch>
        </p:blipFill>
        <p:spPr>
          <a:xfrm>
            <a:off x="203199" y="4373975"/>
            <a:ext cx="2324424" cy="1409897"/>
          </a:xfrm>
          <a:prstGeom prst="rect">
            <a:avLst/>
          </a:prstGeom>
        </p:spPr>
      </p:pic>
      <p:sp>
        <p:nvSpPr>
          <p:cNvPr id="10" name="TextBox 9">
            <a:extLst>
              <a:ext uri="{FF2B5EF4-FFF2-40B4-BE49-F238E27FC236}">
                <a16:creationId xmlns:a16="http://schemas.microsoft.com/office/drawing/2014/main" id="{10F57BB6-366F-6EE8-ED34-A436DD103AFE}"/>
              </a:ext>
            </a:extLst>
          </p:cNvPr>
          <p:cNvSpPr txBox="1"/>
          <p:nvPr/>
        </p:nvSpPr>
        <p:spPr>
          <a:xfrm>
            <a:off x="8418946" y="5526087"/>
            <a:ext cx="3066471" cy="369332"/>
          </a:xfrm>
          <a:prstGeom prst="rect">
            <a:avLst/>
          </a:prstGeom>
          <a:noFill/>
        </p:spPr>
        <p:txBody>
          <a:bodyPr wrap="square">
            <a:spAutoFit/>
          </a:bodyPr>
          <a:lstStyle/>
          <a:p>
            <a:pPr algn="ctr"/>
            <a:r>
              <a:rPr lang="en-US">
                <a:effectLst/>
              </a:rPr>
              <a:t>PHP-də</a:t>
            </a:r>
            <a:r>
              <a:rPr lang="az-Latn-AZ">
                <a:effectLst/>
              </a:rPr>
              <a:t> ( </a:t>
            </a:r>
            <a:r>
              <a:rPr lang="en-US"/>
              <a:t>execute_query.php</a:t>
            </a:r>
            <a:r>
              <a:rPr lang="az-Latn-AZ"/>
              <a:t> </a:t>
            </a:r>
            <a:r>
              <a:rPr lang="az-Latn-AZ">
                <a:effectLst/>
              </a:rPr>
              <a:t>)</a:t>
            </a:r>
            <a:r>
              <a:rPr lang="en-US">
                <a:effectLst/>
              </a:rPr>
              <a:t>:</a:t>
            </a:r>
          </a:p>
        </p:txBody>
      </p:sp>
      <p:pic>
        <p:nvPicPr>
          <p:cNvPr id="12" name="Picture 11">
            <a:extLst>
              <a:ext uri="{FF2B5EF4-FFF2-40B4-BE49-F238E27FC236}">
                <a16:creationId xmlns:a16="http://schemas.microsoft.com/office/drawing/2014/main" id="{52EB2FEA-71C6-9417-1F18-353D9F13684C}"/>
              </a:ext>
            </a:extLst>
          </p:cNvPr>
          <p:cNvPicPr>
            <a:picLocks noChangeAspect="1"/>
          </p:cNvPicPr>
          <p:nvPr/>
        </p:nvPicPr>
        <p:blipFill>
          <a:blip r:embed="rId5"/>
          <a:stretch>
            <a:fillRect/>
          </a:stretch>
        </p:blipFill>
        <p:spPr>
          <a:xfrm>
            <a:off x="7712364" y="6088596"/>
            <a:ext cx="4479636" cy="769403"/>
          </a:xfrm>
          <a:prstGeom prst="rect">
            <a:avLst/>
          </a:prstGeom>
        </p:spPr>
      </p:pic>
    </p:spTree>
    <p:extLst>
      <p:ext uri="{BB962C8B-B14F-4D97-AF65-F5344CB8AC3E}">
        <p14:creationId xmlns:p14="http://schemas.microsoft.com/office/powerpoint/2010/main" val="3397500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83601-35EE-A41E-3101-DF21E97ACF5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113D575-82AB-BCA6-A78F-4034562B4EB4}"/>
              </a:ext>
            </a:extLst>
          </p:cNvPr>
          <p:cNvSpPr txBox="1"/>
          <p:nvPr/>
        </p:nvSpPr>
        <p:spPr>
          <a:xfrm>
            <a:off x="203200" y="244826"/>
            <a:ext cx="11822545" cy="6370975"/>
          </a:xfrm>
          <a:prstGeom prst="rect">
            <a:avLst/>
          </a:prstGeom>
          <a:noFill/>
        </p:spPr>
        <p:txBody>
          <a:bodyPr wrap="square">
            <a:spAutoFit/>
          </a:bodyPr>
          <a:lstStyle/>
          <a:p>
            <a:r>
              <a:rPr lang="en-US" sz="1200">
                <a:latin typeface="-apple-system"/>
              </a:rPr>
              <a:t>6. </a:t>
            </a:r>
            <a:r>
              <a:rPr lang="en-US" sz="1200" b="1">
                <a:solidFill>
                  <a:srgbClr val="FF0000"/>
                </a:solidFill>
                <a:latin typeface="-apple-system"/>
              </a:rPr>
              <a:t>Directives (Direktivlər) Nədir? </a:t>
            </a:r>
            <a:endParaRPr lang="az-Latn-AZ" sz="1200" b="1">
              <a:solidFill>
                <a:srgbClr val="FF0000"/>
              </a:solidFill>
              <a:latin typeface="-apple-system"/>
            </a:endParaRPr>
          </a:p>
          <a:p>
            <a:endParaRPr lang="az-Latn-AZ" sz="1200">
              <a:latin typeface="-apple-system"/>
            </a:endParaRPr>
          </a:p>
          <a:p>
            <a:r>
              <a:rPr lang="en-US" sz="1200" b="1">
                <a:latin typeface="-apple-system"/>
              </a:rPr>
              <a:t>Directives</a:t>
            </a:r>
            <a:r>
              <a:rPr lang="en-US" sz="1200">
                <a:latin typeface="-apple-system"/>
              </a:rPr>
              <a:t>, sorğuların və ya schemanın davranışını dəyişdirmək üçün istifadə olunan xüsusi təlimatlardır. Ən çox istifadə olunan direktivlər: </a:t>
            </a:r>
            <a:r>
              <a:rPr lang="en-US" sz="1200" b="1" i="1">
                <a:solidFill>
                  <a:srgbClr val="00B050"/>
                </a:solidFill>
                <a:latin typeface="-apple-system"/>
              </a:rPr>
              <a:t>@include </a:t>
            </a:r>
            <a:r>
              <a:rPr lang="en-US" sz="1200">
                <a:latin typeface="-apple-system"/>
              </a:rPr>
              <a:t>və </a:t>
            </a:r>
            <a:r>
              <a:rPr lang="en-US" sz="1200" b="1" i="1">
                <a:solidFill>
                  <a:srgbClr val="00B050"/>
                </a:solidFill>
                <a:latin typeface="-apple-system"/>
              </a:rPr>
              <a:t>@skip</a:t>
            </a:r>
            <a:r>
              <a:rPr lang="en-US" sz="1200">
                <a:latin typeface="-apple-system"/>
              </a:rPr>
              <a:t>. Bunlar müəyyən sahələri şərtə bağlı olaraq sorğuya daxil etməyə və ya çıxarmağa imkan verir.</a:t>
            </a:r>
            <a:endParaRPr lang="az-Latn-AZ" sz="1200">
              <a:latin typeface="-apple-system"/>
            </a:endParaRPr>
          </a:p>
          <a:p>
            <a:endParaRPr lang="az-Latn-AZ" sz="1200">
              <a:latin typeface="-apple-system"/>
            </a:endParaRPr>
          </a:p>
          <a:p>
            <a:r>
              <a:rPr lang="en-US" sz="1200"/>
              <a:t>GraphQL-də nümunə:</a:t>
            </a:r>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a:t>Dəyişənlər:</a:t>
            </a:r>
            <a:endParaRPr lang="az-Latn-AZ" sz="1200"/>
          </a:p>
          <a:p>
            <a:endParaRPr lang="az-Latn-AZ" sz="1200"/>
          </a:p>
          <a:p>
            <a:endParaRPr lang="az-Latn-AZ" sz="1200"/>
          </a:p>
          <a:p>
            <a:endParaRPr lang="az-Latn-AZ" sz="1200"/>
          </a:p>
          <a:p>
            <a:endParaRPr lang="az-Latn-AZ" sz="1200"/>
          </a:p>
          <a:p>
            <a:endParaRPr lang="az-Latn-AZ" sz="1200"/>
          </a:p>
          <a:p>
            <a:r>
              <a:rPr lang="en-US" sz="1200"/>
              <a:t>Cavab:</a:t>
            </a:r>
            <a:r>
              <a:rPr lang="az-Latn-AZ" sz="1200"/>
              <a:t> Əgər </a:t>
            </a:r>
            <a:r>
              <a:rPr lang="az-Latn-AZ" sz="1200" b="1" i="1"/>
              <a:t>gosterMuellif</a:t>
            </a:r>
            <a:r>
              <a:rPr lang="az-Latn-AZ" sz="1200"/>
              <a:t>: </a:t>
            </a:r>
            <a:r>
              <a:rPr lang="az-Latn-AZ" sz="1200" b="1" i="1"/>
              <a:t>false</a:t>
            </a:r>
            <a:r>
              <a:rPr lang="az-Latn-AZ" sz="1200"/>
              <a:t> olarsa, </a:t>
            </a:r>
            <a:r>
              <a:rPr lang="az-Latn-AZ" sz="1200" b="1"/>
              <a:t>muellif</a:t>
            </a:r>
            <a:r>
              <a:rPr lang="az-Latn-AZ" sz="1200"/>
              <a:t> sahəsi gəlməz.</a:t>
            </a:r>
            <a:endParaRPr lang="en-US"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endParaRPr lang="az-Latn-AZ" sz="1200"/>
          </a:p>
          <a:p>
            <a:r>
              <a:rPr lang="en-US" sz="1200">
                <a:highlight>
                  <a:srgbClr val="FFFF00"/>
                </a:highlight>
              </a:rPr>
              <a:t>PHP-də: Standart direktivlər (@include, @skip) GraphQL tərəfindən </a:t>
            </a:r>
            <a:r>
              <a:rPr lang="en-US" sz="1200" b="1">
                <a:highlight>
                  <a:srgbClr val="FFFF00"/>
                </a:highlight>
              </a:rPr>
              <a:t>avtomatik</a:t>
            </a:r>
            <a:r>
              <a:rPr lang="en-US" sz="1200">
                <a:highlight>
                  <a:srgbClr val="FFFF00"/>
                </a:highlight>
              </a:rPr>
              <a:t> dəstəklənir. Xüsusi direktivlər üçün (məsələn, </a:t>
            </a:r>
            <a:r>
              <a:rPr lang="en-US" sz="1200" b="1" i="1">
                <a:highlight>
                  <a:srgbClr val="FFFF00"/>
                </a:highlight>
              </a:rPr>
              <a:t>@auth</a:t>
            </a:r>
            <a:r>
              <a:rPr lang="en-US" sz="1200">
                <a:highlight>
                  <a:srgbClr val="FFFF00"/>
                </a:highlight>
              </a:rPr>
              <a:t>) </a:t>
            </a:r>
            <a:r>
              <a:rPr lang="en-US" sz="1200" b="1">
                <a:solidFill>
                  <a:srgbClr val="C00000"/>
                </a:solidFill>
                <a:highlight>
                  <a:srgbClr val="FFFF00"/>
                </a:highlight>
              </a:rPr>
              <a:t>Lighthouse</a:t>
            </a:r>
            <a:r>
              <a:rPr lang="en-US" sz="1200">
                <a:highlight>
                  <a:srgbClr val="FFFF00"/>
                </a:highlight>
              </a:rPr>
              <a:t> kimi alətlərdən istifadə olunur:</a:t>
            </a:r>
            <a:endParaRPr lang="az-Latn-AZ" sz="1200">
              <a:highlight>
                <a:srgbClr val="FFFF00"/>
              </a:highlight>
            </a:endParaRPr>
          </a:p>
          <a:p>
            <a:endParaRPr lang="en-US" sz="1200"/>
          </a:p>
        </p:txBody>
      </p:sp>
      <p:pic>
        <p:nvPicPr>
          <p:cNvPr id="3" name="Picture 2">
            <a:extLst>
              <a:ext uri="{FF2B5EF4-FFF2-40B4-BE49-F238E27FC236}">
                <a16:creationId xmlns:a16="http://schemas.microsoft.com/office/drawing/2014/main" id="{915165A1-D5F2-6CBF-4CEE-618D0DB228AE}"/>
              </a:ext>
            </a:extLst>
          </p:cNvPr>
          <p:cNvPicPr>
            <a:picLocks noChangeAspect="1"/>
          </p:cNvPicPr>
          <p:nvPr/>
        </p:nvPicPr>
        <p:blipFill>
          <a:blip r:embed="rId2"/>
          <a:stretch>
            <a:fillRect/>
          </a:stretch>
        </p:blipFill>
        <p:spPr>
          <a:xfrm>
            <a:off x="203200" y="1528282"/>
            <a:ext cx="3713018" cy="1437951"/>
          </a:xfrm>
          <a:prstGeom prst="rect">
            <a:avLst/>
          </a:prstGeom>
        </p:spPr>
      </p:pic>
      <p:pic>
        <p:nvPicPr>
          <p:cNvPr id="5" name="Picture 4">
            <a:extLst>
              <a:ext uri="{FF2B5EF4-FFF2-40B4-BE49-F238E27FC236}">
                <a16:creationId xmlns:a16="http://schemas.microsoft.com/office/drawing/2014/main" id="{212E5BD6-98F1-D8A0-1D8E-A00EF304DA8A}"/>
              </a:ext>
            </a:extLst>
          </p:cNvPr>
          <p:cNvPicPr>
            <a:picLocks noChangeAspect="1"/>
          </p:cNvPicPr>
          <p:nvPr/>
        </p:nvPicPr>
        <p:blipFill>
          <a:blip r:embed="rId3"/>
          <a:stretch>
            <a:fillRect/>
          </a:stretch>
        </p:blipFill>
        <p:spPr>
          <a:xfrm>
            <a:off x="203200" y="3476480"/>
            <a:ext cx="1487055" cy="602514"/>
          </a:xfrm>
          <a:prstGeom prst="rect">
            <a:avLst/>
          </a:prstGeom>
        </p:spPr>
      </p:pic>
      <p:pic>
        <p:nvPicPr>
          <p:cNvPr id="8" name="Picture 7">
            <a:extLst>
              <a:ext uri="{FF2B5EF4-FFF2-40B4-BE49-F238E27FC236}">
                <a16:creationId xmlns:a16="http://schemas.microsoft.com/office/drawing/2014/main" id="{1492CA40-7BF9-B919-B0EA-37367FA93144}"/>
              </a:ext>
            </a:extLst>
          </p:cNvPr>
          <p:cNvPicPr>
            <a:picLocks noChangeAspect="1"/>
          </p:cNvPicPr>
          <p:nvPr/>
        </p:nvPicPr>
        <p:blipFill>
          <a:blip r:embed="rId4"/>
          <a:stretch>
            <a:fillRect/>
          </a:stretch>
        </p:blipFill>
        <p:spPr>
          <a:xfrm>
            <a:off x="203201" y="4572570"/>
            <a:ext cx="1838036" cy="1026595"/>
          </a:xfrm>
          <a:prstGeom prst="rect">
            <a:avLst/>
          </a:prstGeom>
        </p:spPr>
      </p:pic>
      <p:pic>
        <p:nvPicPr>
          <p:cNvPr id="10" name="Picture 9">
            <a:extLst>
              <a:ext uri="{FF2B5EF4-FFF2-40B4-BE49-F238E27FC236}">
                <a16:creationId xmlns:a16="http://schemas.microsoft.com/office/drawing/2014/main" id="{8E05E3C8-7814-0C80-A825-FAC9277A33B6}"/>
              </a:ext>
            </a:extLst>
          </p:cNvPr>
          <p:cNvPicPr>
            <a:picLocks noChangeAspect="1"/>
          </p:cNvPicPr>
          <p:nvPr/>
        </p:nvPicPr>
        <p:blipFill>
          <a:blip r:embed="rId5"/>
          <a:stretch>
            <a:fillRect/>
          </a:stretch>
        </p:blipFill>
        <p:spPr>
          <a:xfrm>
            <a:off x="9938327" y="6192442"/>
            <a:ext cx="2253673" cy="665558"/>
          </a:xfrm>
          <a:prstGeom prst="rect">
            <a:avLst/>
          </a:prstGeom>
        </p:spPr>
      </p:pic>
    </p:spTree>
    <p:extLst>
      <p:ext uri="{BB962C8B-B14F-4D97-AF65-F5344CB8AC3E}">
        <p14:creationId xmlns:p14="http://schemas.microsoft.com/office/powerpoint/2010/main" val="39953303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5CE49-66F6-D9E3-3E7B-3F2F1CD157A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5FFC81D-054C-E085-FBE3-67A5292AE3C2}"/>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14118258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3C7D9-CE5C-3365-169D-06D2C86BE18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48DF610-9001-0AEA-93EA-386C81F7BA0B}"/>
              </a:ext>
            </a:extLst>
          </p:cNvPr>
          <p:cNvSpPr txBox="1"/>
          <p:nvPr/>
        </p:nvSpPr>
        <p:spPr>
          <a:xfrm>
            <a:off x="203200" y="244826"/>
            <a:ext cx="11822545" cy="923330"/>
          </a:xfrm>
          <a:prstGeom prst="rect">
            <a:avLst/>
          </a:prstGeom>
          <a:noFill/>
        </p:spPr>
        <p:txBody>
          <a:bodyPr wrap="square">
            <a:spAutoFit/>
          </a:bodyPr>
          <a:lstStyle/>
          <a:p>
            <a:r>
              <a:rPr lang="az-Latn-AZ">
                <a:latin typeface="-apple-system"/>
              </a:rPr>
              <a:t>Teoriyadan sonra Praktikaya keçək ancaq ola bilərki biraz uzun çəksin.</a:t>
            </a:r>
          </a:p>
          <a:p>
            <a:endParaRPr lang="az-Latn-AZ">
              <a:latin typeface="-apple-system"/>
            </a:endParaRPr>
          </a:p>
          <a:p>
            <a:r>
              <a:rPr lang="az-Latn-AZ">
                <a:latin typeface="-apple-system"/>
              </a:rPr>
              <a:t>Əgər </a:t>
            </a:r>
            <a:r>
              <a:rPr lang="az-Latn-AZ" b="1">
                <a:latin typeface="-apple-system"/>
              </a:rPr>
              <a:t>Vscode</a:t>
            </a:r>
            <a:r>
              <a:rPr lang="az-Latn-AZ">
                <a:latin typeface="-apple-system"/>
              </a:rPr>
              <a:t> -da işləyəcəyiksə onda bizə belə bir </a:t>
            </a:r>
            <a:r>
              <a:rPr lang="az-Latn-AZ" b="1">
                <a:latin typeface="-apple-system"/>
              </a:rPr>
              <a:t>Extension</a:t>
            </a:r>
            <a:r>
              <a:rPr lang="az-Latn-AZ">
                <a:latin typeface="-apple-system"/>
              </a:rPr>
              <a:t> lazımdır.</a:t>
            </a:r>
            <a:endParaRPr lang="en-US"/>
          </a:p>
        </p:txBody>
      </p:sp>
      <p:pic>
        <p:nvPicPr>
          <p:cNvPr id="3" name="Picture 2">
            <a:extLst>
              <a:ext uri="{FF2B5EF4-FFF2-40B4-BE49-F238E27FC236}">
                <a16:creationId xmlns:a16="http://schemas.microsoft.com/office/drawing/2014/main" id="{2D0EC875-A4E1-112E-648D-E54969B01868}"/>
              </a:ext>
            </a:extLst>
          </p:cNvPr>
          <p:cNvPicPr>
            <a:picLocks noChangeAspect="1"/>
          </p:cNvPicPr>
          <p:nvPr/>
        </p:nvPicPr>
        <p:blipFill>
          <a:blip r:embed="rId2"/>
          <a:stretch>
            <a:fillRect/>
          </a:stretch>
        </p:blipFill>
        <p:spPr>
          <a:xfrm>
            <a:off x="2960448" y="1893455"/>
            <a:ext cx="9231552" cy="4964545"/>
          </a:xfrm>
          <a:prstGeom prst="rect">
            <a:avLst/>
          </a:prstGeom>
        </p:spPr>
      </p:pic>
    </p:spTree>
    <p:extLst>
      <p:ext uri="{BB962C8B-B14F-4D97-AF65-F5344CB8AC3E}">
        <p14:creationId xmlns:p14="http://schemas.microsoft.com/office/powerpoint/2010/main" val="845744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94DA6-F92D-49ED-A679-2A90E65F102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9DD29F6-C880-29A0-7ACC-3DD4D6D0EBE9}"/>
              </a:ext>
            </a:extLst>
          </p:cNvPr>
          <p:cNvSpPr txBox="1"/>
          <p:nvPr/>
        </p:nvSpPr>
        <p:spPr>
          <a:xfrm>
            <a:off x="203200" y="244826"/>
            <a:ext cx="11822545" cy="338554"/>
          </a:xfrm>
          <a:prstGeom prst="rect">
            <a:avLst/>
          </a:prstGeom>
          <a:noFill/>
        </p:spPr>
        <p:txBody>
          <a:bodyPr wrap="square">
            <a:spAutoFit/>
          </a:bodyPr>
          <a:lstStyle/>
          <a:p>
            <a:r>
              <a:rPr lang="az-Latn-AZ" sz="1600">
                <a:latin typeface="-apple-system"/>
              </a:rPr>
              <a:t>Extension ilə və olmadan kod nümunəsi aşağıdakı kimi görsənəcək. Hələki bu kodlarını hansı faylda yaratdığımıza fikir verməyin.</a:t>
            </a:r>
            <a:endParaRPr lang="en-US" sz="1600"/>
          </a:p>
        </p:txBody>
      </p:sp>
      <p:pic>
        <p:nvPicPr>
          <p:cNvPr id="3" name="Picture 2">
            <a:extLst>
              <a:ext uri="{FF2B5EF4-FFF2-40B4-BE49-F238E27FC236}">
                <a16:creationId xmlns:a16="http://schemas.microsoft.com/office/drawing/2014/main" id="{D856944A-9A80-A6C5-A0C1-33CBCADAE831}"/>
              </a:ext>
            </a:extLst>
          </p:cNvPr>
          <p:cNvPicPr>
            <a:picLocks noChangeAspect="1"/>
          </p:cNvPicPr>
          <p:nvPr/>
        </p:nvPicPr>
        <p:blipFill>
          <a:blip r:embed="rId2"/>
          <a:stretch>
            <a:fillRect/>
          </a:stretch>
        </p:blipFill>
        <p:spPr>
          <a:xfrm>
            <a:off x="769428" y="2595446"/>
            <a:ext cx="3153215" cy="1648055"/>
          </a:xfrm>
          <a:prstGeom prst="rect">
            <a:avLst/>
          </a:prstGeom>
        </p:spPr>
      </p:pic>
      <p:pic>
        <p:nvPicPr>
          <p:cNvPr id="5" name="Picture 4">
            <a:extLst>
              <a:ext uri="{FF2B5EF4-FFF2-40B4-BE49-F238E27FC236}">
                <a16:creationId xmlns:a16="http://schemas.microsoft.com/office/drawing/2014/main" id="{84625BB2-C725-771F-07A1-FADEF1FF7391}"/>
              </a:ext>
            </a:extLst>
          </p:cNvPr>
          <p:cNvPicPr>
            <a:picLocks noChangeAspect="1"/>
          </p:cNvPicPr>
          <p:nvPr/>
        </p:nvPicPr>
        <p:blipFill>
          <a:blip r:embed="rId3"/>
          <a:stretch>
            <a:fillRect/>
          </a:stretch>
        </p:blipFill>
        <p:spPr>
          <a:xfrm>
            <a:off x="7439533" y="2604972"/>
            <a:ext cx="3057952" cy="1638529"/>
          </a:xfrm>
          <a:prstGeom prst="rect">
            <a:avLst/>
          </a:prstGeom>
        </p:spPr>
      </p:pic>
    </p:spTree>
    <p:extLst>
      <p:ext uri="{BB962C8B-B14F-4D97-AF65-F5344CB8AC3E}">
        <p14:creationId xmlns:p14="http://schemas.microsoft.com/office/powerpoint/2010/main" val="24340271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5968C-D118-B296-5DD8-6A35F462FCB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6A9CE8D-80FD-E575-299D-D5F8A1C1BEB1}"/>
              </a:ext>
            </a:extLst>
          </p:cNvPr>
          <p:cNvSpPr txBox="1"/>
          <p:nvPr/>
        </p:nvSpPr>
        <p:spPr>
          <a:xfrm>
            <a:off x="203200" y="244826"/>
            <a:ext cx="11822545" cy="369332"/>
          </a:xfrm>
          <a:prstGeom prst="rect">
            <a:avLst/>
          </a:prstGeom>
          <a:noFill/>
        </p:spPr>
        <p:txBody>
          <a:bodyPr wrap="square">
            <a:spAutoFit/>
          </a:bodyPr>
          <a:lstStyle/>
          <a:p>
            <a:r>
              <a:rPr lang="az-Latn-AZ">
                <a:latin typeface="-apple-system"/>
              </a:rPr>
              <a:t>GraphQL ilə REST arasındakı fərq.</a:t>
            </a:r>
            <a:endParaRPr lang="en-US"/>
          </a:p>
        </p:txBody>
      </p:sp>
      <p:pic>
        <p:nvPicPr>
          <p:cNvPr id="3" name="Picture 2">
            <a:extLst>
              <a:ext uri="{FF2B5EF4-FFF2-40B4-BE49-F238E27FC236}">
                <a16:creationId xmlns:a16="http://schemas.microsoft.com/office/drawing/2014/main" id="{259A4D11-C0D7-3AAF-B237-48ECC0F21217}"/>
              </a:ext>
            </a:extLst>
          </p:cNvPr>
          <p:cNvPicPr>
            <a:picLocks noChangeAspect="1"/>
          </p:cNvPicPr>
          <p:nvPr/>
        </p:nvPicPr>
        <p:blipFill>
          <a:blip r:embed="rId2"/>
          <a:stretch>
            <a:fillRect/>
          </a:stretch>
        </p:blipFill>
        <p:spPr>
          <a:xfrm>
            <a:off x="1113439" y="1257824"/>
            <a:ext cx="9983593" cy="48965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478235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E2919-C4CF-EF47-5241-85FEDF7DC75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9CE49FA-55C0-CE3D-302A-8E6419D87624}"/>
              </a:ext>
            </a:extLst>
          </p:cNvPr>
          <p:cNvSpPr txBox="1"/>
          <p:nvPr/>
        </p:nvSpPr>
        <p:spPr>
          <a:xfrm>
            <a:off x="203200" y="244826"/>
            <a:ext cx="11822545" cy="646331"/>
          </a:xfrm>
          <a:prstGeom prst="rect">
            <a:avLst/>
          </a:prstGeom>
          <a:noFill/>
        </p:spPr>
        <p:txBody>
          <a:bodyPr wrap="square">
            <a:spAutoFit/>
          </a:bodyPr>
          <a:lstStyle/>
          <a:p>
            <a:r>
              <a:rPr lang="az-Latn-AZ">
                <a:latin typeface="-apple-system"/>
              </a:rPr>
              <a:t>Tətbiqi yaratmağa başlamadan əvvəl onun Sxemasını qurmaq lazımdır. Bu sxemaya əsasən həm </a:t>
            </a:r>
            <a:r>
              <a:rPr lang="az-Latn-AZ" b="1">
                <a:latin typeface="-apple-system"/>
              </a:rPr>
              <a:t>FrontEnd</a:t>
            </a:r>
            <a:r>
              <a:rPr lang="az-Latn-AZ">
                <a:latin typeface="-apple-system"/>
              </a:rPr>
              <a:t> həm </a:t>
            </a:r>
            <a:r>
              <a:rPr lang="az-Latn-AZ" b="1">
                <a:latin typeface="-apple-system"/>
              </a:rPr>
              <a:t>BackEnd</a:t>
            </a:r>
            <a:r>
              <a:rPr lang="az-Latn-AZ">
                <a:latin typeface="-apple-system"/>
              </a:rPr>
              <a:t> proqramistləri, görəcəkləri işlər haqqında əvvəlcədən məlumatlı olurlar.</a:t>
            </a:r>
            <a:endParaRPr lang="en-US"/>
          </a:p>
        </p:txBody>
      </p:sp>
      <p:pic>
        <p:nvPicPr>
          <p:cNvPr id="3" name="Picture 2">
            <a:extLst>
              <a:ext uri="{FF2B5EF4-FFF2-40B4-BE49-F238E27FC236}">
                <a16:creationId xmlns:a16="http://schemas.microsoft.com/office/drawing/2014/main" id="{392D6A38-D0BF-7341-1EB9-1713F5E51F6F}"/>
              </a:ext>
            </a:extLst>
          </p:cNvPr>
          <p:cNvPicPr>
            <a:picLocks noChangeAspect="1"/>
          </p:cNvPicPr>
          <p:nvPr/>
        </p:nvPicPr>
        <p:blipFill>
          <a:blip r:embed="rId2"/>
          <a:stretch>
            <a:fillRect/>
          </a:stretch>
        </p:blipFill>
        <p:spPr>
          <a:xfrm>
            <a:off x="299228" y="1621377"/>
            <a:ext cx="11593543" cy="4991797"/>
          </a:xfrm>
          <a:prstGeom prst="rect">
            <a:avLst/>
          </a:prstGeom>
        </p:spPr>
      </p:pic>
    </p:spTree>
    <p:extLst>
      <p:ext uri="{BB962C8B-B14F-4D97-AF65-F5344CB8AC3E}">
        <p14:creationId xmlns:p14="http://schemas.microsoft.com/office/powerpoint/2010/main" val="36736947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CC70D-DB98-E4A5-0986-A2ECC15EEA6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7677386-1F20-6409-3663-861A98599028}"/>
              </a:ext>
            </a:extLst>
          </p:cNvPr>
          <p:cNvSpPr txBox="1"/>
          <p:nvPr/>
        </p:nvSpPr>
        <p:spPr>
          <a:xfrm>
            <a:off x="203200" y="244826"/>
            <a:ext cx="11822545" cy="923330"/>
          </a:xfrm>
          <a:prstGeom prst="rect">
            <a:avLst/>
          </a:prstGeom>
          <a:noFill/>
        </p:spPr>
        <p:txBody>
          <a:bodyPr wrap="square">
            <a:spAutoFit/>
          </a:bodyPr>
          <a:lstStyle/>
          <a:p>
            <a:r>
              <a:rPr lang="az-Latn-AZ">
                <a:latin typeface="-apple-system"/>
              </a:rPr>
              <a:t>Quracağımız tətbiqin adı NotesApp olacaq. Şəkildəndə görüldüyü kimi 2 cədvəl var. </a:t>
            </a:r>
            <a:r>
              <a:rPr lang="az-Latn-AZ" b="1">
                <a:latin typeface="-apple-system"/>
              </a:rPr>
              <a:t>Note</a:t>
            </a:r>
            <a:r>
              <a:rPr lang="az-Latn-AZ">
                <a:latin typeface="-apple-system"/>
              </a:rPr>
              <a:t> və </a:t>
            </a:r>
            <a:r>
              <a:rPr lang="az-Latn-AZ" b="1">
                <a:latin typeface="-apple-system"/>
              </a:rPr>
              <a:t>Author</a:t>
            </a:r>
            <a:r>
              <a:rPr lang="az-Latn-AZ">
                <a:latin typeface="-apple-system"/>
              </a:rPr>
              <a:t>. </a:t>
            </a:r>
          </a:p>
          <a:p>
            <a:endParaRPr lang="az-Latn-AZ">
              <a:latin typeface="-apple-system"/>
            </a:endParaRPr>
          </a:p>
          <a:p>
            <a:r>
              <a:rPr lang="az-Latn-AZ">
                <a:latin typeface="-apple-system"/>
              </a:rPr>
              <a:t>Hər </a:t>
            </a:r>
            <a:r>
              <a:rPr lang="az-Latn-AZ" b="1">
                <a:latin typeface="-apple-system"/>
              </a:rPr>
              <a:t>Auhtor</a:t>
            </a:r>
            <a:r>
              <a:rPr lang="az-Latn-AZ">
                <a:latin typeface="-apple-system"/>
              </a:rPr>
              <a:t> isə </a:t>
            </a:r>
            <a:r>
              <a:rPr lang="az-Latn-AZ" b="1">
                <a:latin typeface="-apple-system"/>
              </a:rPr>
              <a:t>Note</a:t>
            </a:r>
            <a:r>
              <a:rPr lang="az-Latn-AZ">
                <a:latin typeface="-apple-system"/>
              </a:rPr>
              <a:t> -a bağlıdır. Bunun üçündə </a:t>
            </a:r>
            <a:r>
              <a:rPr lang="az-Latn-AZ" b="1">
                <a:latin typeface="-apple-system"/>
              </a:rPr>
              <a:t>Note</a:t>
            </a:r>
            <a:r>
              <a:rPr lang="az-Latn-AZ">
                <a:latin typeface="-apple-system"/>
              </a:rPr>
              <a:t> cədvəlində `</a:t>
            </a:r>
            <a:r>
              <a:rPr lang="az-Latn-AZ" b="1">
                <a:latin typeface="-apple-system"/>
              </a:rPr>
              <a:t>authorİd</a:t>
            </a:r>
            <a:r>
              <a:rPr lang="az-Latn-AZ">
                <a:latin typeface="-apple-system"/>
              </a:rPr>
              <a:t>` adında bir sütunumuz olacaq.</a:t>
            </a:r>
            <a:endParaRPr lang="en-US"/>
          </a:p>
        </p:txBody>
      </p:sp>
      <p:pic>
        <p:nvPicPr>
          <p:cNvPr id="3" name="Picture 2">
            <a:extLst>
              <a:ext uri="{FF2B5EF4-FFF2-40B4-BE49-F238E27FC236}">
                <a16:creationId xmlns:a16="http://schemas.microsoft.com/office/drawing/2014/main" id="{21408253-B249-F5AB-30FC-38D173A84663}"/>
              </a:ext>
            </a:extLst>
          </p:cNvPr>
          <p:cNvPicPr>
            <a:picLocks noChangeAspect="1"/>
          </p:cNvPicPr>
          <p:nvPr/>
        </p:nvPicPr>
        <p:blipFill>
          <a:blip r:embed="rId2"/>
          <a:stretch>
            <a:fillRect/>
          </a:stretch>
        </p:blipFill>
        <p:spPr>
          <a:xfrm>
            <a:off x="1016313" y="1577950"/>
            <a:ext cx="9993120" cy="4496427"/>
          </a:xfrm>
          <a:prstGeom prst="rect">
            <a:avLst/>
          </a:prstGeom>
        </p:spPr>
      </p:pic>
    </p:spTree>
    <p:extLst>
      <p:ext uri="{BB962C8B-B14F-4D97-AF65-F5344CB8AC3E}">
        <p14:creationId xmlns:p14="http://schemas.microsoft.com/office/powerpoint/2010/main" val="31215030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2DB91-8217-92A1-CB1F-236F1E4188E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89B0AEB-00B1-65DD-BCA0-402A012CCBBE}"/>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13769567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BDA04-3012-A75C-F562-46875C70C61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C5AB81D-F502-01C2-655B-8DF9008917F4}"/>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5119889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92B11-0A5B-E0B2-C868-70501656E90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664477A-D040-6469-95FE-70ABDDE57CEB}"/>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3573617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AB921-F113-27A4-9931-EC01805AB1B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9FE18AD-D81D-CF69-D716-E8EFFF0A1AA9}"/>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8010585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BF5EB-B3B4-953C-C22B-85A7D755FCE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64F08FE-4CB8-9EE7-B91F-564F45F9D7C7}"/>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40707637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6470C-D446-7F24-4643-138CE1BD828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BFE2AEC-B489-B71F-62D4-A85BF4ADCE2F}"/>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19108706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815F9-989B-CE85-697C-2322E302160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F4C3C0B-B075-FC96-E0BF-EF050BD7DC5C}"/>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9773860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C8101-BEA7-9683-1938-6E55D09280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3C46AAC-0322-57D6-AA2A-CCA5BFD5E853}"/>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454385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9E804-0BA1-DEDC-BC29-101D83E7E7A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3C6F4B1-F2E1-2450-2ECD-4BCC04F70373}"/>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17338279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FC-EBF7-D5E4-912E-0108DC68B06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069B59B-D469-6588-7D69-27E35E79B1AD}"/>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7114297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984CA-B6DB-CEC2-8919-295542B8747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99287B6-599A-4818-CE12-FF7790445F2D}"/>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1894225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0A76-F990-583B-6C0C-5B5B487F045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1603ED3-7FA6-7B0D-9DAE-145D2D56BCB8}"/>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5716732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05FAD-154F-7394-1819-F09B8141466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431E858-D76B-AD72-9AD4-E9890C9FA522}"/>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6560032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528</TotalTime>
  <Words>3845</Words>
  <Application>Microsoft Office PowerPoint</Application>
  <PresentationFormat>Widescreen</PresentationFormat>
  <Paragraphs>717</Paragraphs>
  <Slides>59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-apple-system</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66</cp:revision>
  <dcterms:created xsi:type="dcterms:W3CDTF">2025-09-15T05:34:52Z</dcterms:created>
  <dcterms:modified xsi:type="dcterms:W3CDTF">2025-09-30T09:38:47Z</dcterms:modified>
</cp:coreProperties>
</file>