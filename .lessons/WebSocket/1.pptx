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4" r:id="rId8"/>
    <p:sldId id="265" r:id="rId9"/>
    <p:sldId id="266" r:id="rId10"/>
    <p:sldId id="262" r:id="rId11"/>
    <p:sldId id="263"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4" d="100"/>
          <a:sy n="104" d="100"/>
        </p:scale>
        <p:origin x="73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F6E56-1402-F8E3-1A43-B034240BB3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DDA46E2-5A1C-F7D0-5316-281072A9EA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D009BF2-3F06-2222-07EF-1722663C1C17}"/>
              </a:ext>
            </a:extLst>
          </p:cNvPr>
          <p:cNvSpPr>
            <a:spLocks noGrp="1"/>
          </p:cNvSpPr>
          <p:nvPr>
            <p:ph type="dt" sz="half" idx="10"/>
          </p:nvPr>
        </p:nvSpPr>
        <p:spPr/>
        <p:txBody>
          <a:bodyPr/>
          <a:lstStyle/>
          <a:p>
            <a:fld id="{AD6CDC28-10E2-4CDE-A5FF-6E49B37A1343}" type="datetimeFigureOut">
              <a:rPr lang="en-US" smtClean="0"/>
              <a:t>10/2/2025</a:t>
            </a:fld>
            <a:endParaRPr lang="en-US"/>
          </a:p>
        </p:txBody>
      </p:sp>
      <p:sp>
        <p:nvSpPr>
          <p:cNvPr id="5" name="Footer Placeholder 4">
            <a:extLst>
              <a:ext uri="{FF2B5EF4-FFF2-40B4-BE49-F238E27FC236}">
                <a16:creationId xmlns:a16="http://schemas.microsoft.com/office/drawing/2014/main" id="{53B84058-C8A5-A756-E91B-48368B63A3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ABF1C5-F5BD-F9B4-F984-2BE5FD8268D0}"/>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1112307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201AE-D4D8-8D6F-E5E1-AC7946855C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E9D09-9590-8AE0-A3DD-9A856434F4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B453AC-3E50-B22F-415F-53EC13DCED04}"/>
              </a:ext>
            </a:extLst>
          </p:cNvPr>
          <p:cNvSpPr>
            <a:spLocks noGrp="1"/>
          </p:cNvSpPr>
          <p:nvPr>
            <p:ph type="dt" sz="half" idx="10"/>
          </p:nvPr>
        </p:nvSpPr>
        <p:spPr/>
        <p:txBody>
          <a:bodyPr/>
          <a:lstStyle/>
          <a:p>
            <a:fld id="{AD6CDC28-10E2-4CDE-A5FF-6E49B37A1343}" type="datetimeFigureOut">
              <a:rPr lang="en-US" smtClean="0"/>
              <a:t>10/2/2025</a:t>
            </a:fld>
            <a:endParaRPr lang="en-US"/>
          </a:p>
        </p:txBody>
      </p:sp>
      <p:sp>
        <p:nvSpPr>
          <p:cNvPr id="5" name="Footer Placeholder 4">
            <a:extLst>
              <a:ext uri="{FF2B5EF4-FFF2-40B4-BE49-F238E27FC236}">
                <a16:creationId xmlns:a16="http://schemas.microsoft.com/office/drawing/2014/main" id="{81466A45-3AEC-84ED-0C76-928D275F72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C15FC0-D7BF-BA9E-3769-859F4AE1499E}"/>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2713407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EF461-0A52-BB66-4D1D-39CFCB4A19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DDB5C49-D164-0E2C-CF7C-A7E6494CFB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D13674-7A64-595C-6672-94079D6948FA}"/>
              </a:ext>
            </a:extLst>
          </p:cNvPr>
          <p:cNvSpPr>
            <a:spLocks noGrp="1"/>
          </p:cNvSpPr>
          <p:nvPr>
            <p:ph type="dt" sz="half" idx="10"/>
          </p:nvPr>
        </p:nvSpPr>
        <p:spPr/>
        <p:txBody>
          <a:bodyPr/>
          <a:lstStyle/>
          <a:p>
            <a:fld id="{AD6CDC28-10E2-4CDE-A5FF-6E49B37A1343}" type="datetimeFigureOut">
              <a:rPr lang="en-US" smtClean="0"/>
              <a:t>10/2/2025</a:t>
            </a:fld>
            <a:endParaRPr lang="en-US"/>
          </a:p>
        </p:txBody>
      </p:sp>
      <p:sp>
        <p:nvSpPr>
          <p:cNvPr id="5" name="Footer Placeholder 4">
            <a:extLst>
              <a:ext uri="{FF2B5EF4-FFF2-40B4-BE49-F238E27FC236}">
                <a16:creationId xmlns:a16="http://schemas.microsoft.com/office/drawing/2014/main" id="{E3C5E0A5-B5CF-DE7C-7159-6B16BCC518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2EB200-4C80-79FF-4E82-E0FE759C84E6}"/>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2633202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24A2E-E6D0-7263-162E-4A3873C10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26860C-9D42-A3D0-655A-778E157FCE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3B15706-9B32-E88F-B42C-5F9B66B645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82D4D9-6391-5CFD-AD7B-62D094FC0240}"/>
              </a:ext>
            </a:extLst>
          </p:cNvPr>
          <p:cNvSpPr>
            <a:spLocks noGrp="1"/>
          </p:cNvSpPr>
          <p:nvPr>
            <p:ph type="dt" sz="half" idx="10"/>
          </p:nvPr>
        </p:nvSpPr>
        <p:spPr/>
        <p:txBody>
          <a:bodyPr/>
          <a:lstStyle/>
          <a:p>
            <a:fld id="{AD6CDC28-10E2-4CDE-A5FF-6E49B37A1343}" type="datetimeFigureOut">
              <a:rPr lang="en-US" smtClean="0"/>
              <a:t>10/2/2025</a:t>
            </a:fld>
            <a:endParaRPr lang="en-US"/>
          </a:p>
        </p:txBody>
      </p:sp>
      <p:sp>
        <p:nvSpPr>
          <p:cNvPr id="6" name="Footer Placeholder 5">
            <a:extLst>
              <a:ext uri="{FF2B5EF4-FFF2-40B4-BE49-F238E27FC236}">
                <a16:creationId xmlns:a16="http://schemas.microsoft.com/office/drawing/2014/main" id="{3BEF6AE7-370D-EE7A-5C29-36CE9884B2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E2C076-F3E7-090E-6A5B-4D997900A273}"/>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3045345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A628E-BA4E-0124-70D4-6C591F29B8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7AA761-374B-6E44-9C5D-BC54B64032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D5590D-F7B2-8385-3DE3-DA1884EF88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FA1039-561B-05BB-F427-2B7C699ACB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32EFDA-32C3-A903-9B59-86F68B55E1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C15F2E-724C-4A88-C5A0-F84A3B694CBB}"/>
              </a:ext>
            </a:extLst>
          </p:cNvPr>
          <p:cNvSpPr>
            <a:spLocks noGrp="1"/>
          </p:cNvSpPr>
          <p:nvPr>
            <p:ph type="dt" sz="half" idx="10"/>
          </p:nvPr>
        </p:nvSpPr>
        <p:spPr/>
        <p:txBody>
          <a:bodyPr/>
          <a:lstStyle/>
          <a:p>
            <a:fld id="{AD6CDC28-10E2-4CDE-A5FF-6E49B37A1343}" type="datetimeFigureOut">
              <a:rPr lang="en-US" smtClean="0"/>
              <a:t>10/2/2025</a:t>
            </a:fld>
            <a:endParaRPr lang="en-US"/>
          </a:p>
        </p:txBody>
      </p:sp>
      <p:sp>
        <p:nvSpPr>
          <p:cNvPr id="8" name="Footer Placeholder 7">
            <a:extLst>
              <a:ext uri="{FF2B5EF4-FFF2-40B4-BE49-F238E27FC236}">
                <a16:creationId xmlns:a16="http://schemas.microsoft.com/office/drawing/2014/main" id="{A9D01915-4633-E5FF-1EDD-1FB14260BF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5A3FE7-01D7-998B-585B-BFC1513EF131}"/>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3459265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C48FE-2306-7DC6-1DC6-C5672663C7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1D2EF4-01AF-3C08-BC02-3C48279DB524}"/>
              </a:ext>
            </a:extLst>
          </p:cNvPr>
          <p:cNvSpPr>
            <a:spLocks noGrp="1"/>
          </p:cNvSpPr>
          <p:nvPr>
            <p:ph type="dt" sz="half" idx="10"/>
          </p:nvPr>
        </p:nvSpPr>
        <p:spPr/>
        <p:txBody>
          <a:bodyPr/>
          <a:lstStyle/>
          <a:p>
            <a:fld id="{AD6CDC28-10E2-4CDE-A5FF-6E49B37A1343}" type="datetimeFigureOut">
              <a:rPr lang="en-US" smtClean="0"/>
              <a:t>10/2/2025</a:t>
            </a:fld>
            <a:endParaRPr lang="en-US"/>
          </a:p>
        </p:txBody>
      </p:sp>
      <p:sp>
        <p:nvSpPr>
          <p:cNvPr id="4" name="Footer Placeholder 3">
            <a:extLst>
              <a:ext uri="{FF2B5EF4-FFF2-40B4-BE49-F238E27FC236}">
                <a16:creationId xmlns:a16="http://schemas.microsoft.com/office/drawing/2014/main" id="{93572383-0BF2-B274-161B-3A7947605D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4426590-2627-9E5B-5D9D-E410D701B46A}"/>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2284221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A8D5D3-8B12-DF8F-F46F-652BBFE3B21F}"/>
              </a:ext>
            </a:extLst>
          </p:cNvPr>
          <p:cNvSpPr>
            <a:spLocks noGrp="1"/>
          </p:cNvSpPr>
          <p:nvPr>
            <p:ph type="dt" sz="half" idx="10"/>
          </p:nvPr>
        </p:nvSpPr>
        <p:spPr/>
        <p:txBody>
          <a:bodyPr/>
          <a:lstStyle/>
          <a:p>
            <a:fld id="{AD6CDC28-10E2-4CDE-A5FF-6E49B37A1343}" type="datetimeFigureOut">
              <a:rPr lang="en-US" smtClean="0"/>
              <a:t>10/2/2025</a:t>
            </a:fld>
            <a:endParaRPr lang="en-US"/>
          </a:p>
        </p:txBody>
      </p:sp>
      <p:sp>
        <p:nvSpPr>
          <p:cNvPr id="3" name="Footer Placeholder 2">
            <a:extLst>
              <a:ext uri="{FF2B5EF4-FFF2-40B4-BE49-F238E27FC236}">
                <a16:creationId xmlns:a16="http://schemas.microsoft.com/office/drawing/2014/main" id="{5B8A6C2D-B71D-4B94-5B13-FBAE39A5B7B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A040F64-FC8A-34C2-7427-480D8602C22A}"/>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518571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E3E4C-CC37-D167-11F9-C336ECD4BC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0A6B01-A5B9-229B-B55E-43AE216B21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8C978B0-9501-7E6F-20FA-A5FBE20F83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96D790-C5F3-C54C-327E-2AB3DB1E36D0}"/>
              </a:ext>
            </a:extLst>
          </p:cNvPr>
          <p:cNvSpPr>
            <a:spLocks noGrp="1"/>
          </p:cNvSpPr>
          <p:nvPr>
            <p:ph type="dt" sz="half" idx="10"/>
          </p:nvPr>
        </p:nvSpPr>
        <p:spPr/>
        <p:txBody>
          <a:bodyPr/>
          <a:lstStyle/>
          <a:p>
            <a:fld id="{AD6CDC28-10E2-4CDE-A5FF-6E49B37A1343}" type="datetimeFigureOut">
              <a:rPr lang="en-US" smtClean="0"/>
              <a:t>10/2/2025</a:t>
            </a:fld>
            <a:endParaRPr lang="en-US"/>
          </a:p>
        </p:txBody>
      </p:sp>
      <p:sp>
        <p:nvSpPr>
          <p:cNvPr id="6" name="Footer Placeholder 5">
            <a:extLst>
              <a:ext uri="{FF2B5EF4-FFF2-40B4-BE49-F238E27FC236}">
                <a16:creationId xmlns:a16="http://schemas.microsoft.com/office/drawing/2014/main" id="{5063E965-EFA2-1A83-DD1E-CB5CA9337F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64A612-B219-0DF4-E7B1-D4217D26A678}"/>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3302890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DF7E5-038E-2FFC-66B2-8807F85D90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CF00D4-8729-6708-82C2-77228B0A21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0651D5-1EE9-6EF7-1E48-B0A084C925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1B0A1B-7FA6-BDFA-9E4D-771FD9175DD8}"/>
              </a:ext>
            </a:extLst>
          </p:cNvPr>
          <p:cNvSpPr>
            <a:spLocks noGrp="1"/>
          </p:cNvSpPr>
          <p:nvPr>
            <p:ph type="dt" sz="half" idx="10"/>
          </p:nvPr>
        </p:nvSpPr>
        <p:spPr/>
        <p:txBody>
          <a:bodyPr/>
          <a:lstStyle/>
          <a:p>
            <a:fld id="{AD6CDC28-10E2-4CDE-A5FF-6E49B37A1343}" type="datetimeFigureOut">
              <a:rPr lang="en-US" smtClean="0"/>
              <a:t>10/2/2025</a:t>
            </a:fld>
            <a:endParaRPr lang="en-US"/>
          </a:p>
        </p:txBody>
      </p:sp>
      <p:sp>
        <p:nvSpPr>
          <p:cNvPr id="6" name="Footer Placeholder 5">
            <a:extLst>
              <a:ext uri="{FF2B5EF4-FFF2-40B4-BE49-F238E27FC236}">
                <a16:creationId xmlns:a16="http://schemas.microsoft.com/office/drawing/2014/main" id="{DE34A8CF-EF93-1B04-347E-0430F60E24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02D16E-0BA9-51E8-4A0A-E4991223598B}"/>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1991333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F69E1-1611-2908-59C8-BD88BAD48A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E6C930F-2603-1D0F-DA85-DE6CB310E7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4A193B-C0DB-EA02-0DE5-DBA425B6426E}"/>
              </a:ext>
            </a:extLst>
          </p:cNvPr>
          <p:cNvSpPr>
            <a:spLocks noGrp="1"/>
          </p:cNvSpPr>
          <p:nvPr>
            <p:ph type="dt" sz="half" idx="10"/>
          </p:nvPr>
        </p:nvSpPr>
        <p:spPr/>
        <p:txBody>
          <a:bodyPr/>
          <a:lstStyle/>
          <a:p>
            <a:fld id="{AD6CDC28-10E2-4CDE-A5FF-6E49B37A1343}" type="datetimeFigureOut">
              <a:rPr lang="en-US" smtClean="0"/>
              <a:t>10/2/2025</a:t>
            </a:fld>
            <a:endParaRPr lang="en-US"/>
          </a:p>
        </p:txBody>
      </p:sp>
      <p:sp>
        <p:nvSpPr>
          <p:cNvPr id="5" name="Footer Placeholder 4">
            <a:extLst>
              <a:ext uri="{FF2B5EF4-FFF2-40B4-BE49-F238E27FC236}">
                <a16:creationId xmlns:a16="http://schemas.microsoft.com/office/drawing/2014/main" id="{6E365C89-E9C2-C6E2-F05A-2A701B1D32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72C350-AA86-FE56-C10C-86759BBCCCAE}"/>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1553986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9427A3-0A18-1B80-463B-96F29D8543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3434C4-F840-CD90-7A61-EB156512C5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038C54-E0FA-A1E2-F5D4-2C31B564C61D}"/>
              </a:ext>
            </a:extLst>
          </p:cNvPr>
          <p:cNvSpPr>
            <a:spLocks noGrp="1"/>
          </p:cNvSpPr>
          <p:nvPr>
            <p:ph type="dt" sz="half" idx="10"/>
          </p:nvPr>
        </p:nvSpPr>
        <p:spPr/>
        <p:txBody>
          <a:bodyPr/>
          <a:lstStyle/>
          <a:p>
            <a:fld id="{AD6CDC28-10E2-4CDE-A5FF-6E49B37A1343}" type="datetimeFigureOut">
              <a:rPr lang="en-US" smtClean="0"/>
              <a:t>10/2/2025</a:t>
            </a:fld>
            <a:endParaRPr lang="en-US"/>
          </a:p>
        </p:txBody>
      </p:sp>
      <p:sp>
        <p:nvSpPr>
          <p:cNvPr id="5" name="Footer Placeholder 4">
            <a:extLst>
              <a:ext uri="{FF2B5EF4-FFF2-40B4-BE49-F238E27FC236}">
                <a16:creationId xmlns:a16="http://schemas.microsoft.com/office/drawing/2014/main" id="{6BB2358D-EED3-014D-1A63-A228F3FE6A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C7BFDA-56BF-CBF9-67A6-BCD8855A9780}"/>
              </a:ext>
            </a:extLst>
          </p:cNvPr>
          <p:cNvSpPr>
            <a:spLocks noGrp="1"/>
          </p:cNvSpPr>
          <p:nvPr>
            <p:ph type="sldNum" sz="quarter" idx="12"/>
          </p:nvPr>
        </p:nvSpPr>
        <p:spPr/>
        <p:txBody>
          <a:bodyPr/>
          <a:lstStyle/>
          <a:p>
            <a:fld id="{818FEA3D-2271-41BB-92A9-750B4E317D1A}" type="slidenum">
              <a:rPr lang="en-US" smtClean="0"/>
              <a:t>‹#›</a:t>
            </a:fld>
            <a:endParaRPr lang="en-US"/>
          </a:p>
        </p:txBody>
      </p:sp>
    </p:spTree>
    <p:extLst>
      <p:ext uri="{BB962C8B-B14F-4D97-AF65-F5344CB8AC3E}">
        <p14:creationId xmlns:p14="http://schemas.microsoft.com/office/powerpoint/2010/main" val="1941959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041EC7-A269-7FEC-8B9C-CD502999B2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5FAC6F-9189-25DD-9148-72DB8890FE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36EBE8-9810-D648-21BB-6E233CF949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CDC28-10E2-4CDE-A5FF-6E49B37A1343}" type="datetimeFigureOut">
              <a:rPr lang="en-US" smtClean="0"/>
              <a:t>10/2/2025</a:t>
            </a:fld>
            <a:endParaRPr lang="en-US"/>
          </a:p>
        </p:txBody>
      </p:sp>
      <p:sp>
        <p:nvSpPr>
          <p:cNvPr id="5" name="Footer Placeholder 4">
            <a:extLst>
              <a:ext uri="{FF2B5EF4-FFF2-40B4-BE49-F238E27FC236}">
                <a16:creationId xmlns:a16="http://schemas.microsoft.com/office/drawing/2014/main" id="{FB21F318-2F6E-3503-EDA0-FC9392AD4A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2EB34DE-99DE-7C06-8E21-CBE1734122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8FEA3D-2271-41BB-92A9-750B4E317D1A}" type="slidenum">
              <a:rPr lang="en-US" smtClean="0"/>
              <a:t>‹#›</a:t>
            </a:fld>
            <a:endParaRPr lang="en-US"/>
          </a:p>
        </p:txBody>
      </p:sp>
    </p:spTree>
    <p:extLst>
      <p:ext uri="{BB962C8B-B14F-4D97-AF65-F5344CB8AC3E}">
        <p14:creationId xmlns:p14="http://schemas.microsoft.com/office/powerpoint/2010/main" val="25501368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0932357-86BD-10D6-6AE2-3B57D9B9B2A8}"/>
              </a:ext>
            </a:extLst>
          </p:cNvPr>
          <p:cNvSpPr txBox="1"/>
          <p:nvPr/>
        </p:nvSpPr>
        <p:spPr>
          <a:xfrm>
            <a:off x="203200" y="244826"/>
            <a:ext cx="11822545" cy="5078313"/>
          </a:xfrm>
          <a:prstGeom prst="rect">
            <a:avLst/>
          </a:prstGeom>
          <a:noFill/>
        </p:spPr>
        <p:txBody>
          <a:bodyPr wrap="square">
            <a:spAutoFit/>
          </a:bodyPr>
          <a:lstStyle/>
          <a:p>
            <a:r>
              <a:rPr lang="en-US" sz="1200" b="1">
                <a:solidFill>
                  <a:srgbClr val="FF0000"/>
                </a:solidFill>
              </a:rPr>
              <a:t>WebSocket Nədir?</a:t>
            </a:r>
          </a:p>
          <a:p>
            <a:endParaRPr lang="en-US" sz="1200">
              <a:effectLst/>
            </a:endParaRPr>
          </a:p>
          <a:p>
            <a:r>
              <a:rPr lang="en-US" sz="1200"/>
              <a:t>Təsəvvür edin: Siz veb-saytda oynayırsınız, məsələn, onlayn oyun. Dostunuz da oynayır və birdən topu vurursunuz – ekranınızda dərhal "Gol!" yazısı çıxır, dostunuzun ekranında da eyni anda! Bu necə baş verir? </a:t>
            </a:r>
            <a:r>
              <a:rPr lang="en-US" sz="1200" b="1"/>
              <a:t>WebSocket</a:t>
            </a:r>
            <a:r>
              <a:rPr lang="en-US" sz="1200"/>
              <a:t> bu </a:t>
            </a:r>
            <a:r>
              <a:rPr lang="az-Latn-AZ" sz="1200"/>
              <a:t>cür anlıq baş verən dəyişiklikləri izləmək üçün istifadə edilən texnologiyadır.</a:t>
            </a:r>
            <a:endParaRPr lang="en-US" sz="1200"/>
          </a:p>
          <a:p>
            <a:endParaRPr lang="az-Latn-AZ" sz="1200">
              <a:effectLst/>
            </a:endParaRPr>
          </a:p>
          <a:p>
            <a:r>
              <a:rPr lang="en-US" sz="1200" b="1"/>
              <a:t>Sadə izah</a:t>
            </a:r>
            <a:r>
              <a:rPr lang="en-US" sz="1200"/>
              <a:t>: WebSocket – veb-saytla server arasında "açıq telefon xətti" kimi işləyən texnologiyadır. Normal veb-saytlarda (HTTP ilə) serverə "Mən burdayam, nə var?" deyib soruşursan, o da cavab verir və xətt bağlanır. Amma WebSocket-də xətt açıq qalır – server sənə hər an xəbər verə bilər, sən də ona. Bu, real-time (real vaxtda) söhbət deməkdir.</a:t>
            </a:r>
            <a:endParaRPr lang="az-Latn-AZ" sz="1200"/>
          </a:p>
          <a:p>
            <a:endParaRPr lang="az-Latn-AZ" sz="1200">
              <a:effectLst/>
            </a:endParaRPr>
          </a:p>
          <a:p>
            <a:r>
              <a:rPr lang="en-US" sz="1200" b="1"/>
              <a:t>Niyə lazımdır?</a:t>
            </a:r>
            <a:endParaRPr lang="en-US" sz="1200"/>
          </a:p>
          <a:p>
            <a:pPr marL="628650" lvl="1" indent="-171450">
              <a:lnSpc>
                <a:spcPct val="150000"/>
              </a:lnSpc>
              <a:buFont typeface="Arial" panose="020B0604020202020204" pitchFamily="34" charset="0"/>
              <a:buChar char="•"/>
            </a:pPr>
            <a:r>
              <a:rPr lang="en-US" sz="1200"/>
              <a:t>Chat proqramlarında (məsələn, WhatsApp kimi, amma veb-də).</a:t>
            </a:r>
            <a:endParaRPr lang="az-Latn-AZ" sz="1200"/>
          </a:p>
          <a:p>
            <a:pPr marL="1085850" lvl="2" indent="-171450">
              <a:lnSpc>
                <a:spcPct val="150000"/>
              </a:lnSpc>
              <a:buFont typeface="Wingdings" panose="05000000000000000000" pitchFamily="2" charset="2"/>
              <a:buChar char="q"/>
            </a:pPr>
            <a:r>
              <a:rPr lang="en-US" sz="1200"/>
              <a:t>WhatsApp, WebSocket istifadə etmir. WhatsApp-ın istifadə etdiyi əsas protokol </a:t>
            </a:r>
            <a:r>
              <a:rPr lang="en-US" sz="1200" b="1"/>
              <a:t>XMPP</a:t>
            </a:r>
            <a:r>
              <a:rPr lang="en-US" sz="1200"/>
              <a:t> (Extensible Messaging and Presence Protocol) adlanır. XMPP, əvvəlcə chat və mesajlaşma protokolu olaraq yaradılmışdır və WhatsApp, bu protokol üzərində inkişaf edib. WhatsApp real-time mesajlaşma üçün bir server-client modeli istifadə edir, amma burada WebSocket-in əvəzinə fərqli metodlar tətbiq olunur. WhatsApp da WebSocket istifadə edə bilərdi, amma hər bir tətbiq öz ehtiyaclarına və dizaynına uyğun protokolları seçir.</a:t>
            </a:r>
          </a:p>
          <a:p>
            <a:pPr marL="628650" lvl="1" indent="-171450">
              <a:lnSpc>
                <a:spcPct val="150000"/>
              </a:lnSpc>
              <a:buFont typeface="Arial" panose="020B0604020202020204" pitchFamily="34" charset="0"/>
              <a:buChar char="•"/>
            </a:pPr>
            <a:r>
              <a:rPr lang="en-US" sz="1200"/>
              <a:t>Onlayn oyunlarda.</a:t>
            </a:r>
          </a:p>
          <a:p>
            <a:pPr marL="628650" lvl="1" indent="-171450">
              <a:lnSpc>
                <a:spcPct val="150000"/>
              </a:lnSpc>
              <a:buFont typeface="Arial" panose="020B0604020202020204" pitchFamily="34" charset="0"/>
              <a:buChar char="•"/>
            </a:pPr>
            <a:r>
              <a:rPr lang="en-US" sz="1200"/>
              <a:t>Canlı xəbərlərdə (məsələn, futbol matçının nəticəsi dərhal gəlsin).</a:t>
            </a:r>
          </a:p>
          <a:p>
            <a:pPr marL="628650" lvl="1" indent="-171450">
              <a:lnSpc>
                <a:spcPct val="150000"/>
              </a:lnSpc>
              <a:buFont typeface="Arial" panose="020B0604020202020204" pitchFamily="34" charset="0"/>
              <a:buChar char="•"/>
            </a:pPr>
            <a:r>
              <a:rPr lang="en-US" sz="1200"/>
              <a:t>Real-time tətbiqlər: Məsələn, chat tətbiqləri (Telegram, Facebook Messenger), online oyunlar, canlı statistikalar, maliyyə məlumatları və s.</a:t>
            </a:r>
          </a:p>
          <a:p>
            <a:pPr marL="628650" lvl="1" indent="-171450">
              <a:lnSpc>
                <a:spcPct val="150000"/>
              </a:lnSpc>
              <a:buFont typeface="Arial" panose="020B0604020202020204" pitchFamily="34" charset="0"/>
              <a:buChar char="•"/>
            </a:pPr>
            <a:r>
              <a:rPr lang="en-US" sz="1200"/>
              <a:t>Bildirişlər: Veb saytları və tətbiqləri istifadəçiləri real zamanlı bildirişlərlə təmin etmək üçün WebSocket-dən istifadə edə bilər.</a:t>
            </a:r>
          </a:p>
          <a:p>
            <a:pPr marL="628650" lvl="1" indent="-171450">
              <a:lnSpc>
                <a:spcPct val="150000"/>
              </a:lnSpc>
              <a:buFont typeface="Arial" panose="020B0604020202020204" pitchFamily="34" charset="0"/>
              <a:buChar char="•"/>
            </a:pPr>
            <a:r>
              <a:rPr lang="en-US" sz="1200"/>
              <a:t>Canlı yayım və video axını: Video oyunları, idman hadisələri və ya canlı yayım tətbiqlərində WebSocket protokolu məlumatların gecikmədən çatdırılması üçün istifadə olunur.</a:t>
            </a:r>
            <a:endParaRPr lang="az-Latn-AZ" sz="1200"/>
          </a:p>
          <a:p>
            <a:endParaRPr lang="az-Latn-AZ" sz="1200">
              <a:effectLst/>
            </a:endParaRPr>
          </a:p>
          <a:p>
            <a:endParaRPr lang="en-US" sz="1200">
              <a:effectLst/>
            </a:endParaRPr>
          </a:p>
          <a:p>
            <a:r>
              <a:rPr lang="en-US" sz="1200" b="1"/>
              <a:t>PHP üçün</a:t>
            </a:r>
            <a:r>
              <a:rPr lang="en-US" sz="1200"/>
              <a:t>: PHP-də WebSocket istifadə etmək üçün xüsusi kitabxanalar (məsələn, </a:t>
            </a:r>
            <a:r>
              <a:rPr lang="en-US" sz="1200" b="1"/>
              <a:t>Ratchet</a:t>
            </a:r>
            <a:r>
              <a:rPr lang="en-US" sz="1200"/>
              <a:t>) var. Bu, PHP-nin "qulaq asması" funksiyası kimi – serveri daima dinləyir.</a:t>
            </a:r>
            <a:endParaRPr lang="en-US" sz="1200">
              <a:effectLst/>
            </a:endParaRPr>
          </a:p>
        </p:txBody>
      </p:sp>
    </p:spTree>
    <p:extLst>
      <p:ext uri="{BB962C8B-B14F-4D97-AF65-F5344CB8AC3E}">
        <p14:creationId xmlns:p14="http://schemas.microsoft.com/office/powerpoint/2010/main" val="3612794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D2E36-156F-3BCD-5086-A1AA48525EB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7CBB08F-98C3-90B8-3677-F82E3BD3AE9A}"/>
              </a:ext>
            </a:extLst>
          </p:cNvPr>
          <p:cNvSpPr txBox="1"/>
          <p:nvPr/>
        </p:nvSpPr>
        <p:spPr>
          <a:xfrm>
            <a:off x="203200" y="244826"/>
            <a:ext cx="11822545" cy="6370975"/>
          </a:xfrm>
          <a:prstGeom prst="rect">
            <a:avLst/>
          </a:prstGeom>
          <a:noFill/>
        </p:spPr>
        <p:txBody>
          <a:bodyPr wrap="square">
            <a:spAutoFit/>
          </a:bodyPr>
          <a:lstStyle/>
          <a:p>
            <a:r>
              <a:rPr lang="en-US" sz="1600" b="1">
                <a:solidFill>
                  <a:srgbClr val="FF0000"/>
                </a:solidFill>
                <a:latin typeface="-apple-system"/>
              </a:rPr>
              <a:t>WebSocket Protokolu: Necə İşləyir?</a:t>
            </a:r>
          </a:p>
          <a:p>
            <a:endParaRPr lang="en-US" sz="1600">
              <a:latin typeface="-apple-system"/>
            </a:endParaRPr>
          </a:p>
          <a:p>
            <a:r>
              <a:rPr lang="en-US" sz="1600" b="1">
                <a:solidFill>
                  <a:srgbClr val="00B050"/>
                </a:solidFill>
              </a:rPr>
              <a:t>Addım-addım proses</a:t>
            </a:r>
            <a:r>
              <a:rPr lang="en-US" sz="1600" b="1"/>
              <a:t>:</a:t>
            </a:r>
          </a:p>
          <a:p>
            <a:endParaRPr lang="en-US" sz="1600"/>
          </a:p>
          <a:p>
            <a:pPr marL="342900" indent="-342900">
              <a:buFont typeface="+mj-lt"/>
              <a:buAutoNum type="arabicPeriod"/>
            </a:pPr>
            <a:r>
              <a:rPr lang="en-US" sz="1600" b="1"/>
              <a:t>Əl Sıxma (Handshake):</a:t>
            </a:r>
            <a:r>
              <a:rPr lang="en-US" sz="1600"/>
              <a:t> Brauzer serverə deyir: "Mən WebSocket istəyirəm!" Bu, xüsusi HTTP sorğusudur (Upgrade: websocket). Server "Tamam, açıq qal!" deyir. (PHP-də bu, Ratchet-in köməyi ilə avtomatik olur.)</a:t>
            </a:r>
          </a:p>
          <a:p>
            <a:pPr marL="342900" indent="-342900">
              <a:buFont typeface="+mj-lt"/>
              <a:buAutoNum type="arabicPeriod"/>
            </a:pPr>
            <a:endParaRPr lang="en-US" sz="1600"/>
          </a:p>
          <a:p>
            <a:pPr marL="342900" indent="-342900">
              <a:buFont typeface="+mj-lt"/>
              <a:buAutoNum type="arabicPeriod"/>
            </a:pPr>
            <a:r>
              <a:rPr lang="en-US" sz="1600" b="1"/>
              <a:t>Açıq Xətt:</a:t>
            </a:r>
            <a:r>
              <a:rPr lang="en-US" sz="1600"/>
              <a:t> İndi frame-lər (kiçik qutular) göndərilir. Hər frame-də mesaj, emoji və ya rəqəm ola bilər. Frame-lər kiçikdir ki, sürətli göndərilsin.</a:t>
            </a:r>
          </a:p>
          <a:p>
            <a:pPr marL="342900" indent="-342900">
              <a:buFont typeface="+mj-lt"/>
              <a:buAutoNum type="arabicPeriod"/>
            </a:pPr>
            <a:endParaRPr lang="en-US" sz="1600"/>
          </a:p>
          <a:p>
            <a:pPr marL="342900" indent="-342900">
              <a:buFont typeface="+mj-lt"/>
              <a:buAutoNum type="arabicPeriod"/>
            </a:pPr>
            <a:r>
              <a:rPr lang="en-US" sz="1600" b="1"/>
              <a:t>Mesaj Göndərmə:</a:t>
            </a:r>
            <a:r>
              <a:rPr lang="en-US" sz="1600"/>
              <a:t> </a:t>
            </a:r>
          </a:p>
          <a:p>
            <a:pPr marL="742950" lvl="1" indent="-285750">
              <a:lnSpc>
                <a:spcPct val="150000"/>
              </a:lnSpc>
              <a:buFont typeface="Arial" panose="020B0604020202020204" pitchFamily="34" charset="0"/>
              <a:buChar char="•"/>
            </a:pPr>
            <a:r>
              <a:rPr lang="en-US" sz="1600"/>
              <a:t>Sən brauzerdən: JavaScript ilə socket.send("Salam!").</a:t>
            </a:r>
          </a:p>
          <a:p>
            <a:pPr marL="742950" lvl="1" indent="-285750">
              <a:lnSpc>
                <a:spcPct val="150000"/>
              </a:lnSpc>
              <a:buFont typeface="Arial" panose="020B0604020202020204" pitchFamily="34" charset="0"/>
              <a:buChar char="•"/>
            </a:pPr>
            <a:r>
              <a:rPr lang="en-US" sz="1600"/>
              <a:t>Serverdən: PHP-də (Ratchet ilə) echo kimi cavab göndərmək.</a:t>
            </a:r>
          </a:p>
          <a:p>
            <a:pPr marL="742950" lvl="1" indent="-285750">
              <a:lnSpc>
                <a:spcPct val="150000"/>
              </a:lnSpc>
              <a:buFont typeface="Arial" panose="020B0604020202020204" pitchFamily="34" charset="0"/>
              <a:buChar char="•"/>
            </a:pPr>
            <a:r>
              <a:rPr lang="en-US" sz="1600"/>
              <a:t>Xətt bağlananda: close frame göndərilir.</a:t>
            </a:r>
          </a:p>
          <a:p>
            <a:pPr marL="742950" lvl="1" indent="-285750">
              <a:lnSpc>
                <a:spcPct val="150000"/>
              </a:lnSpc>
              <a:buFont typeface="Arial" panose="020B0604020202020204" pitchFamily="34" charset="0"/>
              <a:buChar char="•"/>
            </a:pPr>
            <a:endParaRPr lang="en-US" sz="1600"/>
          </a:p>
          <a:p>
            <a:r>
              <a:rPr lang="en-US" sz="1600" b="1"/>
              <a:t>Texniki detallar (uşaqlar üçün sadələşdirilmiş):</a:t>
            </a:r>
            <a:endParaRPr lang="en-US" sz="1600"/>
          </a:p>
          <a:p>
            <a:pPr marL="285750" indent="-285750">
              <a:lnSpc>
                <a:spcPct val="150000"/>
              </a:lnSpc>
              <a:buFont typeface="Arial" panose="020B0604020202020204" pitchFamily="34" charset="0"/>
              <a:buChar char="•"/>
            </a:pPr>
            <a:r>
              <a:rPr lang="en-US" sz="1600"/>
              <a:t>Port: Adətən 80 və ya 443 (HTTP kimi).</a:t>
            </a:r>
          </a:p>
          <a:p>
            <a:pPr marL="285750" indent="-285750">
              <a:lnSpc>
                <a:spcPct val="150000"/>
              </a:lnSpc>
              <a:buFont typeface="Arial" panose="020B0604020202020204" pitchFamily="34" charset="0"/>
              <a:buChar char="•"/>
            </a:pPr>
            <a:r>
              <a:rPr lang="en-US" sz="1600"/>
              <a:t>Təhlükəsizlik: WSS (WebSocket Secure) – HTTPS kimi şifrələnir.</a:t>
            </a:r>
          </a:p>
          <a:p>
            <a:pPr marL="285750" indent="-285750">
              <a:lnSpc>
                <a:spcPct val="150000"/>
              </a:lnSpc>
              <a:buFont typeface="Arial" panose="020B0604020202020204" pitchFamily="34" charset="0"/>
              <a:buChar char="•"/>
            </a:pPr>
            <a:r>
              <a:rPr lang="en-US" sz="1600"/>
              <a:t>Frame növləri: Text (sözlər), Binary (şəkillər), Close (bağlama).</a:t>
            </a:r>
          </a:p>
          <a:p>
            <a:endParaRPr lang="en-US" sz="1600"/>
          </a:p>
          <a:p>
            <a:r>
              <a:rPr lang="en-US" sz="1600" b="1">
                <a:solidFill>
                  <a:srgbClr val="00B050"/>
                </a:solidFill>
              </a:rPr>
              <a:t>PHP konteksti</a:t>
            </a:r>
            <a:r>
              <a:rPr lang="en-US" sz="1600"/>
              <a:t>: PHP normalda "bir sorğu – bir cavab" edir, amma WebSocket üçün "döngü" (loop) qurursan. Ratchet kitabxanası bunu asanlaşdırır – sən sadəcə "dinlə" deyirsən, o qalanı edir.</a:t>
            </a:r>
          </a:p>
        </p:txBody>
      </p:sp>
    </p:spTree>
    <p:extLst>
      <p:ext uri="{BB962C8B-B14F-4D97-AF65-F5344CB8AC3E}">
        <p14:creationId xmlns:p14="http://schemas.microsoft.com/office/powerpoint/2010/main" val="468364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9AEA6-01FA-AE2B-33F2-2A7704FC857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1001295-C190-D7EF-A649-9D74FBCC9391}"/>
              </a:ext>
            </a:extLst>
          </p:cNvPr>
          <p:cNvSpPr txBox="1"/>
          <p:nvPr/>
        </p:nvSpPr>
        <p:spPr>
          <a:xfrm>
            <a:off x="203200" y="244826"/>
            <a:ext cx="11822545" cy="6463308"/>
          </a:xfrm>
          <a:prstGeom prst="rect">
            <a:avLst/>
          </a:prstGeom>
          <a:noFill/>
        </p:spPr>
        <p:txBody>
          <a:bodyPr wrap="square">
            <a:spAutoFit/>
          </a:bodyPr>
          <a:lstStyle/>
          <a:p>
            <a:r>
              <a:rPr lang="en-US" b="1"/>
              <a:t>Avantajlar, İstifadə Sahələri və Çətinliklər </a:t>
            </a:r>
          </a:p>
          <a:p>
            <a:endParaRPr lang="en-US" b="1"/>
          </a:p>
          <a:p>
            <a:r>
              <a:rPr lang="en-US" b="1"/>
              <a:t>1) Avantajlar:</a:t>
            </a:r>
            <a:endParaRPr lang="en-US"/>
          </a:p>
          <a:p>
            <a:pPr marL="742950" lvl="1" indent="-285750">
              <a:lnSpc>
                <a:spcPct val="150000"/>
              </a:lnSpc>
              <a:buFont typeface="Arial" panose="020B0604020202020204" pitchFamily="34" charset="0"/>
              <a:buChar char="•"/>
            </a:pPr>
            <a:r>
              <a:rPr lang="en-US" b="1"/>
              <a:t>Sürətli</a:t>
            </a:r>
            <a:r>
              <a:rPr lang="en-US"/>
              <a:t>: Real-time, gecikmə yox.</a:t>
            </a:r>
          </a:p>
          <a:p>
            <a:pPr marL="742950" lvl="1" indent="-285750">
              <a:lnSpc>
                <a:spcPct val="150000"/>
              </a:lnSpc>
              <a:buFont typeface="Arial" panose="020B0604020202020204" pitchFamily="34" charset="0"/>
              <a:buChar char="•"/>
            </a:pPr>
            <a:r>
              <a:rPr lang="en-US" b="1"/>
              <a:t>İki tərəfli</a:t>
            </a:r>
            <a:r>
              <a:rPr lang="en-US"/>
              <a:t>: Chat, oyun, canlı axın.</a:t>
            </a:r>
          </a:p>
          <a:p>
            <a:pPr marL="742950" lvl="1" indent="-285750">
              <a:lnSpc>
                <a:spcPct val="150000"/>
              </a:lnSpc>
              <a:buFont typeface="Arial" panose="020B0604020202020204" pitchFamily="34" charset="0"/>
              <a:buChar char="•"/>
            </a:pPr>
            <a:r>
              <a:rPr lang="en-US" b="1"/>
              <a:t>Az trafik</a:t>
            </a:r>
            <a:r>
              <a:rPr lang="en-US"/>
              <a:t>: Kiçik mesajlar, böyük fayl yox.</a:t>
            </a:r>
          </a:p>
          <a:p>
            <a:endParaRPr lang="en-US"/>
          </a:p>
          <a:p>
            <a:r>
              <a:rPr lang="en-US" b="1"/>
              <a:t>2) İstifadə sahələri:</a:t>
            </a:r>
            <a:endParaRPr lang="en-US"/>
          </a:p>
          <a:p>
            <a:pPr marL="742950" lvl="1" indent="-285750">
              <a:lnSpc>
                <a:spcPct val="150000"/>
              </a:lnSpc>
              <a:buFont typeface="Arial" panose="020B0604020202020204" pitchFamily="34" charset="0"/>
              <a:buChar char="•"/>
            </a:pPr>
            <a:r>
              <a:rPr lang="en-US" b="1"/>
              <a:t>Chat</a:t>
            </a:r>
            <a:r>
              <a:rPr lang="en-US"/>
              <a:t>: Slack və ya Discord kimi.</a:t>
            </a:r>
          </a:p>
          <a:p>
            <a:pPr marL="742950" lvl="1" indent="-285750">
              <a:lnSpc>
                <a:spcPct val="150000"/>
              </a:lnSpc>
              <a:buFont typeface="Arial" panose="020B0604020202020204" pitchFamily="34" charset="0"/>
              <a:buChar char="•"/>
            </a:pPr>
            <a:r>
              <a:rPr lang="en-US" b="1"/>
              <a:t>Oyunlar</a:t>
            </a:r>
            <a:r>
              <a:rPr lang="en-US"/>
              <a:t>: Multiplayer (məsələn, Among Us veb versiyası).</a:t>
            </a:r>
          </a:p>
          <a:p>
            <a:pPr marL="742950" lvl="1" indent="-285750">
              <a:lnSpc>
                <a:spcPct val="150000"/>
              </a:lnSpc>
              <a:buFont typeface="Arial" panose="020B0604020202020204" pitchFamily="34" charset="0"/>
              <a:buChar char="•"/>
            </a:pPr>
            <a:r>
              <a:rPr lang="en-US" b="1"/>
              <a:t>Borsa</a:t>
            </a:r>
            <a:r>
              <a:rPr lang="en-US"/>
              <a:t>: Qiymətlər dərhal dəyişsin.</a:t>
            </a:r>
          </a:p>
          <a:p>
            <a:pPr marL="742950" lvl="1" indent="-285750">
              <a:lnSpc>
                <a:spcPct val="150000"/>
              </a:lnSpc>
              <a:buFont typeface="Arial" panose="020B0604020202020204" pitchFamily="34" charset="0"/>
              <a:buChar char="•"/>
            </a:pPr>
            <a:r>
              <a:rPr lang="en-US" b="1"/>
              <a:t>PHP nümunəsi</a:t>
            </a:r>
            <a:r>
              <a:rPr lang="en-US"/>
              <a:t>: E-ticarət saytında stoklar bitəndə xəbərdarlıq göndərmək.</a:t>
            </a:r>
          </a:p>
          <a:p>
            <a:endParaRPr lang="en-US"/>
          </a:p>
          <a:p>
            <a:r>
              <a:rPr lang="en-US" b="1"/>
              <a:t>3) Çətinliklər (balans üçün):</a:t>
            </a:r>
            <a:endParaRPr lang="en-US"/>
          </a:p>
          <a:p>
            <a:pPr marL="742950" lvl="1" indent="-285750">
              <a:lnSpc>
                <a:spcPct val="150000"/>
              </a:lnSpc>
              <a:buFont typeface="Arial" panose="020B0604020202020204" pitchFamily="34" charset="0"/>
              <a:buChar char="•"/>
            </a:pPr>
            <a:r>
              <a:rPr lang="en-US" b="1"/>
              <a:t>Server yorulur</a:t>
            </a:r>
            <a:r>
              <a:rPr lang="en-US"/>
              <a:t>: Hər istifadəçi üçün açıq xətt saxlamaq.</a:t>
            </a:r>
          </a:p>
          <a:p>
            <a:pPr marL="742950" lvl="1" indent="-285750">
              <a:lnSpc>
                <a:spcPct val="150000"/>
              </a:lnSpc>
              <a:buFont typeface="Arial" panose="020B0604020202020204" pitchFamily="34" charset="0"/>
              <a:buChar char="•"/>
            </a:pPr>
            <a:r>
              <a:rPr lang="en-US" b="1"/>
              <a:t>Firewall-lar</a:t>
            </a:r>
            <a:r>
              <a:rPr lang="en-US"/>
              <a:t>: Bəzən bloklanır.</a:t>
            </a:r>
          </a:p>
          <a:p>
            <a:pPr marL="742950" lvl="1" indent="-285750">
              <a:lnSpc>
                <a:spcPct val="150000"/>
              </a:lnSpc>
              <a:buFont typeface="Arial" panose="020B0604020202020204" pitchFamily="34" charset="0"/>
              <a:buChar char="•"/>
            </a:pPr>
            <a:r>
              <a:rPr lang="en-US" b="1"/>
              <a:t>PHP-də</a:t>
            </a:r>
            <a:r>
              <a:rPr lang="en-US"/>
              <a:t>: Node.js kimi asan deyil, amma Ratchet ilə idarə olunur.</a:t>
            </a:r>
          </a:p>
          <a:p>
            <a:endParaRPr lang="en-US"/>
          </a:p>
        </p:txBody>
      </p:sp>
    </p:spTree>
    <p:extLst>
      <p:ext uri="{BB962C8B-B14F-4D97-AF65-F5344CB8AC3E}">
        <p14:creationId xmlns:p14="http://schemas.microsoft.com/office/powerpoint/2010/main" val="3971146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ED757-E970-FE46-A11F-A0D302E5668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140A69B-CD93-1E29-278A-76DCBD178EEB}"/>
              </a:ext>
            </a:extLst>
          </p:cNvPr>
          <p:cNvSpPr txBox="1"/>
          <p:nvPr/>
        </p:nvSpPr>
        <p:spPr>
          <a:xfrm>
            <a:off x="203200" y="244826"/>
            <a:ext cx="11822545" cy="2308324"/>
          </a:xfrm>
          <a:prstGeom prst="rect">
            <a:avLst/>
          </a:prstGeom>
          <a:noFill/>
        </p:spPr>
        <p:txBody>
          <a:bodyPr wrap="square">
            <a:spAutoFit/>
          </a:bodyPr>
          <a:lstStyle/>
          <a:p>
            <a:r>
              <a:rPr lang="en-US" b="1">
                <a:latin typeface="-apple-system"/>
              </a:rPr>
              <a:t>WebSocket</a:t>
            </a:r>
            <a:r>
              <a:rPr lang="en-US">
                <a:latin typeface="-apple-system"/>
              </a:rPr>
              <a:t>: Davamlı əlaqə tələb edən, real-time (real vaxt) funksionallığı üçün nəzərdə tutulub. Məsələn, chat tətbiqləri, onlayn oyunlar, maliyyə tətbiqləri (stox bazarı yeniləmələri və s.) WebSocket istifadə edir.</a:t>
            </a:r>
          </a:p>
          <a:p>
            <a:endParaRPr lang="en-US">
              <a:latin typeface="-apple-system"/>
            </a:endParaRPr>
          </a:p>
          <a:p>
            <a:r>
              <a:rPr lang="en-US" b="1">
                <a:latin typeface="-apple-system"/>
              </a:rPr>
              <a:t>RESTful</a:t>
            </a:r>
            <a:r>
              <a:rPr lang="en-US">
                <a:latin typeface="-apple-system"/>
              </a:rPr>
              <a:t>: Daha çox stateless (öznəhsiz) əlaqələr üçün uyğun bir yanaşmadır. Müştəri hər dəfə sorğu göndərdikdə serverə yeni bir əlaqə qurulur. Məsələn, API-lər vasitəsilə məlumat əldə etmək və ya istifadəçi məlumatları ilə işləmək üçün istifadə edilir.</a:t>
            </a:r>
            <a:endParaRPr lang="az-Latn-AZ">
              <a:latin typeface="-apple-system"/>
            </a:endParaRPr>
          </a:p>
          <a:p>
            <a:endParaRPr lang="az-Latn-AZ">
              <a:latin typeface="-apple-system"/>
            </a:endParaRPr>
          </a:p>
          <a:p>
            <a:endParaRPr lang="az-Latn-AZ">
              <a:latin typeface="-apple-system"/>
            </a:endParaRPr>
          </a:p>
          <a:p>
            <a:endParaRPr lang="en-US"/>
          </a:p>
        </p:txBody>
      </p:sp>
    </p:spTree>
    <p:extLst>
      <p:ext uri="{BB962C8B-B14F-4D97-AF65-F5344CB8AC3E}">
        <p14:creationId xmlns:p14="http://schemas.microsoft.com/office/powerpoint/2010/main" val="2146720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3D4F-ACD8-F501-9C33-874E1CDCA98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2E7A14C-54E0-243C-6ED0-5747FCED348D}"/>
              </a:ext>
            </a:extLst>
          </p:cNvPr>
          <p:cNvSpPr txBox="1"/>
          <p:nvPr/>
        </p:nvSpPr>
        <p:spPr>
          <a:xfrm>
            <a:off x="203200" y="244826"/>
            <a:ext cx="11822545" cy="2862322"/>
          </a:xfrm>
          <a:prstGeom prst="rect">
            <a:avLst/>
          </a:prstGeom>
          <a:noFill/>
        </p:spPr>
        <p:txBody>
          <a:bodyPr wrap="square">
            <a:spAutoFit/>
          </a:bodyPr>
          <a:lstStyle/>
          <a:p>
            <a:r>
              <a:rPr lang="az-Latn-AZ">
                <a:latin typeface="-apple-system"/>
              </a:rPr>
              <a:t>Praktika üçün sadə bir tətbiq quraq. </a:t>
            </a:r>
          </a:p>
          <a:p>
            <a:endParaRPr lang="az-Latn-AZ">
              <a:latin typeface="-apple-system"/>
            </a:endParaRPr>
          </a:p>
          <a:p>
            <a:endParaRPr lang="az-Latn-AZ">
              <a:latin typeface="-apple-system"/>
            </a:endParaRPr>
          </a:p>
          <a:p>
            <a:r>
              <a:rPr lang="az-Latn-AZ">
                <a:latin typeface="-apple-system"/>
              </a:rPr>
              <a:t>İlk olaraq aşağıdakı kimi qovluqlar və boş fayllar yaradın. Qovluğun adını </a:t>
            </a:r>
            <a:r>
              <a:rPr lang="en-US" b="1">
                <a:latin typeface="-apple-system"/>
              </a:rPr>
              <a:t>WORKERMAN</a:t>
            </a:r>
            <a:r>
              <a:rPr lang="en-US">
                <a:latin typeface="-apple-system"/>
              </a:rPr>
              <a:t> </a:t>
            </a:r>
            <a:r>
              <a:rPr lang="az-Latn-AZ">
                <a:latin typeface="-apple-system"/>
              </a:rPr>
              <a:t>qoydum. Siz fərqli bir ad qoya bilərsiz. </a:t>
            </a:r>
          </a:p>
          <a:p>
            <a:endParaRPr lang="az-Latn-AZ"/>
          </a:p>
          <a:p>
            <a:r>
              <a:rPr lang="az-Latn-AZ"/>
              <a:t>Bu tətbiqi yığan zaman </a:t>
            </a:r>
            <a:r>
              <a:rPr lang="en-US" b="1">
                <a:solidFill>
                  <a:srgbClr val="FF0000"/>
                </a:solidFill>
              </a:rPr>
              <a:t>workerman</a:t>
            </a:r>
            <a:r>
              <a:rPr lang="en-US"/>
              <a:t> </a:t>
            </a:r>
            <a:r>
              <a:rPr lang="az-Latn-AZ"/>
              <a:t>adlı bir </a:t>
            </a:r>
            <a:r>
              <a:rPr lang="az-Latn-AZ" b="1"/>
              <a:t>paket</a:t>
            </a:r>
            <a:r>
              <a:rPr lang="az-Latn-AZ"/>
              <a:t> quraşdıracağıq. </a:t>
            </a:r>
          </a:p>
          <a:p>
            <a:endParaRPr lang="az-Latn-AZ"/>
          </a:p>
          <a:p>
            <a:r>
              <a:rPr lang="az-Latn-AZ">
                <a:highlight>
                  <a:srgbClr val="FFFF00"/>
                </a:highlight>
              </a:rPr>
              <a:t>NOT: </a:t>
            </a:r>
            <a:r>
              <a:rPr lang="az-Latn-AZ" b="1">
                <a:highlight>
                  <a:srgbClr val="FFFF00"/>
                </a:highlight>
              </a:rPr>
              <a:t>paketin</a:t>
            </a:r>
            <a:r>
              <a:rPr lang="az-Latn-AZ">
                <a:highlight>
                  <a:srgbClr val="FFFF00"/>
                </a:highlight>
              </a:rPr>
              <a:t> adı ilə </a:t>
            </a:r>
            <a:r>
              <a:rPr lang="az-Latn-AZ" b="1">
                <a:highlight>
                  <a:srgbClr val="FFFF00"/>
                </a:highlight>
              </a:rPr>
              <a:t>qovluğun</a:t>
            </a:r>
            <a:r>
              <a:rPr lang="az-Latn-AZ">
                <a:highlight>
                  <a:srgbClr val="FFFF00"/>
                </a:highlight>
              </a:rPr>
              <a:t> adını, eyni olduqları üçün səhf salmıyarsız</a:t>
            </a:r>
            <a:r>
              <a:rPr lang="az-Latn-AZ"/>
              <a:t>. </a:t>
            </a:r>
          </a:p>
          <a:p>
            <a:endParaRPr lang="az-Latn-AZ"/>
          </a:p>
          <a:p>
            <a:endParaRPr lang="en-US"/>
          </a:p>
        </p:txBody>
      </p:sp>
      <p:pic>
        <p:nvPicPr>
          <p:cNvPr id="3" name="Picture 2">
            <a:extLst>
              <a:ext uri="{FF2B5EF4-FFF2-40B4-BE49-F238E27FC236}">
                <a16:creationId xmlns:a16="http://schemas.microsoft.com/office/drawing/2014/main" id="{9DE08AC9-5458-2FEF-35BB-43CC67D7325D}"/>
              </a:ext>
            </a:extLst>
          </p:cNvPr>
          <p:cNvPicPr>
            <a:picLocks noChangeAspect="1"/>
          </p:cNvPicPr>
          <p:nvPr/>
        </p:nvPicPr>
        <p:blipFill>
          <a:blip r:embed="rId2"/>
          <a:stretch>
            <a:fillRect/>
          </a:stretch>
        </p:blipFill>
        <p:spPr>
          <a:xfrm>
            <a:off x="1617774" y="3971522"/>
            <a:ext cx="10574226" cy="2886478"/>
          </a:xfrm>
          <a:prstGeom prst="rect">
            <a:avLst/>
          </a:prstGeom>
        </p:spPr>
      </p:pic>
    </p:spTree>
    <p:extLst>
      <p:ext uri="{BB962C8B-B14F-4D97-AF65-F5344CB8AC3E}">
        <p14:creationId xmlns:p14="http://schemas.microsoft.com/office/powerpoint/2010/main" val="3391715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8C109-F37A-712D-A66A-3B488297CB7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6AAAE13-8832-B6F0-9958-FCC3C135EF20}"/>
              </a:ext>
            </a:extLst>
          </p:cNvPr>
          <p:cNvSpPr txBox="1"/>
          <p:nvPr/>
        </p:nvSpPr>
        <p:spPr>
          <a:xfrm>
            <a:off x="203200" y="244826"/>
            <a:ext cx="11822545" cy="5447645"/>
          </a:xfrm>
          <a:prstGeom prst="rect">
            <a:avLst/>
          </a:prstGeom>
          <a:noFill/>
        </p:spPr>
        <p:txBody>
          <a:bodyPr wrap="square">
            <a:spAutoFit/>
          </a:bodyPr>
          <a:lstStyle/>
          <a:p>
            <a:r>
              <a:rPr lang="en-US" sz="1200" b="1">
                <a:solidFill>
                  <a:srgbClr val="FF0000"/>
                </a:solidFill>
                <a:latin typeface="-apple-system"/>
              </a:rPr>
              <a:t>Workerman</a:t>
            </a:r>
            <a:r>
              <a:rPr lang="en-US" sz="1200">
                <a:latin typeface="-apple-system"/>
              </a:rPr>
              <a:t> — PHP üçün asinxron, hadisə</a:t>
            </a:r>
            <a:r>
              <a:rPr lang="az-Latn-AZ" sz="1200">
                <a:latin typeface="-apple-system"/>
              </a:rPr>
              <a:t>lərə</a:t>
            </a:r>
            <a:r>
              <a:rPr lang="en-US" sz="1200">
                <a:latin typeface="-apple-system"/>
              </a:rPr>
              <a:t> əsasl</a:t>
            </a:r>
            <a:r>
              <a:rPr lang="az-Latn-AZ" sz="1200">
                <a:latin typeface="-apple-system"/>
              </a:rPr>
              <a:t>anan</a:t>
            </a:r>
            <a:r>
              <a:rPr lang="en-US" sz="1200">
                <a:latin typeface="-apple-system"/>
              </a:rPr>
              <a:t> (event-driven) və yüksək performanslı bir </a:t>
            </a:r>
            <a:r>
              <a:rPr lang="az-Latn-AZ" sz="1200">
                <a:latin typeface="-apple-system"/>
              </a:rPr>
              <a:t>paketdir</a:t>
            </a:r>
            <a:r>
              <a:rPr lang="en-US" sz="1200">
                <a:latin typeface="-apple-system"/>
              </a:rPr>
              <a:t>. Yüksək yüklü və böyük miqyaslı şəbəkə tətbiqləri yaratmağa imkan verir. Workerman</a:t>
            </a:r>
            <a:r>
              <a:rPr lang="az-Latn-AZ" sz="1200">
                <a:latin typeface="-apple-system"/>
              </a:rPr>
              <a:t> paketi</a:t>
            </a:r>
            <a:r>
              <a:rPr lang="en-US" sz="1200">
                <a:latin typeface="-apple-system"/>
              </a:rPr>
              <a:t>, </a:t>
            </a:r>
            <a:r>
              <a:rPr lang="en-US" sz="1200" b="1">
                <a:latin typeface="-apple-system"/>
              </a:rPr>
              <a:t>WebSocket</a:t>
            </a:r>
            <a:r>
              <a:rPr lang="en-US" sz="1200">
                <a:latin typeface="-apple-system"/>
              </a:rPr>
              <a:t> və </a:t>
            </a:r>
            <a:r>
              <a:rPr lang="en-US" sz="1200" b="1">
                <a:latin typeface="-apple-system"/>
              </a:rPr>
              <a:t>HTTP</a:t>
            </a:r>
            <a:r>
              <a:rPr lang="en-US" sz="1200">
                <a:latin typeface="-apple-system"/>
              </a:rPr>
              <a:t> kimi protokolları dəstəkləyir və </a:t>
            </a:r>
            <a:r>
              <a:rPr lang="az-Latn-AZ" sz="1200">
                <a:latin typeface="-apple-system"/>
              </a:rPr>
              <a:t>xüsusi</a:t>
            </a:r>
            <a:r>
              <a:rPr lang="en-US" sz="1200">
                <a:latin typeface="-apple-system"/>
              </a:rPr>
              <a:t> protokollar da qura bil</a:t>
            </a:r>
            <a:r>
              <a:rPr lang="az-Latn-AZ" sz="1200">
                <a:latin typeface="-apple-system"/>
              </a:rPr>
              <a:t>i</a:t>
            </a:r>
            <a:r>
              <a:rPr lang="en-US" sz="1200">
                <a:latin typeface="-apple-system"/>
              </a:rPr>
              <a:t>r. Bu çərçivə, çoxlu əlaqələri eyni anda idarə etmək üçün xüsusi optimizasiyalarla təmin edilib.</a:t>
            </a:r>
            <a:endParaRPr lang="az-Latn-AZ" sz="1200">
              <a:latin typeface="-apple-system"/>
            </a:endParaRPr>
          </a:p>
          <a:p>
            <a:endParaRPr lang="az-Latn-AZ" sz="1200">
              <a:latin typeface="-apple-system"/>
            </a:endParaRPr>
          </a:p>
          <a:p>
            <a:r>
              <a:rPr lang="en-US" sz="1200" b="1">
                <a:solidFill>
                  <a:srgbClr val="00B050"/>
                </a:solidFill>
              </a:rPr>
              <a:t>Asinxron və Hadisə Əsaslı (Event-driven) Arxitektura</a:t>
            </a:r>
          </a:p>
          <a:p>
            <a:r>
              <a:rPr lang="en-US" sz="1200"/>
              <a:t>Workerman, </a:t>
            </a:r>
            <a:r>
              <a:rPr lang="en-US" sz="1200" b="1"/>
              <a:t>asinxron</a:t>
            </a:r>
            <a:r>
              <a:rPr lang="en-US" sz="1200"/>
              <a:t> işləyən bir çərçivədir. Bu o deməkdir ki, tətbiq birdən çox iş və ya əməliyyatı eyni anda (paralel olaraq) yerinə yetirə bilər. Əgər bir əməliyyat uzun müddət tələb edirsə (məsələn, verilənlər bazasına sorğu göndərmək və ya xarici API ilə əlaqə qurmaq), bu zaman Workerman digər əməliyyatları (məsələn, yeni müştəri əlaqələri) dayandırmadan yerinə yetirə bilir. Bu, iş yükünü bölüşdürərək tətbiqin daha sürətli və daha az resurs sərf etməsinə imkan verir.</a:t>
            </a:r>
          </a:p>
          <a:p>
            <a:r>
              <a:rPr lang="en-US" sz="1200"/>
              <a:t>Bu yanaşma </a:t>
            </a:r>
            <a:r>
              <a:rPr lang="en-US" sz="1200" b="1"/>
              <a:t>bloklanmayan</a:t>
            </a:r>
            <a:r>
              <a:rPr lang="en-US" sz="1200"/>
              <a:t> əməliyyatlara əsaslanır, yəni hər bir sorğu öz müstəqil axını ilə idarə olunur.</a:t>
            </a:r>
          </a:p>
          <a:p>
            <a:endParaRPr lang="az-Latn-AZ" sz="1200"/>
          </a:p>
          <a:p>
            <a:endParaRPr lang="az-Latn-AZ" sz="1200"/>
          </a:p>
          <a:p>
            <a:r>
              <a:rPr lang="en-US" sz="1200" b="1">
                <a:solidFill>
                  <a:srgbClr val="00B050"/>
                </a:solidFill>
              </a:rPr>
              <a:t>Yüksək Performanslı Şəbəkə Tətbiqləri</a:t>
            </a:r>
          </a:p>
          <a:p>
            <a:r>
              <a:rPr lang="en-US" sz="1200"/>
              <a:t>Workerman çoxlu əlaqələri eyni anda idarə edə bilir. Bu xüsusiyyət onu </a:t>
            </a:r>
            <a:r>
              <a:rPr lang="en-US" sz="1200" b="1"/>
              <a:t>WebSocket</a:t>
            </a:r>
            <a:r>
              <a:rPr lang="en-US" sz="1200"/>
              <a:t> və </a:t>
            </a:r>
            <a:r>
              <a:rPr lang="en-US" sz="1200" b="1"/>
              <a:t>real-time</a:t>
            </a:r>
            <a:r>
              <a:rPr lang="en-US" sz="1200"/>
              <a:t> (real vaxt) tətbiqləri üçün çox əlverişli edir. WebSocket əlaqələri, məlumatın </a:t>
            </a:r>
            <a:r>
              <a:rPr lang="en-US" sz="1200" b="1" i="1"/>
              <a:t>server</a:t>
            </a:r>
            <a:r>
              <a:rPr lang="en-US" sz="1200"/>
              <a:t> və </a:t>
            </a:r>
            <a:r>
              <a:rPr lang="az-Latn-AZ" sz="1200" b="1" i="1"/>
              <a:t>client</a:t>
            </a:r>
            <a:r>
              <a:rPr lang="en-US" sz="1200"/>
              <a:t> arasında davamlı olaraq, dərhal ötürülməsini tələb edən tətbiqlərdir. </a:t>
            </a:r>
          </a:p>
          <a:p>
            <a:endParaRPr lang="az-Latn-AZ" sz="1200"/>
          </a:p>
          <a:p>
            <a:endParaRPr lang="az-Latn-AZ" sz="1200"/>
          </a:p>
          <a:p>
            <a:r>
              <a:rPr lang="en-US" sz="1200" b="1">
                <a:solidFill>
                  <a:srgbClr val="00B050"/>
                </a:solidFill>
              </a:rPr>
              <a:t>Məqsəd və İstifadə Halları</a:t>
            </a:r>
          </a:p>
          <a:p>
            <a:r>
              <a:rPr lang="en-US" sz="1200"/>
              <a:t>Workerman-in əsas məqsədi yüksək </a:t>
            </a:r>
            <a:r>
              <a:rPr lang="en-US" sz="1200" b="1"/>
              <a:t>performans</a:t>
            </a:r>
            <a:r>
              <a:rPr lang="en-US" sz="1200"/>
              <a:t> və </a:t>
            </a:r>
            <a:r>
              <a:rPr lang="en-US" sz="1200" b="1"/>
              <a:t>miqyaslanabilirlik</a:t>
            </a:r>
            <a:r>
              <a:rPr lang="en-US" sz="1200"/>
              <a:t> təmin etməkdir. Bu çərçivə, yüksək yüklü server tətbiqlərində istifadə olunur. Əsas istifadəsi sahələrinə daxil ola biləcək bir neçə nümunə:</a:t>
            </a:r>
          </a:p>
          <a:p>
            <a:pPr marL="628650" lvl="1" indent="-171450">
              <a:lnSpc>
                <a:spcPct val="150000"/>
              </a:lnSpc>
              <a:buFont typeface="Arial" panose="020B0604020202020204" pitchFamily="34" charset="0"/>
              <a:buChar char="•"/>
            </a:pPr>
            <a:r>
              <a:rPr lang="en-US" sz="1200" b="1"/>
              <a:t>WebSocket serverləri</a:t>
            </a:r>
            <a:r>
              <a:rPr lang="en-US" sz="1200"/>
              <a:t> (real vaxt tətbiqləri üçün)</a:t>
            </a:r>
          </a:p>
          <a:p>
            <a:pPr marL="628650" lvl="1" indent="-171450">
              <a:lnSpc>
                <a:spcPct val="150000"/>
              </a:lnSpc>
              <a:buFont typeface="Arial" panose="020B0604020202020204" pitchFamily="34" charset="0"/>
              <a:buChar char="•"/>
            </a:pPr>
            <a:r>
              <a:rPr lang="en-US" sz="1200" b="1"/>
              <a:t>HTTP serverləri</a:t>
            </a:r>
            <a:r>
              <a:rPr lang="en-US" sz="1200"/>
              <a:t> (asinxron HTTP tətbiqləri)</a:t>
            </a:r>
          </a:p>
          <a:p>
            <a:pPr marL="628650" lvl="1" indent="-171450">
              <a:lnSpc>
                <a:spcPct val="150000"/>
              </a:lnSpc>
              <a:buFont typeface="Arial" panose="020B0604020202020204" pitchFamily="34" charset="0"/>
              <a:buChar char="•"/>
            </a:pPr>
            <a:r>
              <a:rPr lang="en-US" sz="1200" b="1"/>
              <a:t>Protokol əsaslı serverlər</a:t>
            </a:r>
            <a:r>
              <a:rPr lang="en-US" sz="1200"/>
              <a:t> (məsələn, özəl TCP/UDP serverləri)</a:t>
            </a:r>
          </a:p>
          <a:p>
            <a:pPr marL="628650" lvl="1" indent="-171450">
              <a:lnSpc>
                <a:spcPct val="150000"/>
              </a:lnSpc>
              <a:buFont typeface="Arial" panose="020B0604020202020204" pitchFamily="34" charset="0"/>
              <a:buChar char="•"/>
            </a:pPr>
            <a:r>
              <a:rPr lang="en-US" sz="1200" b="1"/>
              <a:t>Çoxlu əlaqə idarəsi</a:t>
            </a:r>
            <a:r>
              <a:rPr lang="en-US" sz="1200"/>
              <a:t> (məsələn, bir neçə müştəriyə eyni anda xidmət etmək)</a:t>
            </a:r>
          </a:p>
          <a:p>
            <a:endParaRPr lang="az-Latn-AZ" sz="1200"/>
          </a:p>
          <a:p>
            <a:endParaRPr lang="az-Latn-AZ" sz="1200"/>
          </a:p>
          <a:p>
            <a:endParaRPr lang="az-Latn-AZ" sz="1200"/>
          </a:p>
          <a:p>
            <a:r>
              <a:rPr lang="az-Latn-AZ" sz="1200"/>
              <a:t>Bu paketi `</a:t>
            </a:r>
            <a:r>
              <a:rPr lang="az-Latn-AZ" sz="1200" b="1">
                <a:solidFill>
                  <a:srgbClr val="0070C0"/>
                </a:solidFill>
              </a:rPr>
              <a:t>composer require workerman/workerman</a:t>
            </a:r>
            <a:r>
              <a:rPr lang="az-Latn-AZ" sz="1200"/>
              <a:t>` yazaraq quraşdıra bilərik.</a:t>
            </a:r>
            <a:endParaRPr lang="en-US" sz="1200"/>
          </a:p>
        </p:txBody>
      </p:sp>
      <p:pic>
        <p:nvPicPr>
          <p:cNvPr id="3" name="Picture 2">
            <a:extLst>
              <a:ext uri="{FF2B5EF4-FFF2-40B4-BE49-F238E27FC236}">
                <a16:creationId xmlns:a16="http://schemas.microsoft.com/office/drawing/2014/main" id="{10D1B0E7-D027-1AA9-F64F-CDFD26D579F3}"/>
              </a:ext>
            </a:extLst>
          </p:cNvPr>
          <p:cNvPicPr>
            <a:picLocks noChangeAspect="1"/>
          </p:cNvPicPr>
          <p:nvPr/>
        </p:nvPicPr>
        <p:blipFill>
          <a:blip r:embed="rId2"/>
          <a:stretch>
            <a:fillRect/>
          </a:stretch>
        </p:blipFill>
        <p:spPr>
          <a:xfrm>
            <a:off x="6853382" y="3873968"/>
            <a:ext cx="5338618" cy="2984032"/>
          </a:xfrm>
          <a:prstGeom prst="rect">
            <a:avLst/>
          </a:prstGeom>
        </p:spPr>
      </p:pic>
    </p:spTree>
    <p:extLst>
      <p:ext uri="{BB962C8B-B14F-4D97-AF65-F5344CB8AC3E}">
        <p14:creationId xmlns:p14="http://schemas.microsoft.com/office/powerpoint/2010/main" val="2870253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0BC7D-184F-E430-30E8-6C4883A1156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B07C32B-93CB-2A99-3D2E-C64C4940CF95}"/>
              </a:ext>
            </a:extLst>
          </p:cNvPr>
          <p:cNvSpPr txBox="1"/>
          <p:nvPr/>
        </p:nvSpPr>
        <p:spPr>
          <a:xfrm>
            <a:off x="203200" y="244826"/>
            <a:ext cx="11822545" cy="646331"/>
          </a:xfrm>
          <a:prstGeom prst="rect">
            <a:avLst/>
          </a:prstGeom>
          <a:noFill/>
        </p:spPr>
        <p:txBody>
          <a:bodyPr wrap="square">
            <a:spAutoFit/>
          </a:bodyPr>
          <a:lstStyle/>
          <a:p>
            <a:r>
              <a:rPr lang="en-US">
                <a:latin typeface="-apple-system"/>
              </a:rPr>
              <a:t>HTML </a:t>
            </a:r>
            <a:r>
              <a:rPr lang="az-Latn-AZ">
                <a:latin typeface="-apple-system"/>
              </a:rPr>
              <a:t>tərəfində sadə bir kod yazırıq. Təxmini görəcəyimiz iş odur ki, bir istifadəçi bu topu hərəkət etdirdikdə digər istəfadəçi anlıq olan dəyişikliyi görə bilsin.</a:t>
            </a:r>
            <a:endParaRPr lang="en-US"/>
          </a:p>
        </p:txBody>
      </p:sp>
      <p:pic>
        <p:nvPicPr>
          <p:cNvPr id="3" name="Picture 2">
            <a:extLst>
              <a:ext uri="{FF2B5EF4-FFF2-40B4-BE49-F238E27FC236}">
                <a16:creationId xmlns:a16="http://schemas.microsoft.com/office/drawing/2014/main" id="{ABFDFFA3-CB1B-614B-8070-D6595E20E8B5}"/>
              </a:ext>
            </a:extLst>
          </p:cNvPr>
          <p:cNvPicPr>
            <a:picLocks noChangeAspect="1"/>
          </p:cNvPicPr>
          <p:nvPr/>
        </p:nvPicPr>
        <p:blipFill>
          <a:blip r:embed="rId2"/>
          <a:stretch>
            <a:fillRect/>
          </a:stretch>
        </p:blipFill>
        <p:spPr>
          <a:xfrm>
            <a:off x="4729018" y="1161003"/>
            <a:ext cx="7462982" cy="5696997"/>
          </a:xfrm>
          <a:prstGeom prst="rect">
            <a:avLst/>
          </a:prstGeom>
        </p:spPr>
      </p:pic>
      <p:pic>
        <p:nvPicPr>
          <p:cNvPr id="5" name="Picture 4">
            <a:extLst>
              <a:ext uri="{FF2B5EF4-FFF2-40B4-BE49-F238E27FC236}">
                <a16:creationId xmlns:a16="http://schemas.microsoft.com/office/drawing/2014/main" id="{C3B98F07-95E0-27D5-F711-9149E2A9320D}"/>
              </a:ext>
            </a:extLst>
          </p:cNvPr>
          <p:cNvPicPr>
            <a:picLocks noChangeAspect="1"/>
          </p:cNvPicPr>
          <p:nvPr/>
        </p:nvPicPr>
        <p:blipFill>
          <a:blip r:embed="rId3"/>
          <a:stretch>
            <a:fillRect/>
          </a:stretch>
        </p:blipFill>
        <p:spPr>
          <a:xfrm>
            <a:off x="83128" y="5304163"/>
            <a:ext cx="3906982" cy="14799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492620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22CDC-46A9-63A3-63B6-C65EF7D3AC8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B9E8A51-4248-18BD-805F-F833781E0509}"/>
              </a:ext>
            </a:extLst>
          </p:cNvPr>
          <p:cNvSpPr txBox="1"/>
          <p:nvPr/>
        </p:nvSpPr>
        <p:spPr>
          <a:xfrm>
            <a:off x="203200" y="244826"/>
            <a:ext cx="5264727" cy="5770811"/>
          </a:xfrm>
          <a:prstGeom prst="rect">
            <a:avLst/>
          </a:prstGeom>
          <a:noFill/>
        </p:spPr>
        <p:txBody>
          <a:bodyPr wrap="square">
            <a:spAutoFit/>
          </a:bodyPr>
          <a:lstStyle/>
          <a:p>
            <a:pPr>
              <a:lnSpc>
                <a:spcPct val="150000"/>
              </a:lnSpc>
            </a:pPr>
            <a:r>
              <a:rPr lang="az-Latn-AZ">
                <a:latin typeface="-apple-system"/>
              </a:rPr>
              <a:t>Kodu yazmağa başlamadan əvvəl birdə belə bir paket quraşdırırıq: </a:t>
            </a:r>
            <a:r>
              <a:rPr lang="az-Latn-AZ" b="1">
                <a:solidFill>
                  <a:srgbClr val="FF0000"/>
                </a:solidFill>
                <a:latin typeface="-apple-system"/>
              </a:rPr>
              <a:t>npm install -g http-server</a:t>
            </a:r>
          </a:p>
          <a:p>
            <a:pPr>
              <a:lnSpc>
                <a:spcPct val="150000"/>
              </a:lnSpc>
            </a:pPr>
            <a:endParaRPr lang="az-Latn-AZ">
              <a:latin typeface="-apple-system"/>
            </a:endParaRPr>
          </a:p>
          <a:p>
            <a:pPr>
              <a:lnSpc>
                <a:spcPct val="150000"/>
              </a:lnSpc>
            </a:pPr>
            <a:r>
              <a:rPr lang="en-US" b="1"/>
              <a:t>http-server</a:t>
            </a:r>
            <a:r>
              <a:rPr lang="en-US"/>
              <a:t> paketi, sadə və yüngül bir </a:t>
            </a:r>
            <a:r>
              <a:rPr lang="en-US" b="1"/>
              <a:t>HTTP</a:t>
            </a:r>
            <a:r>
              <a:rPr lang="en-US"/>
              <a:t> serveri təmin edən bir </a:t>
            </a:r>
            <a:r>
              <a:rPr lang="en-US" b="1"/>
              <a:t>Node.js </a:t>
            </a:r>
            <a:r>
              <a:rPr lang="en-US"/>
              <a:t>paketidir. Adətən, statik faylları (HTML, CSS, JS, şəkillər və s.) </a:t>
            </a:r>
            <a:r>
              <a:rPr lang="az-Latn-AZ"/>
              <a:t>local</a:t>
            </a:r>
            <a:r>
              <a:rPr lang="en-US"/>
              <a:t> inkişaf mühitində </a:t>
            </a:r>
            <a:r>
              <a:rPr lang="az-Latn-AZ"/>
              <a:t>açmaq </a:t>
            </a:r>
            <a:r>
              <a:rPr lang="en-US"/>
              <a:t>üçün istifadə edilir.</a:t>
            </a:r>
            <a:endParaRPr lang="az-Latn-AZ"/>
          </a:p>
          <a:p>
            <a:endParaRPr lang="az-Latn-AZ"/>
          </a:p>
          <a:p>
            <a:endParaRPr lang="az-Latn-AZ"/>
          </a:p>
          <a:p>
            <a:endParaRPr lang="az-Latn-AZ"/>
          </a:p>
          <a:p>
            <a:endParaRPr lang="az-Latn-AZ"/>
          </a:p>
          <a:p>
            <a:endParaRPr lang="az-Latn-AZ"/>
          </a:p>
          <a:p>
            <a:endParaRPr lang="az-Latn-AZ"/>
          </a:p>
          <a:p>
            <a:r>
              <a:rPr lang="az-Latn-AZ"/>
              <a:t>Paketi işə salmaq üçün isə belə bir əmr yazmaq lazımdır: </a:t>
            </a:r>
            <a:r>
              <a:rPr lang="az-Latn-AZ" b="1">
                <a:solidFill>
                  <a:srgbClr val="FF0000"/>
                </a:solidFill>
              </a:rPr>
              <a:t>http-server client</a:t>
            </a:r>
          </a:p>
          <a:p>
            <a:endParaRPr lang="az-Latn-AZ"/>
          </a:p>
          <a:p>
            <a:r>
              <a:rPr lang="az-Latn-AZ" b="1" i="1"/>
              <a:t>client</a:t>
            </a:r>
            <a:r>
              <a:rPr lang="az-Latn-AZ"/>
              <a:t> burada </a:t>
            </a:r>
            <a:r>
              <a:rPr lang="az-Latn-AZ" b="1" i="1"/>
              <a:t>index.html </a:t>
            </a:r>
            <a:r>
              <a:rPr lang="az-Latn-AZ"/>
              <a:t>yerləşdiyi qovluğun adıdır.</a:t>
            </a:r>
            <a:endParaRPr lang="en-US"/>
          </a:p>
        </p:txBody>
      </p:sp>
      <p:pic>
        <p:nvPicPr>
          <p:cNvPr id="3" name="Picture 2">
            <a:extLst>
              <a:ext uri="{FF2B5EF4-FFF2-40B4-BE49-F238E27FC236}">
                <a16:creationId xmlns:a16="http://schemas.microsoft.com/office/drawing/2014/main" id="{B838F1A6-FC29-1E52-3FD5-A1D14DD08152}"/>
              </a:ext>
            </a:extLst>
          </p:cNvPr>
          <p:cNvPicPr>
            <a:picLocks noChangeAspect="1"/>
          </p:cNvPicPr>
          <p:nvPr/>
        </p:nvPicPr>
        <p:blipFill>
          <a:blip r:embed="rId2"/>
          <a:stretch>
            <a:fillRect/>
          </a:stretch>
        </p:blipFill>
        <p:spPr>
          <a:xfrm>
            <a:off x="5809673" y="0"/>
            <a:ext cx="6382327" cy="2595429"/>
          </a:xfrm>
          <a:prstGeom prst="rect">
            <a:avLst/>
          </a:prstGeom>
        </p:spPr>
      </p:pic>
      <p:pic>
        <p:nvPicPr>
          <p:cNvPr id="5" name="Picture 4">
            <a:extLst>
              <a:ext uri="{FF2B5EF4-FFF2-40B4-BE49-F238E27FC236}">
                <a16:creationId xmlns:a16="http://schemas.microsoft.com/office/drawing/2014/main" id="{5C452C97-2E24-D139-965F-B51875976362}"/>
              </a:ext>
            </a:extLst>
          </p:cNvPr>
          <p:cNvPicPr>
            <a:picLocks noChangeAspect="1"/>
          </p:cNvPicPr>
          <p:nvPr/>
        </p:nvPicPr>
        <p:blipFill>
          <a:blip r:embed="rId3"/>
          <a:stretch>
            <a:fillRect/>
          </a:stretch>
        </p:blipFill>
        <p:spPr>
          <a:xfrm>
            <a:off x="6943058" y="4147127"/>
            <a:ext cx="5248942" cy="2710873"/>
          </a:xfrm>
          <a:prstGeom prst="rect">
            <a:avLst/>
          </a:prstGeom>
        </p:spPr>
      </p:pic>
    </p:spTree>
    <p:extLst>
      <p:ext uri="{BB962C8B-B14F-4D97-AF65-F5344CB8AC3E}">
        <p14:creationId xmlns:p14="http://schemas.microsoft.com/office/powerpoint/2010/main" val="2036437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70F4A-F3C5-C214-77BF-78BFA8303A2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226A8AB-B655-2173-AA53-8135B0271E0A}"/>
              </a:ext>
            </a:extLst>
          </p:cNvPr>
          <p:cNvSpPr txBox="1"/>
          <p:nvPr/>
        </p:nvSpPr>
        <p:spPr>
          <a:xfrm>
            <a:off x="203200" y="244826"/>
            <a:ext cx="11822545" cy="4524315"/>
          </a:xfrm>
          <a:prstGeom prst="rect">
            <a:avLst/>
          </a:prstGeom>
          <a:noFill/>
        </p:spPr>
        <p:txBody>
          <a:bodyPr wrap="square">
            <a:spAutoFit/>
          </a:bodyPr>
          <a:lstStyle/>
          <a:p>
            <a:r>
              <a:rPr lang="az-Latn-AZ" sz="1600" b="1">
                <a:solidFill>
                  <a:srgbClr val="FF0000"/>
                </a:solidFill>
                <a:latin typeface="-apple-system"/>
              </a:rPr>
              <a:t>Quracağımız tətbiq haqqında qısa xülasə</a:t>
            </a:r>
            <a:r>
              <a:rPr lang="az-Latn-AZ" sz="1600">
                <a:latin typeface="-apple-system"/>
              </a:rPr>
              <a:t>: </a:t>
            </a:r>
          </a:p>
          <a:p>
            <a:endParaRPr lang="az-Latn-AZ" sz="1600">
              <a:latin typeface="-apple-system"/>
            </a:endParaRPr>
          </a:p>
          <a:p>
            <a:r>
              <a:rPr lang="en-US" sz="1600"/>
              <a:t>WebSocket tətbiqi yaratmaq üçün</a:t>
            </a:r>
            <a:r>
              <a:rPr lang="az-Latn-AZ" sz="1600"/>
              <a:t> bir</a:t>
            </a:r>
            <a:r>
              <a:rPr lang="en-US" sz="1600"/>
              <a:t> </a:t>
            </a:r>
            <a:r>
              <a:rPr lang="az-Latn-AZ" sz="1600"/>
              <a:t>kod </a:t>
            </a:r>
            <a:r>
              <a:rPr lang="en-US" sz="1600"/>
              <a:t>yaz</a:t>
            </a:r>
            <a:r>
              <a:rPr lang="az-Latn-AZ" sz="1600"/>
              <a:t>acağıq</a:t>
            </a:r>
            <a:r>
              <a:rPr lang="en-US" sz="1600"/>
              <a:t>. </a:t>
            </a:r>
            <a:r>
              <a:rPr lang="az-Latn-AZ" sz="1600"/>
              <a:t>Bu kodun</a:t>
            </a:r>
            <a:r>
              <a:rPr lang="en-US" sz="1600"/>
              <a:t> məqsəd, bir veb səhifədə yerləşən obyekti (yaşıl və ya qırmızı rəngdə olan dairəvi bir "unit") istifadəçinin klaviatura ox düymələri ilə hərəkət etdirmək və bu hərəkətləri digər əlaqəli müştərilərə (client-lara) WebSocket vasitəsilə göndərməkdir. Server isə hər bir müştəri ilə əlaqə qurur və onların hərəkətlərini digər müştərilərə ötürür.</a:t>
            </a:r>
            <a:endParaRPr lang="az-Latn-AZ" sz="1600"/>
          </a:p>
          <a:p>
            <a:endParaRPr lang="az-Latn-AZ" sz="1600"/>
          </a:p>
          <a:p>
            <a:endParaRPr lang="en-US" sz="1600"/>
          </a:p>
          <a:p>
            <a:r>
              <a:rPr lang="en-US" sz="1600" b="1"/>
              <a:t>Qısa şəkildə</a:t>
            </a:r>
            <a:r>
              <a:rPr lang="en-US" sz="1600"/>
              <a:t>:</a:t>
            </a:r>
            <a:endParaRPr lang="az-Latn-AZ" sz="1600"/>
          </a:p>
          <a:p>
            <a:endParaRPr lang="en-US" sz="1600"/>
          </a:p>
          <a:p>
            <a:pPr marL="285750" indent="-285750">
              <a:buFont typeface="Arial" panose="020B0604020202020204" pitchFamily="34" charset="0"/>
              <a:buChar char="•"/>
            </a:pPr>
            <a:r>
              <a:rPr lang="en-US" sz="1600" b="1"/>
              <a:t>Frontend (HTML, JS)</a:t>
            </a:r>
            <a:r>
              <a:rPr lang="en-US" sz="1600"/>
              <a:t>: İstifadəçi ox düymələrini basaraq obyekti hərəkət etdirir, hər bir dəyişiklikdə serverə məlumat göndərir.</a:t>
            </a:r>
            <a:endParaRPr lang="az-Latn-AZ" sz="1600"/>
          </a:p>
          <a:p>
            <a:pPr marL="285750" indent="-285750">
              <a:buFont typeface="Arial" panose="020B0604020202020204" pitchFamily="34" charset="0"/>
              <a:buChar char="•"/>
            </a:pPr>
            <a:endParaRPr lang="az-Latn-AZ" sz="1600"/>
          </a:p>
          <a:p>
            <a:pPr marL="285750" indent="-285750">
              <a:buFont typeface="Arial" panose="020B0604020202020204" pitchFamily="34" charset="0"/>
              <a:buChar char="•"/>
            </a:pPr>
            <a:endParaRPr lang="en-US" sz="1600"/>
          </a:p>
          <a:p>
            <a:pPr marL="285750" indent="-285750">
              <a:buFont typeface="Arial" panose="020B0604020202020204" pitchFamily="34" charset="0"/>
              <a:buChar char="•"/>
            </a:pPr>
            <a:r>
              <a:rPr lang="en-US" sz="1600" b="1"/>
              <a:t>Backend (PHP, Workerman)</a:t>
            </a:r>
            <a:r>
              <a:rPr lang="en-US" sz="1600"/>
              <a:t>: WebSocket serveri müştərilərlə əlaqə qurur, müştərilərin göndərdiyi hərəkət məlumatlarını alır və bu məlumatları əlaqəli digər müştərilərə göndərir.</a:t>
            </a:r>
            <a:endParaRPr lang="az-Latn-AZ" sz="1600"/>
          </a:p>
          <a:p>
            <a:pPr marL="285750" indent="-285750">
              <a:buFont typeface="Arial" panose="020B0604020202020204" pitchFamily="34" charset="0"/>
              <a:buChar char="•"/>
            </a:pPr>
            <a:endParaRPr lang="az-Latn-AZ" sz="1600"/>
          </a:p>
          <a:p>
            <a:pPr marL="285750" indent="-285750">
              <a:buFont typeface="Arial" panose="020B0604020202020204" pitchFamily="34" charset="0"/>
              <a:buChar char="•"/>
            </a:pPr>
            <a:endParaRPr lang="en-US" sz="1600"/>
          </a:p>
          <a:p>
            <a:r>
              <a:rPr lang="en-US" sz="1600"/>
              <a:t>Bu, çoxlu istifadəçilərin eyni anda obyekti görməsini və qarşılıqlı əlaqədə olmasını təmin edən bir tətbiqdir.</a:t>
            </a:r>
          </a:p>
          <a:p>
            <a:endParaRPr lang="en-US" sz="1600"/>
          </a:p>
        </p:txBody>
      </p:sp>
    </p:spTree>
    <p:extLst>
      <p:ext uri="{BB962C8B-B14F-4D97-AF65-F5344CB8AC3E}">
        <p14:creationId xmlns:p14="http://schemas.microsoft.com/office/powerpoint/2010/main" val="2692522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A729B-2F4C-BF33-77EB-EBCE7C98D41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9A4F994-6EF7-AC01-B812-052CD634ED29}"/>
              </a:ext>
            </a:extLst>
          </p:cNvPr>
          <p:cNvSpPr txBox="1"/>
          <p:nvPr/>
        </p:nvSpPr>
        <p:spPr>
          <a:xfrm>
            <a:off x="184727" y="614281"/>
            <a:ext cx="11822545" cy="4985980"/>
          </a:xfrm>
          <a:prstGeom prst="rect">
            <a:avLst/>
          </a:prstGeom>
          <a:noFill/>
        </p:spPr>
        <p:txBody>
          <a:bodyPr wrap="square">
            <a:spAutoFit/>
          </a:bodyPr>
          <a:lstStyle/>
          <a:p>
            <a:pPr marL="171450" indent="-171450">
              <a:lnSpc>
                <a:spcPct val="150000"/>
              </a:lnSpc>
              <a:buFont typeface="Arial" panose="020B0604020202020204" pitchFamily="34" charset="0"/>
              <a:buChar char="•"/>
            </a:pPr>
            <a:r>
              <a:rPr lang="en-US" sz="1200">
                <a:latin typeface="-apple-system"/>
              </a:rPr>
              <a:t>Burada </a:t>
            </a:r>
            <a:r>
              <a:rPr lang="en-US" sz="1200" b="1">
                <a:latin typeface="-apple-system"/>
              </a:rPr>
              <a:t>Workerman</a:t>
            </a:r>
            <a:r>
              <a:rPr lang="en-US" sz="1200">
                <a:latin typeface="-apple-system"/>
              </a:rPr>
              <a:t> kitabxanasından </a:t>
            </a:r>
            <a:r>
              <a:rPr lang="en-US" sz="1200" b="1">
                <a:latin typeface="-apple-system"/>
              </a:rPr>
              <a:t>Worker</a:t>
            </a:r>
            <a:r>
              <a:rPr lang="en-US" sz="1200">
                <a:latin typeface="-apple-system"/>
              </a:rPr>
              <a:t> </a:t>
            </a:r>
            <a:r>
              <a:rPr lang="az-Latn-AZ" sz="1200">
                <a:latin typeface="-apple-system"/>
              </a:rPr>
              <a:t>class -ının</a:t>
            </a:r>
            <a:r>
              <a:rPr lang="en-US" sz="1200">
                <a:latin typeface="-apple-system"/>
              </a:rPr>
              <a:t> istifadə ediləcəyini bildiririk.</a:t>
            </a:r>
          </a:p>
          <a:p>
            <a:pPr marL="171450" indent="-171450">
              <a:lnSpc>
                <a:spcPct val="150000"/>
              </a:lnSpc>
              <a:buFont typeface="Arial" panose="020B0604020202020204" pitchFamily="34" charset="0"/>
              <a:buChar char="•"/>
            </a:pPr>
            <a:r>
              <a:rPr lang="en-US" sz="1200">
                <a:latin typeface="-apple-system"/>
              </a:rPr>
              <a:t>Yəni bundan sonra </a:t>
            </a:r>
            <a:r>
              <a:rPr lang="en-US" sz="1200" b="1">
                <a:latin typeface="-apple-system"/>
              </a:rPr>
              <a:t>Worker</a:t>
            </a:r>
            <a:r>
              <a:rPr lang="en-US" sz="1200">
                <a:latin typeface="-apple-system"/>
              </a:rPr>
              <a:t> yazanda avtomatik olaraq </a:t>
            </a:r>
            <a:r>
              <a:rPr lang="en-US" sz="1200" b="1">
                <a:latin typeface="-apple-system"/>
              </a:rPr>
              <a:t>Workerman\Worker </a:t>
            </a:r>
            <a:r>
              <a:rPr lang="en-US" sz="1200">
                <a:latin typeface="-apple-system"/>
              </a:rPr>
              <a:t>nəzərdə tutulur.</a:t>
            </a:r>
            <a:endParaRPr lang="az-Latn-AZ" sz="1200">
              <a:latin typeface="-apple-system"/>
            </a:endParaRPr>
          </a:p>
          <a:p>
            <a:endParaRPr lang="az-Latn-AZ" sz="1200">
              <a:latin typeface="-apple-system"/>
            </a:endParaRPr>
          </a:p>
          <a:p>
            <a:endParaRPr lang="az-Latn-AZ" sz="1200">
              <a:latin typeface="-apple-system"/>
            </a:endParaRPr>
          </a:p>
          <a:p>
            <a:endParaRPr lang="az-Latn-AZ" sz="1200"/>
          </a:p>
          <a:p>
            <a:endParaRPr lang="az-Latn-AZ" sz="1200"/>
          </a:p>
          <a:p>
            <a:endParaRPr lang="az-Latn-AZ" sz="1200"/>
          </a:p>
          <a:p>
            <a:pPr marL="171450" indent="-171450">
              <a:buFont typeface="Arial" panose="020B0604020202020204" pitchFamily="34" charset="0"/>
              <a:buChar char="•"/>
            </a:pPr>
            <a:r>
              <a:rPr lang="en-US" sz="1200"/>
              <a:t>autoload.php bütün lazımi kitabxanaları avtomatik layihəyə qoşur.</a:t>
            </a:r>
            <a:endParaRPr lang="az-Latn-AZ" sz="1200"/>
          </a:p>
          <a:p>
            <a:endParaRPr lang="az-Latn-AZ" sz="1200"/>
          </a:p>
          <a:p>
            <a:endParaRPr lang="az-Latn-AZ" sz="1200"/>
          </a:p>
          <a:p>
            <a:endParaRPr lang="az-Latn-AZ" sz="1200"/>
          </a:p>
          <a:p>
            <a:endParaRPr lang="az-Latn-AZ" sz="1200"/>
          </a:p>
          <a:p>
            <a:endParaRPr lang="az-Latn-AZ" sz="1200"/>
          </a:p>
          <a:p>
            <a:endParaRPr lang="az-Latn-AZ" sz="1200"/>
          </a:p>
          <a:p>
            <a:pPr marL="171450" indent="-171450">
              <a:lnSpc>
                <a:spcPct val="150000"/>
              </a:lnSpc>
              <a:buFont typeface="Arial" panose="020B0604020202020204" pitchFamily="34" charset="0"/>
              <a:buChar char="•"/>
            </a:pPr>
            <a:r>
              <a:rPr lang="en-US" sz="1200"/>
              <a:t>Yeni bir </a:t>
            </a:r>
            <a:r>
              <a:rPr lang="en-US" sz="1200" b="1"/>
              <a:t>WebSocket server </a:t>
            </a:r>
            <a:r>
              <a:rPr lang="en-US" sz="1200"/>
              <a:t>obyektini yaradırıq.</a:t>
            </a:r>
          </a:p>
          <a:p>
            <a:pPr marL="171450" indent="-171450">
              <a:lnSpc>
                <a:spcPct val="150000"/>
              </a:lnSpc>
              <a:buFont typeface="Arial" panose="020B0604020202020204" pitchFamily="34" charset="0"/>
              <a:buChar char="•"/>
            </a:pPr>
            <a:r>
              <a:rPr lang="en-US" sz="1200"/>
              <a:t>'</a:t>
            </a:r>
            <a:r>
              <a:rPr lang="en-US" sz="1200" b="1"/>
              <a:t>websocket://0.0.0.0:2346</a:t>
            </a:r>
            <a:r>
              <a:rPr lang="en-US" sz="1200"/>
              <a:t>' → bütün IP-lərdən (</a:t>
            </a:r>
            <a:r>
              <a:rPr lang="az-Latn-AZ" sz="1200"/>
              <a:t> </a:t>
            </a:r>
            <a:r>
              <a:rPr lang="en-US" sz="1200" b="1"/>
              <a:t>0.0.0.0</a:t>
            </a:r>
            <a:r>
              <a:rPr lang="az-Latn-AZ" sz="1200"/>
              <a:t> </a:t>
            </a:r>
            <a:r>
              <a:rPr lang="en-US" sz="1200"/>
              <a:t>) </a:t>
            </a:r>
            <a:r>
              <a:rPr lang="en-US" sz="1200" b="1" i="1"/>
              <a:t>2346 portu </a:t>
            </a:r>
            <a:r>
              <a:rPr lang="en-US" sz="1200"/>
              <a:t>üzərindən </a:t>
            </a:r>
            <a:r>
              <a:rPr lang="en-US" sz="1200" b="1"/>
              <a:t>WebSocket</a:t>
            </a:r>
            <a:r>
              <a:rPr lang="en-US" sz="1200"/>
              <a:t> bağlantılarını qəbul etsin</a:t>
            </a:r>
            <a:r>
              <a:rPr lang="az-Latn-AZ" sz="1200"/>
              <a:t> deyirik</a:t>
            </a:r>
            <a:r>
              <a:rPr lang="en-US" sz="1200"/>
              <a:t>.</a:t>
            </a:r>
          </a:p>
          <a:p>
            <a:pPr marL="171450" indent="-171450">
              <a:lnSpc>
                <a:spcPct val="150000"/>
              </a:lnSpc>
              <a:buFont typeface="Arial" panose="020B0604020202020204" pitchFamily="34" charset="0"/>
              <a:buChar char="•"/>
            </a:pPr>
            <a:r>
              <a:rPr lang="en-US" sz="1200" b="1"/>
              <a:t>app.js </a:t>
            </a:r>
            <a:r>
              <a:rPr lang="en-US" sz="1200"/>
              <a:t>faylında </a:t>
            </a:r>
            <a:r>
              <a:rPr lang="en-US" sz="1200" b="1"/>
              <a:t>ws://localhost:2346 </a:t>
            </a:r>
            <a:r>
              <a:rPr lang="en-US" sz="1200"/>
              <a:t>ilə qoşulanda, bu sətir</a:t>
            </a:r>
            <a:r>
              <a:rPr lang="az-Latn-AZ" sz="1200"/>
              <a:t>,</a:t>
            </a:r>
            <a:r>
              <a:rPr lang="en-US" sz="1200"/>
              <a:t> '</a:t>
            </a:r>
            <a:r>
              <a:rPr lang="en-US" sz="1200" b="1"/>
              <a:t>websocket://0.0.0.0:2346</a:t>
            </a:r>
            <a:r>
              <a:rPr lang="en-US" sz="1200"/>
              <a:t>’</a:t>
            </a:r>
            <a:r>
              <a:rPr lang="az-Latn-AZ" sz="1200"/>
              <a:t>- nı</a:t>
            </a:r>
            <a:r>
              <a:rPr lang="en-US" sz="1200"/>
              <a:t> qarşılayır.</a:t>
            </a:r>
            <a:endParaRPr lang="az-Latn-AZ" sz="1200"/>
          </a:p>
          <a:p>
            <a:endParaRPr lang="az-Latn-AZ" sz="1200"/>
          </a:p>
          <a:p>
            <a:endParaRPr lang="az-Latn-AZ" sz="1200"/>
          </a:p>
          <a:p>
            <a:endParaRPr lang="az-Latn-AZ" sz="1200"/>
          </a:p>
          <a:p>
            <a:endParaRPr lang="az-Latn-AZ" sz="1200"/>
          </a:p>
          <a:p>
            <a:pPr marL="171450" indent="-171450">
              <a:lnSpc>
                <a:spcPct val="150000"/>
              </a:lnSpc>
              <a:buFont typeface="Arial" panose="020B0604020202020204" pitchFamily="34" charset="0"/>
              <a:buChar char="•"/>
            </a:pPr>
            <a:r>
              <a:rPr lang="en-US" sz="1200"/>
              <a:t>Serveri </a:t>
            </a:r>
            <a:r>
              <a:rPr lang="en-US" sz="1200" b="1"/>
              <a:t>4</a:t>
            </a:r>
            <a:r>
              <a:rPr lang="en-US" sz="1200"/>
              <a:t> işçi prosesi (worker process) ilə işə salır.</a:t>
            </a:r>
          </a:p>
          <a:p>
            <a:pPr marL="171450" indent="-171450">
              <a:lnSpc>
                <a:spcPct val="150000"/>
              </a:lnSpc>
              <a:buFont typeface="Arial" panose="020B0604020202020204" pitchFamily="34" charset="0"/>
              <a:buChar char="•"/>
            </a:pPr>
            <a:r>
              <a:rPr lang="en-US" sz="1200"/>
              <a:t>Bu, çoxlu müştəri qoşulanda yükləməni balanslaşdırmaq üçündür.</a:t>
            </a:r>
          </a:p>
        </p:txBody>
      </p:sp>
      <p:pic>
        <p:nvPicPr>
          <p:cNvPr id="3" name="Picture 2">
            <a:extLst>
              <a:ext uri="{FF2B5EF4-FFF2-40B4-BE49-F238E27FC236}">
                <a16:creationId xmlns:a16="http://schemas.microsoft.com/office/drawing/2014/main" id="{B7D506F6-5FDD-8327-5676-83A36B0E2FEF}"/>
              </a:ext>
            </a:extLst>
          </p:cNvPr>
          <p:cNvPicPr>
            <a:picLocks noChangeAspect="1"/>
          </p:cNvPicPr>
          <p:nvPr/>
        </p:nvPicPr>
        <p:blipFill>
          <a:blip r:embed="rId2"/>
          <a:stretch>
            <a:fillRect/>
          </a:stretch>
        </p:blipFill>
        <p:spPr>
          <a:xfrm>
            <a:off x="8377382" y="1"/>
            <a:ext cx="3814618" cy="2868808"/>
          </a:xfrm>
          <a:prstGeom prst="rect">
            <a:avLst/>
          </a:prstGeom>
        </p:spPr>
      </p:pic>
      <p:pic>
        <p:nvPicPr>
          <p:cNvPr id="5" name="Picture 4">
            <a:extLst>
              <a:ext uri="{FF2B5EF4-FFF2-40B4-BE49-F238E27FC236}">
                <a16:creationId xmlns:a16="http://schemas.microsoft.com/office/drawing/2014/main" id="{DC034FE9-6A92-25A3-23CC-5076B420FDB9}"/>
              </a:ext>
            </a:extLst>
          </p:cNvPr>
          <p:cNvPicPr>
            <a:picLocks noChangeAspect="1"/>
          </p:cNvPicPr>
          <p:nvPr/>
        </p:nvPicPr>
        <p:blipFill>
          <a:blip r:embed="rId3"/>
          <a:stretch>
            <a:fillRect/>
          </a:stretch>
        </p:blipFill>
        <p:spPr>
          <a:xfrm>
            <a:off x="0" y="0"/>
            <a:ext cx="1686160" cy="533474"/>
          </a:xfrm>
          <a:prstGeom prst="rect">
            <a:avLst/>
          </a:prstGeom>
        </p:spPr>
      </p:pic>
      <p:pic>
        <p:nvPicPr>
          <p:cNvPr id="9" name="Picture 8">
            <a:extLst>
              <a:ext uri="{FF2B5EF4-FFF2-40B4-BE49-F238E27FC236}">
                <a16:creationId xmlns:a16="http://schemas.microsoft.com/office/drawing/2014/main" id="{A4DCB311-B97C-46C1-334C-575CA0CE1011}"/>
              </a:ext>
            </a:extLst>
          </p:cNvPr>
          <p:cNvPicPr>
            <a:picLocks noChangeAspect="1"/>
          </p:cNvPicPr>
          <p:nvPr/>
        </p:nvPicPr>
        <p:blipFill>
          <a:blip r:embed="rId4"/>
          <a:stretch>
            <a:fillRect/>
          </a:stretch>
        </p:blipFill>
        <p:spPr>
          <a:xfrm>
            <a:off x="-1" y="1762048"/>
            <a:ext cx="3743847" cy="266737"/>
          </a:xfrm>
          <a:prstGeom prst="rect">
            <a:avLst/>
          </a:prstGeom>
        </p:spPr>
      </p:pic>
      <p:pic>
        <p:nvPicPr>
          <p:cNvPr id="11" name="Picture 10">
            <a:extLst>
              <a:ext uri="{FF2B5EF4-FFF2-40B4-BE49-F238E27FC236}">
                <a16:creationId xmlns:a16="http://schemas.microsoft.com/office/drawing/2014/main" id="{7CB5EE00-2F58-F805-D132-DEE2D6A273FF}"/>
              </a:ext>
            </a:extLst>
          </p:cNvPr>
          <p:cNvPicPr>
            <a:picLocks noChangeAspect="1"/>
          </p:cNvPicPr>
          <p:nvPr/>
        </p:nvPicPr>
        <p:blipFill>
          <a:blip r:embed="rId5"/>
          <a:stretch>
            <a:fillRect/>
          </a:stretch>
        </p:blipFill>
        <p:spPr>
          <a:xfrm>
            <a:off x="-1" y="2909815"/>
            <a:ext cx="3848637" cy="266737"/>
          </a:xfrm>
          <a:prstGeom prst="rect">
            <a:avLst/>
          </a:prstGeom>
        </p:spPr>
      </p:pic>
      <p:pic>
        <p:nvPicPr>
          <p:cNvPr id="14" name="Picture 13">
            <a:extLst>
              <a:ext uri="{FF2B5EF4-FFF2-40B4-BE49-F238E27FC236}">
                <a16:creationId xmlns:a16="http://schemas.microsoft.com/office/drawing/2014/main" id="{A2E14A1A-F579-66C1-1F86-ED71AB58C6A2}"/>
              </a:ext>
            </a:extLst>
          </p:cNvPr>
          <p:cNvPicPr>
            <a:picLocks noChangeAspect="1"/>
          </p:cNvPicPr>
          <p:nvPr/>
        </p:nvPicPr>
        <p:blipFill>
          <a:blip r:embed="rId6"/>
          <a:stretch>
            <a:fillRect/>
          </a:stretch>
        </p:blipFill>
        <p:spPr>
          <a:xfrm>
            <a:off x="-1" y="4619607"/>
            <a:ext cx="1629002" cy="276264"/>
          </a:xfrm>
          <a:prstGeom prst="rect">
            <a:avLst/>
          </a:prstGeom>
        </p:spPr>
      </p:pic>
    </p:spTree>
    <p:extLst>
      <p:ext uri="{BB962C8B-B14F-4D97-AF65-F5344CB8AC3E}">
        <p14:creationId xmlns:p14="http://schemas.microsoft.com/office/powerpoint/2010/main" val="949294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29CB5-C842-D3F4-60AA-0747AE98F65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ED58C8C-43D3-CDAD-9A9D-BE6F065050B7}"/>
              </a:ext>
            </a:extLst>
          </p:cNvPr>
          <p:cNvSpPr txBox="1"/>
          <p:nvPr/>
        </p:nvSpPr>
        <p:spPr>
          <a:xfrm>
            <a:off x="184727" y="824731"/>
            <a:ext cx="11822545" cy="498598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200">
                <a:latin typeface="-apple-system"/>
              </a:rPr>
              <a:t>Bu funksiya hər yeni müştəri (</a:t>
            </a:r>
            <a:r>
              <a:rPr lang="en-US" sz="1200" i="1">
                <a:latin typeface="-apple-system"/>
              </a:rPr>
              <a:t>app.js-dən qoşulan brauzer</a:t>
            </a:r>
            <a:r>
              <a:rPr lang="en-US" sz="1200">
                <a:latin typeface="-apple-system"/>
              </a:rPr>
              <a:t>) qoşulanda işə düşür.</a:t>
            </a:r>
          </a:p>
          <a:p>
            <a:pPr marL="285750" indent="-285750">
              <a:lnSpc>
                <a:spcPct val="150000"/>
              </a:lnSpc>
              <a:buFont typeface="Arial" panose="020B0604020202020204" pitchFamily="34" charset="0"/>
              <a:buChar char="•"/>
            </a:pPr>
            <a:r>
              <a:rPr lang="en-US" sz="1200">
                <a:latin typeface="-apple-system"/>
              </a:rPr>
              <a:t>Terminalda "New connection" yazacaq.</a:t>
            </a:r>
          </a:p>
          <a:p>
            <a:pPr marL="285750" indent="-285750">
              <a:lnSpc>
                <a:spcPct val="150000"/>
              </a:lnSpc>
              <a:buFont typeface="Arial" panose="020B0604020202020204" pitchFamily="34" charset="0"/>
              <a:buChar char="•"/>
            </a:pPr>
            <a:r>
              <a:rPr lang="en-US" sz="1200">
                <a:latin typeface="-apple-system"/>
              </a:rPr>
              <a:t>Hələ heç bir məlumat göndərmir, sadəcə bağlantının uğurlu olduğunu göstərir.</a:t>
            </a:r>
            <a:endParaRPr lang="az-Latn-AZ" sz="1200">
              <a:latin typeface="-apple-system"/>
            </a:endParaRPr>
          </a:p>
          <a:p>
            <a:endParaRPr lang="az-Latn-AZ" sz="1200">
              <a:latin typeface="-apple-system"/>
            </a:endParaRPr>
          </a:p>
          <a:p>
            <a:endParaRPr lang="az-Latn-AZ" sz="1200"/>
          </a:p>
          <a:p>
            <a:endParaRPr lang="az-Latn-AZ" sz="1200"/>
          </a:p>
          <a:p>
            <a:endParaRPr lang="az-Latn-AZ" sz="1200"/>
          </a:p>
          <a:p>
            <a:pPr marL="171450" indent="-171450">
              <a:lnSpc>
                <a:spcPct val="150000"/>
              </a:lnSpc>
              <a:buFont typeface="Arial" panose="020B0604020202020204" pitchFamily="34" charset="0"/>
              <a:buChar char="•"/>
            </a:pPr>
            <a:r>
              <a:rPr lang="en-US" sz="1200"/>
              <a:t>Müştəri ( </a:t>
            </a:r>
            <a:r>
              <a:rPr lang="en-US" sz="1200" b="1"/>
              <a:t>app.js</a:t>
            </a:r>
            <a:r>
              <a:rPr lang="en-US" sz="1200"/>
              <a:t> ) hər dəfə serverə məlumat göndərəndə (məsələn, </a:t>
            </a:r>
            <a:r>
              <a:rPr lang="en-US" sz="1200" b="1"/>
              <a:t>ox</a:t>
            </a:r>
            <a:r>
              <a:rPr lang="en-US" sz="1200"/>
              <a:t> düyməsini basanda koordinatlar və ya hərəkət göndərilir) bu funksiya işə düşür.</a:t>
            </a:r>
          </a:p>
          <a:p>
            <a:pPr marL="171450" indent="-171450">
              <a:lnSpc>
                <a:spcPct val="150000"/>
              </a:lnSpc>
              <a:buFont typeface="Arial" panose="020B0604020202020204" pitchFamily="34" charset="0"/>
              <a:buChar char="•"/>
            </a:pPr>
            <a:r>
              <a:rPr lang="en-US" sz="1200" b="1"/>
              <a:t>$data </a:t>
            </a:r>
            <a:r>
              <a:rPr lang="en-US" sz="1200"/>
              <a:t>→ app.js-dən gələn məlumatdır.</a:t>
            </a:r>
            <a:endParaRPr lang="az-Latn-AZ" sz="1200"/>
          </a:p>
          <a:p>
            <a:endParaRPr lang="az-Latn-AZ" sz="1200"/>
          </a:p>
          <a:p>
            <a:endParaRPr lang="en-US" sz="1200"/>
          </a:p>
          <a:p>
            <a:endParaRPr lang="en-US" sz="1200"/>
          </a:p>
          <a:p>
            <a:endParaRPr lang="en-US" sz="1200"/>
          </a:p>
          <a:p>
            <a:endParaRPr lang="en-US" sz="1200"/>
          </a:p>
          <a:p>
            <a:endParaRPr lang="en-US" sz="1200"/>
          </a:p>
          <a:p>
            <a:endParaRPr lang="en-US" sz="1200"/>
          </a:p>
          <a:p>
            <a:endParaRPr lang="en-US" sz="1200"/>
          </a:p>
          <a:p>
            <a:pPr marL="171450" indent="-171450">
              <a:lnSpc>
                <a:spcPct val="150000"/>
              </a:lnSpc>
              <a:buFont typeface="Arial" panose="020B0604020202020204" pitchFamily="34" charset="0"/>
              <a:buChar char="•"/>
            </a:pPr>
            <a:r>
              <a:rPr lang="en-US" sz="1200"/>
              <a:t>Server hamı ilə əlaqəni saxlayır: </a:t>
            </a:r>
            <a:r>
              <a:rPr lang="en-US" sz="1200" b="1" i="1"/>
              <a:t>$wsWorker-&gt;connections </a:t>
            </a:r>
            <a:r>
              <a:rPr lang="en-US" sz="1200"/>
              <a:t>→ serverə qoşulmuş bütün müştərilərin siyahısıdır.</a:t>
            </a:r>
          </a:p>
          <a:p>
            <a:pPr marL="171450" indent="-171450">
              <a:lnSpc>
                <a:spcPct val="150000"/>
              </a:lnSpc>
              <a:buFont typeface="Arial" panose="020B0604020202020204" pitchFamily="34" charset="0"/>
              <a:buChar char="•"/>
            </a:pPr>
            <a:r>
              <a:rPr lang="en-US" sz="1200" b="1"/>
              <a:t>foreach</a:t>
            </a:r>
            <a:r>
              <a:rPr lang="en-US" sz="1200"/>
              <a:t> ilə bu siyahı gəzilir və gələn məlumat bütün müştərilərə geri göndərilir: </a:t>
            </a:r>
            <a:r>
              <a:rPr lang="en-US" sz="1200" b="1">
                <a:solidFill>
                  <a:srgbClr val="00B050"/>
                </a:solidFill>
              </a:rPr>
              <a:t>$clientConnection-&gt;send( $data );</a:t>
            </a:r>
          </a:p>
          <a:p>
            <a:pPr marL="171450" indent="-171450">
              <a:lnSpc>
                <a:spcPct val="150000"/>
              </a:lnSpc>
              <a:buFont typeface="Arial" panose="020B0604020202020204" pitchFamily="34" charset="0"/>
              <a:buChar char="•"/>
            </a:pPr>
            <a:r>
              <a:rPr lang="en-US" sz="1200"/>
              <a:t>Yəni bir istifadəçi </a:t>
            </a:r>
            <a:r>
              <a:rPr lang="en-US" sz="1200" b="1"/>
              <a:t>ox</a:t>
            </a:r>
            <a:r>
              <a:rPr lang="en-US" sz="1200"/>
              <a:t> düyməsini basır → </a:t>
            </a:r>
            <a:r>
              <a:rPr lang="en-US" sz="1200" b="1"/>
              <a:t>app.js </a:t>
            </a:r>
            <a:r>
              <a:rPr lang="en-US" sz="1200"/>
              <a:t>məlumatı serverə göndərir → server bu məlumatı q</a:t>
            </a:r>
            <a:r>
              <a:rPr lang="az-Latn-AZ" sz="1200"/>
              <a:t>əbul etdikdən sonra ( </a:t>
            </a:r>
            <a:r>
              <a:rPr lang="en-US" sz="1200" b="1">
                <a:solidFill>
                  <a:srgbClr val="00B050"/>
                </a:solidFill>
              </a:rPr>
              <a:t>$data </a:t>
            </a:r>
            <a:r>
              <a:rPr lang="az-Latn-AZ" sz="1200"/>
              <a:t>) </a:t>
            </a:r>
            <a:r>
              <a:rPr lang="en-US" sz="1200"/>
              <a:t>digər bütün müştərilərə </a:t>
            </a:r>
            <a:r>
              <a:rPr lang="az-Latn-AZ" sz="1200"/>
              <a:t>geri </a:t>
            </a:r>
            <a:r>
              <a:rPr lang="en-US" sz="1200"/>
              <a:t>göndərir.</a:t>
            </a:r>
          </a:p>
          <a:p>
            <a:pPr marL="171450" indent="-171450">
              <a:lnSpc>
                <a:spcPct val="150000"/>
              </a:lnSpc>
              <a:buFont typeface="Arial" panose="020B0604020202020204" pitchFamily="34" charset="0"/>
              <a:buChar char="•"/>
            </a:pPr>
            <a:r>
              <a:rPr lang="en-US" sz="1200"/>
              <a:t>Bu səbəbdən çoxlu oyunçular eyni obyektin hərəkətini real vaxtda görə bilir.</a:t>
            </a:r>
          </a:p>
          <a:p>
            <a:endParaRPr lang="en-US" sz="1200"/>
          </a:p>
        </p:txBody>
      </p:sp>
      <p:pic>
        <p:nvPicPr>
          <p:cNvPr id="3" name="Picture 2">
            <a:extLst>
              <a:ext uri="{FF2B5EF4-FFF2-40B4-BE49-F238E27FC236}">
                <a16:creationId xmlns:a16="http://schemas.microsoft.com/office/drawing/2014/main" id="{29B435F2-B699-FE1B-1794-8A28A6CAD678}"/>
              </a:ext>
            </a:extLst>
          </p:cNvPr>
          <p:cNvPicPr>
            <a:picLocks noChangeAspect="1"/>
          </p:cNvPicPr>
          <p:nvPr/>
        </p:nvPicPr>
        <p:blipFill>
          <a:blip r:embed="rId2"/>
          <a:stretch>
            <a:fillRect/>
          </a:stretch>
        </p:blipFill>
        <p:spPr>
          <a:xfrm>
            <a:off x="0" y="0"/>
            <a:ext cx="3591426" cy="695422"/>
          </a:xfrm>
          <a:prstGeom prst="rect">
            <a:avLst/>
          </a:prstGeom>
        </p:spPr>
      </p:pic>
      <p:pic>
        <p:nvPicPr>
          <p:cNvPr id="6" name="Picture 5">
            <a:extLst>
              <a:ext uri="{FF2B5EF4-FFF2-40B4-BE49-F238E27FC236}">
                <a16:creationId xmlns:a16="http://schemas.microsoft.com/office/drawing/2014/main" id="{85E4C2DB-5090-4053-75AA-87E75429BD42}"/>
              </a:ext>
            </a:extLst>
          </p:cNvPr>
          <p:cNvPicPr>
            <a:picLocks noChangeAspect="1"/>
          </p:cNvPicPr>
          <p:nvPr/>
        </p:nvPicPr>
        <p:blipFill>
          <a:blip r:embed="rId3"/>
          <a:stretch>
            <a:fillRect/>
          </a:stretch>
        </p:blipFill>
        <p:spPr>
          <a:xfrm>
            <a:off x="0" y="2117393"/>
            <a:ext cx="5334744" cy="238158"/>
          </a:xfrm>
          <a:prstGeom prst="rect">
            <a:avLst/>
          </a:prstGeom>
        </p:spPr>
      </p:pic>
      <p:pic>
        <p:nvPicPr>
          <p:cNvPr id="11" name="Picture 10">
            <a:extLst>
              <a:ext uri="{FF2B5EF4-FFF2-40B4-BE49-F238E27FC236}">
                <a16:creationId xmlns:a16="http://schemas.microsoft.com/office/drawing/2014/main" id="{A547DAA9-99BA-5FDC-0ABA-E9B8DE8CE6FF}"/>
              </a:ext>
            </a:extLst>
          </p:cNvPr>
          <p:cNvPicPr>
            <a:picLocks noChangeAspect="1"/>
          </p:cNvPicPr>
          <p:nvPr/>
        </p:nvPicPr>
        <p:blipFill>
          <a:blip r:embed="rId4"/>
          <a:stretch>
            <a:fillRect/>
          </a:stretch>
        </p:blipFill>
        <p:spPr>
          <a:xfrm>
            <a:off x="0" y="3539363"/>
            <a:ext cx="4143953" cy="724001"/>
          </a:xfrm>
          <a:prstGeom prst="rect">
            <a:avLst/>
          </a:prstGeom>
        </p:spPr>
      </p:pic>
    </p:spTree>
    <p:extLst>
      <p:ext uri="{BB962C8B-B14F-4D97-AF65-F5344CB8AC3E}">
        <p14:creationId xmlns:p14="http://schemas.microsoft.com/office/powerpoint/2010/main" val="224514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AC903-F10A-574E-9DE8-6A9323628EC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4086471-EF05-7C04-FB46-E80CFB25FD4E}"/>
              </a:ext>
            </a:extLst>
          </p:cNvPr>
          <p:cNvSpPr txBox="1"/>
          <p:nvPr/>
        </p:nvSpPr>
        <p:spPr>
          <a:xfrm>
            <a:off x="184727" y="835127"/>
            <a:ext cx="11822545" cy="313932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t>Hər hansı bir müştəri (brauzer) serverdən </a:t>
            </a:r>
            <a:r>
              <a:rPr lang="en-US" b="1"/>
              <a:t>çıxanda</a:t>
            </a:r>
            <a:r>
              <a:rPr lang="en-US"/>
              <a:t> (pəncərə bağlananda və ya disconnect olanda) bu funksiya işə düşür.</a:t>
            </a:r>
          </a:p>
          <a:p>
            <a:pPr marL="285750" indent="-285750">
              <a:lnSpc>
                <a:spcPct val="150000"/>
              </a:lnSpc>
              <a:buFont typeface="Arial" panose="020B0604020202020204" pitchFamily="34" charset="0"/>
              <a:buChar char="•"/>
            </a:pPr>
            <a:r>
              <a:rPr lang="en-US"/>
              <a:t>Terminalda "</a:t>
            </a:r>
            <a:r>
              <a:rPr lang="en-US" b="1"/>
              <a:t>Connection closed</a:t>
            </a:r>
            <a:r>
              <a:rPr lang="en-US"/>
              <a:t>" yazı</a:t>
            </a:r>
            <a:r>
              <a:rPr lang="az-Latn-AZ"/>
              <a:t>lır</a:t>
            </a:r>
            <a:r>
              <a:rPr lang="en-US"/>
              <a:t>.</a:t>
            </a:r>
            <a:endParaRPr lang="az-Latn-AZ"/>
          </a:p>
          <a:p>
            <a:endParaRPr lang="az-Latn-AZ"/>
          </a:p>
          <a:p>
            <a:endParaRPr lang="az-Latn-AZ"/>
          </a:p>
          <a:p>
            <a:endParaRPr lang="az-Latn-AZ"/>
          </a:p>
          <a:p>
            <a:endParaRPr lang="az-Latn-AZ"/>
          </a:p>
          <a:p>
            <a:pPr marL="285750" indent="-285750">
              <a:lnSpc>
                <a:spcPct val="150000"/>
              </a:lnSpc>
              <a:buFont typeface="Arial" panose="020B0604020202020204" pitchFamily="34" charset="0"/>
              <a:buChar char="•"/>
            </a:pPr>
            <a:r>
              <a:rPr lang="en-US"/>
              <a:t>Bütün yaradılmış Workerman işçilərini (worker-ləri) işə salır.</a:t>
            </a:r>
          </a:p>
          <a:p>
            <a:pPr marL="285750" indent="-285750">
              <a:lnSpc>
                <a:spcPct val="150000"/>
              </a:lnSpc>
              <a:buFont typeface="Arial" panose="020B0604020202020204" pitchFamily="34" charset="0"/>
              <a:buChar char="•"/>
            </a:pPr>
            <a:r>
              <a:rPr lang="en-US"/>
              <a:t>Əgər bu sətir olmasa, server heç vaxt işləməzdi.</a:t>
            </a:r>
            <a:endParaRPr lang="az-Latn-AZ"/>
          </a:p>
          <a:p>
            <a:endParaRPr lang="en-US"/>
          </a:p>
        </p:txBody>
      </p:sp>
      <p:pic>
        <p:nvPicPr>
          <p:cNvPr id="3" name="Picture 2">
            <a:extLst>
              <a:ext uri="{FF2B5EF4-FFF2-40B4-BE49-F238E27FC236}">
                <a16:creationId xmlns:a16="http://schemas.microsoft.com/office/drawing/2014/main" id="{2679D0C3-F4D0-CA3C-D618-B1568559FD35}"/>
              </a:ext>
            </a:extLst>
          </p:cNvPr>
          <p:cNvPicPr>
            <a:picLocks noChangeAspect="1"/>
          </p:cNvPicPr>
          <p:nvPr/>
        </p:nvPicPr>
        <p:blipFill>
          <a:blip r:embed="rId2"/>
          <a:stretch>
            <a:fillRect/>
          </a:stretch>
        </p:blipFill>
        <p:spPr>
          <a:xfrm>
            <a:off x="0" y="0"/>
            <a:ext cx="3458058" cy="733527"/>
          </a:xfrm>
          <a:prstGeom prst="rect">
            <a:avLst/>
          </a:prstGeom>
        </p:spPr>
      </p:pic>
      <p:pic>
        <p:nvPicPr>
          <p:cNvPr id="6" name="Picture 5">
            <a:extLst>
              <a:ext uri="{FF2B5EF4-FFF2-40B4-BE49-F238E27FC236}">
                <a16:creationId xmlns:a16="http://schemas.microsoft.com/office/drawing/2014/main" id="{52F1A459-2A6A-E474-1898-047F157962CA}"/>
              </a:ext>
            </a:extLst>
          </p:cNvPr>
          <p:cNvPicPr>
            <a:picLocks noChangeAspect="1"/>
          </p:cNvPicPr>
          <p:nvPr/>
        </p:nvPicPr>
        <p:blipFill>
          <a:blip r:embed="rId3"/>
          <a:stretch>
            <a:fillRect/>
          </a:stretch>
        </p:blipFill>
        <p:spPr>
          <a:xfrm>
            <a:off x="0" y="2151242"/>
            <a:ext cx="1428949" cy="438211"/>
          </a:xfrm>
          <a:prstGeom prst="rect">
            <a:avLst/>
          </a:prstGeom>
        </p:spPr>
      </p:pic>
    </p:spTree>
    <p:extLst>
      <p:ext uri="{BB962C8B-B14F-4D97-AF65-F5344CB8AC3E}">
        <p14:creationId xmlns:p14="http://schemas.microsoft.com/office/powerpoint/2010/main" val="2404269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2CC2B-3773-213B-AE4C-B039CC2DA75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5F519DB-0588-50CA-4851-B4A39241D1B3}"/>
              </a:ext>
            </a:extLst>
          </p:cNvPr>
          <p:cNvSpPr txBox="1"/>
          <p:nvPr/>
        </p:nvSpPr>
        <p:spPr>
          <a:xfrm>
            <a:off x="184727" y="457262"/>
            <a:ext cx="11822545" cy="614334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t>HTML-də olan </a:t>
            </a:r>
            <a:r>
              <a:rPr lang="en-US" b="1"/>
              <a:t>#wrapper </a:t>
            </a:r>
            <a:r>
              <a:rPr lang="en-US"/>
              <a:t>və </a:t>
            </a:r>
            <a:r>
              <a:rPr lang="en-US" b="1"/>
              <a:t>#unit </a:t>
            </a:r>
            <a:r>
              <a:rPr lang="en-US"/>
              <a:t>elementlərini götürürük.</a:t>
            </a:r>
          </a:p>
          <a:p>
            <a:pPr marL="285750" indent="-285750">
              <a:lnSpc>
                <a:spcPct val="150000"/>
              </a:lnSpc>
              <a:buFont typeface="Arial" panose="020B0604020202020204" pitchFamily="34" charset="0"/>
              <a:buChar char="•"/>
            </a:pPr>
            <a:r>
              <a:rPr lang="en-US" b="1"/>
              <a:t>#unit </a:t>
            </a:r>
            <a:r>
              <a:rPr lang="en-US"/>
              <a:t>bizim hərəkət edəcək dairəmizi (yaşıl və ya qırmızı obyekt) təmsil edir.</a:t>
            </a:r>
          </a:p>
          <a:p>
            <a:pPr>
              <a:lnSpc>
                <a:spcPct val="150000"/>
              </a:lnSpc>
            </a:pPr>
            <a:endParaRPr lang="az-Latn-AZ">
              <a:latin typeface="-apple-system"/>
            </a:endParaRPr>
          </a:p>
          <a:p>
            <a:pPr marL="285750" indent="-285750">
              <a:lnSpc>
                <a:spcPct val="150000"/>
              </a:lnSpc>
              <a:buFont typeface="Arial" panose="020B0604020202020204" pitchFamily="34" charset="0"/>
              <a:buChar char="•"/>
            </a:pPr>
            <a:endParaRPr lang="az-Latn-AZ">
              <a:latin typeface="-apple-system"/>
            </a:endParaRPr>
          </a:p>
          <a:p>
            <a:pPr marL="285750" indent="-285750">
              <a:lnSpc>
                <a:spcPct val="150000"/>
              </a:lnSpc>
              <a:buFont typeface="Arial" panose="020B0604020202020204" pitchFamily="34" charset="0"/>
              <a:buChar char="•"/>
            </a:pPr>
            <a:r>
              <a:rPr lang="en-US"/>
              <a:t>Obyektin rəngi təsadüfi seçilir: ya qırmızı, ya da yaşıl.</a:t>
            </a:r>
          </a:p>
          <a:p>
            <a:pPr marL="285750" indent="-285750">
              <a:lnSpc>
                <a:spcPct val="150000"/>
              </a:lnSpc>
              <a:buFont typeface="Arial" panose="020B0604020202020204" pitchFamily="34" charset="0"/>
              <a:buChar char="•"/>
            </a:pPr>
            <a:r>
              <a:rPr lang="en-US"/>
              <a:t>Bu, hər istifadəçinin unit-i fərqli rəngdə ola bilər deməkdir.</a:t>
            </a:r>
          </a:p>
          <a:p>
            <a:pPr>
              <a:lnSpc>
                <a:spcPct val="150000"/>
              </a:lnSpc>
            </a:pPr>
            <a:endParaRPr lang="az-Latn-AZ">
              <a:latin typeface="-apple-system"/>
            </a:endParaRPr>
          </a:p>
          <a:p>
            <a:pPr marL="285750" indent="-285750">
              <a:lnSpc>
                <a:spcPct val="150000"/>
              </a:lnSpc>
              <a:buFont typeface="Arial" panose="020B0604020202020204" pitchFamily="34" charset="0"/>
              <a:buChar char="•"/>
            </a:pPr>
            <a:endParaRPr lang="az-Latn-AZ">
              <a:latin typeface="-apple-system"/>
            </a:endParaRPr>
          </a:p>
          <a:p>
            <a:pPr marL="285750" indent="-285750">
              <a:lnSpc>
                <a:spcPct val="150000"/>
              </a:lnSpc>
              <a:buFont typeface="Arial" panose="020B0604020202020204" pitchFamily="34" charset="0"/>
              <a:buChar char="•"/>
            </a:pPr>
            <a:r>
              <a:rPr lang="en-US">
                <a:latin typeface="-apple-system"/>
              </a:rPr>
              <a:t>Brauzerdə yeni WebSocket bağlantısı yaradırıq. </a:t>
            </a:r>
            <a:endParaRPr lang="az-Latn-AZ">
              <a:latin typeface="-apple-system"/>
            </a:endParaRPr>
          </a:p>
          <a:p>
            <a:pPr marL="285750" indent="-285750">
              <a:lnSpc>
                <a:spcPct val="150000"/>
              </a:lnSpc>
              <a:buFont typeface="Arial" panose="020B0604020202020204" pitchFamily="34" charset="0"/>
              <a:buChar char="•"/>
            </a:pPr>
            <a:r>
              <a:rPr lang="en-US" b="1">
                <a:latin typeface="-apple-system"/>
              </a:rPr>
              <a:t>server.php-dəki</a:t>
            </a:r>
            <a:r>
              <a:rPr lang="en-US">
                <a:latin typeface="-apple-system"/>
              </a:rPr>
              <a:t>: </a:t>
            </a:r>
            <a:r>
              <a:rPr lang="en-US" b="1">
                <a:solidFill>
                  <a:srgbClr val="C00000"/>
                </a:solidFill>
                <a:latin typeface="-apple-system"/>
              </a:rPr>
              <a:t>$wsWorker </a:t>
            </a:r>
            <a:r>
              <a:rPr lang="en-US" b="1">
                <a:latin typeface="-apple-system"/>
              </a:rPr>
              <a:t>= </a:t>
            </a:r>
            <a:r>
              <a:rPr lang="en-US" b="1">
                <a:solidFill>
                  <a:srgbClr val="0070C0"/>
                </a:solidFill>
                <a:latin typeface="-apple-system"/>
              </a:rPr>
              <a:t>new</a:t>
            </a:r>
            <a:r>
              <a:rPr lang="en-US" b="1">
                <a:latin typeface="-apple-system"/>
              </a:rPr>
              <a:t> </a:t>
            </a:r>
            <a:r>
              <a:rPr lang="en-US" b="1">
                <a:solidFill>
                  <a:srgbClr val="FF0000"/>
                </a:solidFill>
                <a:latin typeface="-apple-system"/>
              </a:rPr>
              <a:t>Worker</a:t>
            </a:r>
            <a:r>
              <a:rPr lang="en-US" b="1">
                <a:latin typeface="-apple-system"/>
              </a:rPr>
              <a:t>(</a:t>
            </a:r>
            <a:r>
              <a:rPr lang="en-US" b="1">
                <a:solidFill>
                  <a:srgbClr val="00B050"/>
                </a:solidFill>
                <a:latin typeface="-apple-system"/>
              </a:rPr>
              <a:t>'websocket://0.0.0.0:2346</a:t>
            </a:r>
            <a:r>
              <a:rPr lang="en-US" b="1">
                <a:latin typeface="-apple-system"/>
              </a:rPr>
              <a:t>');  </a:t>
            </a:r>
            <a:r>
              <a:rPr lang="en-US">
                <a:latin typeface="-apple-system"/>
              </a:rPr>
              <a:t>bu qoşulmanı qəbul edir.</a:t>
            </a:r>
            <a:endParaRPr lang="az-Latn-AZ">
              <a:latin typeface="-apple-system"/>
            </a:endParaRPr>
          </a:p>
          <a:p>
            <a:endParaRPr lang="az-Latn-AZ">
              <a:latin typeface="-apple-system"/>
            </a:endParaRPr>
          </a:p>
          <a:p>
            <a:endParaRPr lang="az-Latn-AZ"/>
          </a:p>
          <a:p>
            <a:endParaRPr lang="az-Latn-AZ"/>
          </a:p>
          <a:p>
            <a:endParaRPr lang="az-Latn-AZ"/>
          </a:p>
          <a:p>
            <a:pPr marL="285750" indent="-285750">
              <a:lnSpc>
                <a:spcPct val="150000"/>
              </a:lnSpc>
              <a:buFont typeface="Arial" panose="020B0604020202020204" pitchFamily="34" charset="0"/>
              <a:buChar char="•"/>
            </a:pPr>
            <a:r>
              <a:rPr lang="en-US"/>
              <a:t>Klaviatura düyməsi buraxılanda (keyup) bu funksiya işə düşür.</a:t>
            </a:r>
          </a:p>
          <a:p>
            <a:pPr marL="285750" indent="-285750">
              <a:lnSpc>
                <a:spcPct val="150000"/>
              </a:lnSpc>
              <a:buFont typeface="Arial" panose="020B0604020202020204" pitchFamily="34" charset="0"/>
              <a:buChar char="•"/>
            </a:pPr>
            <a:r>
              <a:rPr lang="en-US"/>
              <a:t>Yəni istifadəçi ox düymələrini buraxanda unit hərəkət etdirilir.</a:t>
            </a:r>
          </a:p>
        </p:txBody>
      </p:sp>
      <p:pic>
        <p:nvPicPr>
          <p:cNvPr id="3" name="Picture 2">
            <a:extLst>
              <a:ext uri="{FF2B5EF4-FFF2-40B4-BE49-F238E27FC236}">
                <a16:creationId xmlns:a16="http://schemas.microsoft.com/office/drawing/2014/main" id="{056A3FCA-3A1E-0E8A-ECCD-7D5E1A8A3AB2}"/>
              </a:ext>
            </a:extLst>
          </p:cNvPr>
          <p:cNvPicPr>
            <a:picLocks noChangeAspect="1"/>
          </p:cNvPicPr>
          <p:nvPr/>
        </p:nvPicPr>
        <p:blipFill>
          <a:blip r:embed="rId2"/>
          <a:stretch>
            <a:fillRect/>
          </a:stretch>
        </p:blipFill>
        <p:spPr>
          <a:xfrm>
            <a:off x="0" y="3485473"/>
            <a:ext cx="3762900" cy="333422"/>
          </a:xfrm>
          <a:prstGeom prst="rect">
            <a:avLst/>
          </a:prstGeom>
        </p:spPr>
      </p:pic>
      <p:pic>
        <p:nvPicPr>
          <p:cNvPr id="5" name="Picture 4">
            <a:extLst>
              <a:ext uri="{FF2B5EF4-FFF2-40B4-BE49-F238E27FC236}">
                <a16:creationId xmlns:a16="http://schemas.microsoft.com/office/drawing/2014/main" id="{5B614C60-8C7D-C511-9298-B346272D3CF7}"/>
              </a:ext>
            </a:extLst>
          </p:cNvPr>
          <p:cNvPicPr>
            <a:picLocks noChangeAspect="1"/>
          </p:cNvPicPr>
          <p:nvPr/>
        </p:nvPicPr>
        <p:blipFill>
          <a:blip r:embed="rId3"/>
          <a:stretch>
            <a:fillRect/>
          </a:stretch>
        </p:blipFill>
        <p:spPr>
          <a:xfrm>
            <a:off x="0" y="0"/>
            <a:ext cx="4086795" cy="438211"/>
          </a:xfrm>
          <a:prstGeom prst="rect">
            <a:avLst/>
          </a:prstGeom>
        </p:spPr>
      </p:pic>
      <p:pic>
        <p:nvPicPr>
          <p:cNvPr id="9" name="Picture 8">
            <a:extLst>
              <a:ext uri="{FF2B5EF4-FFF2-40B4-BE49-F238E27FC236}">
                <a16:creationId xmlns:a16="http://schemas.microsoft.com/office/drawing/2014/main" id="{E430FC65-C36B-E213-A3A7-3E68F7D513FC}"/>
              </a:ext>
            </a:extLst>
          </p:cNvPr>
          <p:cNvPicPr>
            <a:picLocks noChangeAspect="1"/>
          </p:cNvPicPr>
          <p:nvPr/>
        </p:nvPicPr>
        <p:blipFill>
          <a:blip r:embed="rId4"/>
          <a:stretch>
            <a:fillRect/>
          </a:stretch>
        </p:blipFill>
        <p:spPr>
          <a:xfrm>
            <a:off x="0" y="1865998"/>
            <a:ext cx="5068007" cy="228632"/>
          </a:xfrm>
          <a:prstGeom prst="rect">
            <a:avLst/>
          </a:prstGeom>
        </p:spPr>
      </p:pic>
      <p:pic>
        <p:nvPicPr>
          <p:cNvPr id="11" name="Picture 10">
            <a:extLst>
              <a:ext uri="{FF2B5EF4-FFF2-40B4-BE49-F238E27FC236}">
                <a16:creationId xmlns:a16="http://schemas.microsoft.com/office/drawing/2014/main" id="{757677C8-118F-CE06-675F-8C0AC6F6FE17}"/>
              </a:ext>
            </a:extLst>
          </p:cNvPr>
          <p:cNvPicPr>
            <a:picLocks noChangeAspect="1"/>
          </p:cNvPicPr>
          <p:nvPr/>
        </p:nvPicPr>
        <p:blipFill>
          <a:blip r:embed="rId5"/>
          <a:stretch>
            <a:fillRect/>
          </a:stretch>
        </p:blipFill>
        <p:spPr>
          <a:xfrm>
            <a:off x="0" y="5416172"/>
            <a:ext cx="3629532" cy="314369"/>
          </a:xfrm>
          <a:prstGeom prst="rect">
            <a:avLst/>
          </a:prstGeom>
        </p:spPr>
      </p:pic>
    </p:spTree>
    <p:extLst>
      <p:ext uri="{BB962C8B-B14F-4D97-AF65-F5344CB8AC3E}">
        <p14:creationId xmlns:p14="http://schemas.microsoft.com/office/powerpoint/2010/main" val="12040757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04377-5FEB-4C34-BF3C-891A35F6313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740F35A-7EF3-0D2B-BC31-AC5676466861}"/>
              </a:ext>
            </a:extLst>
          </p:cNvPr>
          <p:cNvSpPr txBox="1"/>
          <p:nvPr/>
        </p:nvSpPr>
        <p:spPr>
          <a:xfrm>
            <a:off x="184727" y="855909"/>
            <a:ext cx="11822545" cy="577081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a:t>unit</a:t>
            </a:r>
            <a:r>
              <a:rPr lang="en-US"/>
              <a:t>-in hazırkı yuxarıdan (</a:t>
            </a:r>
            <a:r>
              <a:rPr lang="en-US" b="1"/>
              <a:t>top</a:t>
            </a:r>
            <a:r>
              <a:rPr lang="en-US"/>
              <a:t>) və soldan (</a:t>
            </a:r>
            <a:r>
              <a:rPr lang="en-US" b="1"/>
              <a:t>left</a:t>
            </a:r>
            <a:r>
              <a:rPr lang="en-US"/>
              <a:t>) mövqeyi götürülür.</a:t>
            </a:r>
          </a:p>
          <a:p>
            <a:pPr marL="285750" indent="-285750">
              <a:lnSpc>
                <a:spcPct val="150000"/>
              </a:lnSpc>
              <a:buFont typeface="Arial" panose="020B0604020202020204" pitchFamily="34" charset="0"/>
              <a:buChar char="•"/>
            </a:pPr>
            <a:r>
              <a:rPr lang="en-US"/>
              <a:t>Əgər əvvəldən təyin edilməyibsə, 0 götürülür.</a:t>
            </a:r>
          </a:p>
          <a:p>
            <a:pPr marL="285750" indent="-285750">
              <a:lnSpc>
                <a:spcPct val="150000"/>
              </a:lnSpc>
              <a:buFont typeface="Arial" panose="020B0604020202020204" pitchFamily="34" charset="0"/>
              <a:buChar char="•"/>
            </a:pPr>
            <a:r>
              <a:rPr lang="en-US" b="1"/>
              <a:t>step = 5 </a:t>
            </a:r>
            <a:r>
              <a:rPr lang="en-US"/>
              <a:t>→ hər hərəkətdə obyektin neçə piksel dəyişəcəyini göstərir.</a:t>
            </a:r>
          </a:p>
          <a:p>
            <a:endParaRPr lang="az-Latn-AZ"/>
          </a:p>
          <a:p>
            <a:endParaRPr lang="az-Latn-AZ"/>
          </a:p>
          <a:p>
            <a:endParaRPr lang="az-Latn-AZ"/>
          </a:p>
          <a:p>
            <a:endParaRPr lang="az-Latn-AZ"/>
          </a:p>
          <a:p>
            <a:endParaRPr lang="az-Latn-AZ"/>
          </a:p>
          <a:p>
            <a:endParaRPr lang="az-Latn-AZ"/>
          </a:p>
          <a:p>
            <a:endParaRPr lang="az-Latn-AZ"/>
          </a:p>
          <a:p>
            <a:endParaRPr lang="az-Latn-AZ"/>
          </a:p>
          <a:p>
            <a:endParaRPr lang="az-Latn-AZ"/>
          </a:p>
          <a:p>
            <a:endParaRPr lang="az-Latn-AZ"/>
          </a:p>
          <a:p>
            <a:r>
              <a:rPr lang="en-US"/>
              <a:t>İstifadəçi hansı </a:t>
            </a:r>
            <a:r>
              <a:rPr lang="en-US" b="1"/>
              <a:t>ox</a:t>
            </a:r>
            <a:r>
              <a:rPr lang="en-US"/>
              <a:t> düyməsini basıbsa ona uyğun koordinat dəyişir:</a:t>
            </a:r>
          </a:p>
          <a:p>
            <a:pPr marL="742950" lvl="1" indent="-285750">
              <a:buFont typeface="Arial" panose="020B0604020202020204" pitchFamily="34" charset="0"/>
              <a:buChar char="•"/>
            </a:pPr>
            <a:r>
              <a:rPr lang="en-US" b="1"/>
              <a:t>ArrowUp</a:t>
            </a:r>
            <a:r>
              <a:rPr lang="en-US"/>
              <a:t> </a:t>
            </a:r>
            <a:r>
              <a:rPr lang="az-Latn-AZ"/>
              <a:t>       </a:t>
            </a:r>
            <a:r>
              <a:rPr lang="en-US"/>
              <a:t>→ yuxarı (top piksel azalır)</a:t>
            </a:r>
          </a:p>
          <a:p>
            <a:pPr marL="742950" lvl="1" indent="-285750">
              <a:buFont typeface="Arial" panose="020B0604020202020204" pitchFamily="34" charset="0"/>
              <a:buChar char="•"/>
            </a:pPr>
            <a:r>
              <a:rPr lang="en-US" b="1"/>
              <a:t>ArrowDown</a:t>
            </a:r>
            <a:r>
              <a:rPr lang="en-US"/>
              <a:t> </a:t>
            </a:r>
            <a:r>
              <a:rPr lang="az-Latn-AZ"/>
              <a:t> </a:t>
            </a:r>
            <a:r>
              <a:rPr lang="en-US"/>
              <a:t>→ aşağı (top piksel artır)</a:t>
            </a:r>
          </a:p>
          <a:p>
            <a:pPr marL="742950" lvl="1" indent="-285750">
              <a:buFont typeface="Arial" panose="020B0604020202020204" pitchFamily="34" charset="0"/>
              <a:buChar char="•"/>
            </a:pPr>
            <a:r>
              <a:rPr lang="en-US" b="1"/>
              <a:t>ArrowLeft</a:t>
            </a:r>
            <a:r>
              <a:rPr lang="az-Latn-AZ" b="1"/>
              <a:t>   </a:t>
            </a:r>
            <a:r>
              <a:rPr lang="en-US"/>
              <a:t> </a:t>
            </a:r>
            <a:r>
              <a:rPr lang="az-Latn-AZ"/>
              <a:t>  </a:t>
            </a:r>
            <a:r>
              <a:rPr lang="en-US"/>
              <a:t>→ sola (left azalır)</a:t>
            </a:r>
          </a:p>
          <a:p>
            <a:pPr marL="742950" lvl="1" indent="-285750">
              <a:buFont typeface="Arial" panose="020B0604020202020204" pitchFamily="34" charset="0"/>
              <a:buChar char="•"/>
            </a:pPr>
            <a:r>
              <a:rPr lang="en-US" b="1"/>
              <a:t>ArrowRight</a:t>
            </a:r>
            <a:r>
              <a:rPr lang="az-Latn-AZ" b="1"/>
              <a:t>  </a:t>
            </a:r>
            <a:r>
              <a:rPr lang="en-US"/>
              <a:t> → sağa (left artır)</a:t>
            </a:r>
          </a:p>
          <a:p>
            <a:endParaRPr lang="en-US"/>
          </a:p>
        </p:txBody>
      </p:sp>
      <p:pic>
        <p:nvPicPr>
          <p:cNvPr id="3" name="Picture 2">
            <a:extLst>
              <a:ext uri="{FF2B5EF4-FFF2-40B4-BE49-F238E27FC236}">
                <a16:creationId xmlns:a16="http://schemas.microsoft.com/office/drawing/2014/main" id="{ABD9CC01-4685-E55B-B4B8-1B4514C8823D}"/>
              </a:ext>
            </a:extLst>
          </p:cNvPr>
          <p:cNvPicPr>
            <a:picLocks noChangeAspect="1"/>
          </p:cNvPicPr>
          <p:nvPr/>
        </p:nvPicPr>
        <p:blipFill>
          <a:blip r:embed="rId2"/>
          <a:stretch>
            <a:fillRect/>
          </a:stretch>
        </p:blipFill>
        <p:spPr>
          <a:xfrm>
            <a:off x="0" y="2309"/>
            <a:ext cx="3915321" cy="733527"/>
          </a:xfrm>
          <a:prstGeom prst="rect">
            <a:avLst/>
          </a:prstGeom>
        </p:spPr>
      </p:pic>
      <p:pic>
        <p:nvPicPr>
          <p:cNvPr id="5" name="Picture 4">
            <a:extLst>
              <a:ext uri="{FF2B5EF4-FFF2-40B4-BE49-F238E27FC236}">
                <a16:creationId xmlns:a16="http://schemas.microsoft.com/office/drawing/2014/main" id="{AE5FA6B3-0E0E-17A7-46CC-11BECF4E581A}"/>
              </a:ext>
            </a:extLst>
          </p:cNvPr>
          <p:cNvPicPr>
            <a:picLocks noChangeAspect="1"/>
          </p:cNvPicPr>
          <p:nvPr/>
        </p:nvPicPr>
        <p:blipFill>
          <a:blip r:embed="rId3"/>
          <a:stretch>
            <a:fillRect/>
          </a:stretch>
        </p:blipFill>
        <p:spPr>
          <a:xfrm>
            <a:off x="-1" y="2591809"/>
            <a:ext cx="3810532" cy="2095792"/>
          </a:xfrm>
          <a:prstGeom prst="rect">
            <a:avLst/>
          </a:prstGeom>
        </p:spPr>
      </p:pic>
    </p:spTree>
    <p:extLst>
      <p:ext uri="{BB962C8B-B14F-4D97-AF65-F5344CB8AC3E}">
        <p14:creationId xmlns:p14="http://schemas.microsoft.com/office/powerpoint/2010/main" val="1738688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48810-B154-BBAF-D17B-8CA88667542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47AD7F4-F1A1-17B3-4981-A6A3C17829C1}"/>
              </a:ext>
            </a:extLst>
          </p:cNvPr>
          <p:cNvSpPr txBox="1"/>
          <p:nvPr/>
        </p:nvSpPr>
        <p:spPr>
          <a:xfrm>
            <a:off x="184727" y="1768825"/>
            <a:ext cx="11822545" cy="341632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t>Yeni mövqe (top və left dəyərləri) </a:t>
            </a:r>
            <a:r>
              <a:rPr lang="en-US" b="1"/>
              <a:t>JSON obyektinə </a:t>
            </a:r>
            <a:r>
              <a:rPr lang="en-US"/>
              <a:t>çevrilir və serverə göndərilir.</a:t>
            </a:r>
          </a:p>
          <a:p>
            <a:pPr marL="285750" indent="-285750">
              <a:lnSpc>
                <a:spcPct val="150000"/>
              </a:lnSpc>
              <a:buFont typeface="Arial" panose="020B0604020202020204" pitchFamily="34" charset="0"/>
              <a:buChar char="•"/>
            </a:pPr>
            <a:r>
              <a:rPr lang="en-US"/>
              <a:t>Bu məlumatı </a:t>
            </a:r>
            <a:r>
              <a:rPr lang="en-US" b="1"/>
              <a:t>server.php </a:t>
            </a:r>
            <a:r>
              <a:rPr lang="en-US"/>
              <a:t>faylında </a:t>
            </a:r>
            <a:r>
              <a:rPr lang="en-US" b="1"/>
              <a:t>onMessage</a:t>
            </a:r>
            <a:r>
              <a:rPr lang="en-US"/>
              <a:t> hissəsi qəbul edir</a:t>
            </a:r>
            <a:r>
              <a:rPr lang="az-Latn-AZ"/>
              <a:t> və </a:t>
            </a:r>
            <a:r>
              <a:rPr lang="en-US" b="1"/>
              <a:t>$data </a:t>
            </a:r>
            <a:r>
              <a:rPr lang="en-US"/>
              <a:t>parametrin</a:t>
            </a:r>
            <a:r>
              <a:rPr lang="az-Latn-AZ"/>
              <a:t>ə ötürür</a:t>
            </a:r>
            <a:r>
              <a:rPr lang="en-US"/>
              <a:t>:</a:t>
            </a:r>
          </a:p>
          <a:p>
            <a:endParaRPr lang="az-Latn-AZ"/>
          </a:p>
          <a:p>
            <a:endParaRPr lang="az-Latn-AZ"/>
          </a:p>
          <a:p>
            <a:endParaRPr lang="az-Latn-AZ"/>
          </a:p>
          <a:p>
            <a:endParaRPr lang="az-Latn-AZ"/>
          </a:p>
          <a:p>
            <a:endParaRPr lang="az-Latn-AZ"/>
          </a:p>
          <a:p>
            <a:r>
              <a:rPr lang="en-US"/>
              <a:t>Yəni server həmin məlumatı bütün digər </a:t>
            </a:r>
            <a:r>
              <a:rPr lang="en-US" b="1"/>
              <a:t>client</a:t>
            </a:r>
            <a:r>
              <a:rPr lang="en-US"/>
              <a:t>-lərə ötürür.</a:t>
            </a:r>
            <a:endParaRPr lang="az-Latn-AZ"/>
          </a:p>
          <a:p>
            <a:endParaRPr lang="az-Latn-AZ"/>
          </a:p>
          <a:p>
            <a:endParaRPr lang="az-Latn-AZ"/>
          </a:p>
          <a:p>
            <a:endParaRPr lang="en-US"/>
          </a:p>
        </p:txBody>
      </p:sp>
      <p:pic>
        <p:nvPicPr>
          <p:cNvPr id="3" name="Picture 2">
            <a:extLst>
              <a:ext uri="{FF2B5EF4-FFF2-40B4-BE49-F238E27FC236}">
                <a16:creationId xmlns:a16="http://schemas.microsoft.com/office/drawing/2014/main" id="{496021DB-E2A4-E8D4-D4F8-01FD7D158E82}"/>
              </a:ext>
            </a:extLst>
          </p:cNvPr>
          <p:cNvPicPr>
            <a:picLocks noChangeAspect="1"/>
          </p:cNvPicPr>
          <p:nvPr/>
        </p:nvPicPr>
        <p:blipFill>
          <a:blip r:embed="rId2"/>
          <a:stretch>
            <a:fillRect/>
          </a:stretch>
        </p:blipFill>
        <p:spPr>
          <a:xfrm>
            <a:off x="0" y="0"/>
            <a:ext cx="6287377" cy="1638529"/>
          </a:xfrm>
          <a:prstGeom prst="rect">
            <a:avLst/>
          </a:prstGeom>
        </p:spPr>
      </p:pic>
      <p:pic>
        <p:nvPicPr>
          <p:cNvPr id="5" name="Picture 4">
            <a:extLst>
              <a:ext uri="{FF2B5EF4-FFF2-40B4-BE49-F238E27FC236}">
                <a16:creationId xmlns:a16="http://schemas.microsoft.com/office/drawing/2014/main" id="{8A34EDBC-E231-00AC-7F51-A6681A0B7128}"/>
              </a:ext>
            </a:extLst>
          </p:cNvPr>
          <p:cNvPicPr>
            <a:picLocks noChangeAspect="1"/>
          </p:cNvPicPr>
          <p:nvPr/>
        </p:nvPicPr>
        <p:blipFill>
          <a:blip r:embed="rId3"/>
          <a:stretch>
            <a:fillRect/>
          </a:stretch>
        </p:blipFill>
        <p:spPr>
          <a:xfrm>
            <a:off x="0" y="2726635"/>
            <a:ext cx="5239481" cy="1162212"/>
          </a:xfrm>
          <a:prstGeom prst="rect">
            <a:avLst/>
          </a:prstGeom>
        </p:spPr>
      </p:pic>
    </p:spTree>
    <p:extLst>
      <p:ext uri="{BB962C8B-B14F-4D97-AF65-F5344CB8AC3E}">
        <p14:creationId xmlns:p14="http://schemas.microsoft.com/office/powerpoint/2010/main" val="139269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F3344-D69A-3E53-CF29-8478981606C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F083E21-6CBE-3A7D-AC94-059185720C2F}"/>
              </a:ext>
            </a:extLst>
          </p:cNvPr>
          <p:cNvSpPr txBox="1"/>
          <p:nvPr/>
        </p:nvSpPr>
        <p:spPr>
          <a:xfrm>
            <a:off x="184727" y="1621045"/>
            <a:ext cx="11822545" cy="493981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400"/>
              <a:t>Serverdən hər hansı mesaj gələndə (başqa istifadəçinin hərəkəti) bu funksiya işə düşür.</a:t>
            </a:r>
          </a:p>
          <a:p>
            <a:pPr marL="285750" indent="-285750">
              <a:lnSpc>
                <a:spcPct val="150000"/>
              </a:lnSpc>
              <a:buFont typeface="Arial" panose="020B0604020202020204" pitchFamily="34" charset="0"/>
              <a:buChar char="•"/>
            </a:pPr>
            <a:r>
              <a:rPr lang="az-Latn-AZ" sz="1400"/>
              <a:t>Serverdən g</a:t>
            </a:r>
            <a:r>
              <a:rPr lang="en-US" sz="1400"/>
              <a:t>ələn məlumat</a:t>
            </a:r>
            <a:r>
              <a:rPr lang="az-Latn-AZ" sz="1400"/>
              <a:t> </a:t>
            </a:r>
            <a:r>
              <a:rPr lang="en-US" sz="1400" b="1">
                <a:solidFill>
                  <a:srgbClr val="0070C0"/>
                </a:solidFill>
              </a:rPr>
              <a:t>ws.onmessage </a:t>
            </a:r>
            <a:r>
              <a:rPr lang="az-Latn-AZ" sz="1400"/>
              <a:t>ilə qəbul edilir və </a:t>
            </a:r>
            <a:r>
              <a:rPr lang="az-Latn-AZ" sz="1400" b="1"/>
              <a:t>response</a:t>
            </a:r>
            <a:r>
              <a:rPr lang="az-Latn-AZ" sz="1400"/>
              <a:t> parametrinə ötürülür. Sonra isə</a:t>
            </a:r>
            <a:r>
              <a:rPr lang="en-US" sz="1400"/>
              <a:t> (</a:t>
            </a:r>
            <a:r>
              <a:rPr lang="en-US" sz="1400" b="1"/>
              <a:t>response.data</a:t>
            </a:r>
            <a:r>
              <a:rPr lang="en-US" sz="1400"/>
              <a:t>) JSON-dan obyektə çevrilir.</a:t>
            </a:r>
            <a:endParaRPr lang="az-Latn-AZ" sz="1400"/>
          </a:p>
          <a:p>
            <a:pPr marL="285750" indent="-285750">
              <a:lnSpc>
                <a:spcPct val="150000"/>
              </a:lnSpc>
              <a:buFont typeface="Arial" panose="020B0604020202020204" pitchFamily="34" charset="0"/>
              <a:buChar char="•"/>
            </a:pPr>
            <a:r>
              <a:rPr lang="en-US" sz="1400" b="1">
                <a:solidFill>
                  <a:srgbClr val="0070C0"/>
                </a:solidFill>
              </a:rPr>
              <a:t>ws.onmessage </a:t>
            </a:r>
            <a:r>
              <a:rPr lang="az-Latn-AZ" sz="1400"/>
              <a:t>kodu</a:t>
            </a:r>
            <a:r>
              <a:rPr lang="az-Latn-AZ" sz="1400" b="1">
                <a:solidFill>
                  <a:srgbClr val="0070C0"/>
                </a:solidFill>
              </a:rPr>
              <a:t> client</a:t>
            </a:r>
            <a:r>
              <a:rPr lang="az-Latn-AZ" sz="1400"/>
              <a:t> tərəfdə də eynidir </a:t>
            </a:r>
            <a:r>
              <a:rPr lang="az-Latn-AZ" sz="1400" b="1">
                <a:solidFill>
                  <a:srgbClr val="00B050"/>
                </a:solidFill>
              </a:rPr>
              <a:t>server</a:t>
            </a:r>
            <a:r>
              <a:rPr lang="az-Latn-AZ" sz="1400"/>
              <a:t> ( </a:t>
            </a:r>
            <a:r>
              <a:rPr lang="az-Latn-AZ" sz="1400" b="1">
                <a:solidFill>
                  <a:srgbClr val="00B050"/>
                </a:solidFill>
              </a:rPr>
              <a:t>$wsWorker-&gt;onMessage </a:t>
            </a:r>
            <a:r>
              <a:rPr lang="az-Latn-AZ" sz="1400"/>
              <a:t>) tərəfdə də eynidir.</a:t>
            </a:r>
            <a:endParaRPr lang="en-US" sz="1400"/>
          </a:p>
          <a:p>
            <a:pPr marL="285750" indent="-285750">
              <a:lnSpc>
                <a:spcPct val="150000"/>
              </a:lnSpc>
              <a:buFont typeface="Arial" panose="020B0604020202020204" pitchFamily="34" charset="0"/>
              <a:buChar char="•"/>
            </a:pPr>
            <a:r>
              <a:rPr lang="en-US" sz="1400"/>
              <a:t>Console-a çap edilir (debug üçün).</a:t>
            </a:r>
          </a:p>
          <a:p>
            <a:pPr marL="285750" indent="-285750">
              <a:lnSpc>
                <a:spcPct val="150000"/>
              </a:lnSpc>
              <a:buFont typeface="Arial" panose="020B0604020202020204" pitchFamily="34" charset="0"/>
              <a:buChar char="•"/>
            </a:pPr>
            <a:r>
              <a:rPr lang="en-US" sz="1400" b="1"/>
              <a:t>unit</a:t>
            </a:r>
            <a:r>
              <a:rPr lang="en-US" sz="1400"/>
              <a:t> obyektimizin </a:t>
            </a:r>
            <a:r>
              <a:rPr lang="en-US" sz="1400" b="1"/>
              <a:t>top</a:t>
            </a:r>
            <a:r>
              <a:rPr lang="en-US" sz="1400"/>
              <a:t> və </a:t>
            </a:r>
            <a:r>
              <a:rPr lang="en-US" sz="1400" b="1"/>
              <a:t>left</a:t>
            </a:r>
            <a:r>
              <a:rPr lang="en-US" sz="1400"/>
              <a:t> dəyərləri dəyişdirilir → nəticədə həmin hərəkət ekranda görünür.</a:t>
            </a:r>
            <a:endParaRPr lang="az-Latn-AZ" sz="1400"/>
          </a:p>
          <a:p>
            <a:endParaRPr lang="az-Latn-AZ" sz="1400"/>
          </a:p>
          <a:p>
            <a:endParaRPr lang="az-Latn-AZ" sz="1400"/>
          </a:p>
          <a:p>
            <a:endParaRPr lang="az-Latn-AZ" sz="1400"/>
          </a:p>
          <a:p>
            <a:endParaRPr lang="az-Latn-AZ" sz="1400"/>
          </a:p>
          <a:p>
            <a:endParaRPr lang="az-Latn-AZ" sz="1400"/>
          </a:p>
          <a:p>
            <a:endParaRPr lang="az-Latn-AZ" sz="1400"/>
          </a:p>
          <a:p>
            <a:endParaRPr lang="az-Latn-AZ" sz="1400"/>
          </a:p>
          <a:p>
            <a:endParaRPr lang="az-Latn-AZ" sz="1400"/>
          </a:p>
          <a:p>
            <a:endParaRPr lang="az-Latn-AZ" sz="1400"/>
          </a:p>
          <a:p>
            <a:endParaRPr lang="az-Latn-AZ" sz="1400"/>
          </a:p>
          <a:p>
            <a:endParaRPr lang="az-Latn-AZ" sz="1400"/>
          </a:p>
          <a:p>
            <a:endParaRPr lang="az-Latn-AZ" sz="1400"/>
          </a:p>
          <a:p>
            <a:endParaRPr lang="az-Latn-AZ" sz="1400"/>
          </a:p>
          <a:p>
            <a:r>
              <a:rPr lang="az-Latn-AZ" sz="1400">
                <a:highlight>
                  <a:srgbClr val="FFFF00"/>
                </a:highlight>
              </a:rPr>
              <a:t>Ancaq bizim</a:t>
            </a:r>
            <a:r>
              <a:rPr lang="en-US" sz="1400">
                <a:highlight>
                  <a:srgbClr val="FFFF00"/>
                </a:highlight>
              </a:rPr>
              <a:t> kodu</a:t>
            </a:r>
            <a:r>
              <a:rPr lang="az-Latn-AZ" sz="1400">
                <a:highlight>
                  <a:srgbClr val="FFFF00"/>
                </a:highlight>
              </a:rPr>
              <a:t>muz</a:t>
            </a:r>
            <a:r>
              <a:rPr lang="en-US" sz="1400">
                <a:highlight>
                  <a:srgbClr val="FFFF00"/>
                </a:highlight>
              </a:rPr>
              <a:t>da </a:t>
            </a:r>
            <a:r>
              <a:rPr lang="en-US" sz="1400" b="1" i="1">
                <a:highlight>
                  <a:srgbClr val="FFFF00"/>
                </a:highlight>
              </a:rPr>
              <a:t>eyni unit </a:t>
            </a:r>
            <a:r>
              <a:rPr lang="en-US" sz="1400">
                <a:highlight>
                  <a:srgbClr val="FFFF00"/>
                </a:highlight>
              </a:rPr>
              <a:t>həm </a:t>
            </a:r>
            <a:r>
              <a:rPr lang="en-US" sz="1400" b="1">
                <a:highlight>
                  <a:srgbClr val="FFFF00"/>
                </a:highlight>
              </a:rPr>
              <a:t>öz hərəkətini</a:t>
            </a:r>
            <a:r>
              <a:rPr lang="en-US" sz="1400">
                <a:highlight>
                  <a:srgbClr val="FFFF00"/>
                </a:highlight>
              </a:rPr>
              <a:t>, həm də </a:t>
            </a:r>
            <a:r>
              <a:rPr lang="en-US" sz="1400" b="1">
                <a:highlight>
                  <a:srgbClr val="FFFF00"/>
                </a:highlight>
              </a:rPr>
              <a:t>başqalarınkını</a:t>
            </a:r>
            <a:r>
              <a:rPr lang="en-US" sz="1400">
                <a:highlight>
                  <a:srgbClr val="FFFF00"/>
                </a:highlight>
              </a:rPr>
              <a:t> dəyişir. Yəni </a:t>
            </a:r>
            <a:r>
              <a:rPr lang="en-US" sz="1400" b="1" i="1">
                <a:highlight>
                  <a:srgbClr val="FFFF00"/>
                </a:highlight>
              </a:rPr>
              <a:t>multiplayer</a:t>
            </a:r>
            <a:r>
              <a:rPr lang="en-US" sz="1400">
                <a:highlight>
                  <a:srgbClr val="FFFF00"/>
                </a:highlight>
              </a:rPr>
              <a:t> üçün başqa client-lərin unit-lərini ayrıca yaratmaq lazımdır.</a:t>
            </a:r>
            <a:endParaRPr lang="az-Latn-AZ" sz="1400">
              <a:highlight>
                <a:srgbClr val="FFFF00"/>
              </a:highlight>
            </a:endParaRPr>
          </a:p>
          <a:p>
            <a:endParaRPr lang="az-Latn-AZ" sz="1400"/>
          </a:p>
        </p:txBody>
      </p:sp>
      <p:pic>
        <p:nvPicPr>
          <p:cNvPr id="3" name="Picture 2">
            <a:extLst>
              <a:ext uri="{FF2B5EF4-FFF2-40B4-BE49-F238E27FC236}">
                <a16:creationId xmlns:a16="http://schemas.microsoft.com/office/drawing/2014/main" id="{1CDC88C7-0E18-67DA-1C02-0AB3ED5BB320}"/>
              </a:ext>
            </a:extLst>
          </p:cNvPr>
          <p:cNvPicPr>
            <a:picLocks noChangeAspect="1"/>
          </p:cNvPicPr>
          <p:nvPr/>
        </p:nvPicPr>
        <p:blipFill>
          <a:blip r:embed="rId2"/>
          <a:stretch>
            <a:fillRect/>
          </a:stretch>
        </p:blipFill>
        <p:spPr>
          <a:xfrm>
            <a:off x="0" y="0"/>
            <a:ext cx="3743847" cy="1476581"/>
          </a:xfrm>
          <a:prstGeom prst="rect">
            <a:avLst/>
          </a:prstGeom>
        </p:spPr>
      </p:pic>
    </p:spTree>
    <p:extLst>
      <p:ext uri="{BB962C8B-B14F-4D97-AF65-F5344CB8AC3E}">
        <p14:creationId xmlns:p14="http://schemas.microsoft.com/office/powerpoint/2010/main" val="12612425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F23AF-BF8D-79F9-92AB-36D5E1857C9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3FCF807-3E58-5113-22FA-A1942B257803}"/>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2616870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47261-9C23-6354-ED8C-378E62CAF86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BE59559-3706-A9E9-FFA6-7FF45A686A9D}"/>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368124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EF7FC-D24E-F5DF-116E-257F2811889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742F231-25FF-E6BB-BEE8-6272F2A7104A}"/>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4091228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3AB66-8BE7-63B4-9A77-B96C7FA6E72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B63B7BE-0DD2-4FC5-E9E7-38D02ADC4145}"/>
              </a:ext>
            </a:extLst>
          </p:cNvPr>
          <p:cNvSpPr txBox="1"/>
          <p:nvPr/>
        </p:nvSpPr>
        <p:spPr>
          <a:xfrm>
            <a:off x="203200" y="244826"/>
            <a:ext cx="11822545" cy="369332"/>
          </a:xfrm>
          <a:prstGeom prst="rect">
            <a:avLst/>
          </a:prstGeom>
          <a:noFill/>
        </p:spPr>
        <p:txBody>
          <a:bodyPr wrap="square">
            <a:spAutoFit/>
          </a:bodyPr>
          <a:lstStyle/>
          <a:p>
            <a:r>
              <a:rPr lang="en-US">
                <a:latin typeface="-apple-system"/>
              </a:rPr>
              <a:t>.</a:t>
            </a:r>
            <a:endParaRPr lang="en-US"/>
          </a:p>
        </p:txBody>
      </p:sp>
    </p:spTree>
    <p:extLst>
      <p:ext uri="{BB962C8B-B14F-4D97-AF65-F5344CB8AC3E}">
        <p14:creationId xmlns:p14="http://schemas.microsoft.com/office/powerpoint/2010/main" val="38244744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492</TotalTime>
  <Words>1950</Words>
  <Application>Microsoft Office PowerPoint</Application>
  <PresentationFormat>Widescreen</PresentationFormat>
  <Paragraphs>231</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-apple-system</vt: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34</cp:revision>
  <dcterms:created xsi:type="dcterms:W3CDTF">2025-09-15T05:34:52Z</dcterms:created>
  <dcterms:modified xsi:type="dcterms:W3CDTF">2025-10-02T16:00:52Z</dcterms:modified>
</cp:coreProperties>
</file>